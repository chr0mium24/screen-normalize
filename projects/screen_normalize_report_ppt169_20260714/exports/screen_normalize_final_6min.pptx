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2" y="3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8582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 25 秒】本项目研究的是拍屏视频的几何前端。输入是包含背景、透视畸变、手持抖动以及屏幕内部动态内容的完整视频；输出是稳定、正面的屏幕视频。核心思路是让物理屏幕边框决定单应矩阵，而不是让页面滚动或屏内视频带着屏幕平面一起移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 45 秒】问题不只是把画面裁成矩形，而是区分屏幕运动和内容运动。逐帧检测只相信当前帧，弱边框下容易偏移并产生抖动；相邻帧光流相信内部纹理，当网页滚动时会把内容运动误当成屏幕运动并累积漂移。我们的方案优先相信物理屏幕边界。下方是项目现有的滚动页面对比：需要同时检查完整屏幕范围、边缘稳定性和真实滚动是否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 55 秒】管线从首帧四角初始化开始。之后利用上一帧四边形预测四条边的局部搜索带，沿内法线采样梯度 profile，选择靠近预测边的高梯度点并鲁棒拟合四条边线。相邻边求交得到当前四边形，再通过凸性、边长和帧间变化等门控。LK/RANSAC 只判断内部纹理是否与边框运动冲突；只要边框有效，仍以物理边界为准。最后对轨迹插值和平滑，再投影到固定画布。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 40 秒】完整数据集包含五十个自采集拍屏视频，共一万四千九百八十五帧，五类条件各十个片段。当前正式定量评估使用十个带标注片段，每类两个。三种方法使用相同的输入、首帧初始化、输出画布、人工角点标注和指标代码；几何评价排除第零帧，先对每个片段取中位数，再跨片段取中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 55 秒】这里的三个指标都来自项目现有总体结果图。边框主导方法的角点 RMSE 为 3.87 像素，而逐帧检测和光流分别约为 30.37 和 31.40。IoU 提升到 0.996，平移变化降低到每帧 2.45 像素。重要的是，我们不是通过冻结轨迹换取表面稳定：几何精度和时间稳定性同时改善，说明物理边框确实比内部内容更适合作为单应矩阵的主证据。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 50 秒】分类结果解释了优势来自哪里。滚动页面上，光流会跟随内容移动，RMSE 上升到 81.67 像素；边框方案保持在物理屏幕上，只有 2.87 像素。弱边框场景中，上一帧预测的局部搜索带也显著优于全帧独立检测，RMSE 为 9.35，另外两种方法都超过 155。挑战场景是主要限制：逐帧检测几何误差略低，但我们的轨迹仍更稳定，因此后续应重点处理反光、遮挡和极低对比度。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 55 秒】消融在代表性的滚动片段上进行。完整方法的 RMSE 为 3.253，平移变化为 0.752。去掉轨迹滤波后，RMSE 在稀疏标注帧上略降到 2.932，但平移变化升到 1.430，接近翻倍，所以滤波的作用是时间稳定，而不是提高单帧精度。去掉 LK 诊断、重检或放宽门控没有改变这个片段的结果，说明 Profile 边框证据每帧都成功；这些模块是异常情况下的安全网，不会干扰正常主链。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 35 秒】当前方法仍依赖可见、可辨认的屏幕边界。极低对比度、强反光和遮挡会削弱真实梯度，并产生更强的伪边缘。下一步应融合多种边界线索，为四条边分别估计置信度，并在连续失败时主动重初始化。但本次实验支持的结论已经清晰：让物理屏幕边框主导单应矩阵，可以同时获得更高的几何精度和更好的时间稳定性。整场汇报到这里约六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F57C4"/>
                </a:solidFill>
                <a:latin typeface="Microsoft YaHei"/>
                <a:ea typeface="Microsoft YaHei"/>
              </a:rPr>
              <a:t>ECE4512 FINAL PROJECT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63550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A1A1A"/>
                </a:solidFill>
                <a:latin typeface="Microsoft YaHei"/>
                <a:ea typeface="Microsoft YaHei"/>
              </a:rPr>
              <a:t>物理边框主导的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A1A1A"/>
                </a:solidFill>
                <a:latin typeface="Microsoft YaHei"/>
                <a:ea typeface="Microsoft YaHei"/>
              </a:rPr>
              <a:t>拍屏视频几何归一化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57984"/>
            <a:ext cx="5943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1">
                <a:solidFill>
                  <a:srgbClr val="555B66"/>
                </a:solidFill>
                <a:latin typeface="Aptos"/>
                <a:ea typeface="Microsoft YaHei"/>
              </a:rPr>
              <a:t>Border-guided screen-plane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060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A1A1A"/>
                </a:solidFill>
                <a:latin typeface="Microsoft YaHei"/>
                <a:ea typeface="Microsoft YaHei"/>
              </a:rPr>
              <a:t>Rongshuo Wen</a:t>
            </a:r>
            <a:r>
              <a:rPr sz="1180" b="0" i="0">
                <a:solidFill>
                  <a:srgbClr val="555B66"/>
                </a:solidFill>
                <a:latin typeface="Microsoft YaHei"/>
                <a:ea typeface="Microsoft YaHei"/>
              </a:rPr>
              <a:t>  124020369      </a:t>
            </a:r>
            <a:r>
              <a:rPr sz="1180" b="1" i="0">
                <a:solidFill>
                  <a:srgbClr val="1A1A1A"/>
                </a:solidFill>
                <a:latin typeface="Microsoft YaHei"/>
                <a:ea typeface="Microsoft YaHei"/>
              </a:rPr>
              <a:t>Bihua Wen</a:t>
            </a:r>
            <a:r>
              <a:rPr sz="1180" b="0" i="0">
                <a:solidFill>
                  <a:srgbClr val="555B66"/>
                </a:solidFill>
                <a:latin typeface="Microsoft YaHei"/>
                <a:ea typeface="Microsoft YaHei"/>
              </a:rPr>
              <a:t>  124090670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0779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A1A1A"/>
                </a:solidFill>
                <a:latin typeface="Microsoft YaHei"/>
                <a:ea typeface="Microsoft YaHei"/>
              </a:rPr>
              <a:t>Mingrui Liu</a:t>
            </a:r>
            <a:r>
              <a:rPr sz="1180" b="0" i="0">
                <a:solidFill>
                  <a:srgbClr val="555B66"/>
                </a:solidFill>
                <a:latin typeface="Microsoft YaHei"/>
                <a:ea typeface="Microsoft YaHei"/>
              </a:rPr>
              <a:t>  124090375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01568"/>
            <a:ext cx="6263640" cy="2148840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10160">
            <a:solidFill>
              <a:srgbClr val="E8E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3657600"/>
            <a:ext cx="5715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57C4"/>
                </a:solidFill>
                <a:latin typeface="Microsoft YaHei"/>
                <a:ea typeface="Microsoft YaHei"/>
              </a:rPr>
              <a:t>核心问题。</a:t>
            </a:r>
            <a:r>
              <a:rPr sz="1550" b="0" i="0">
                <a:solidFill>
                  <a:srgbClr val="1A1A1A"/>
                </a:solidFill>
                <a:latin typeface="Microsoft YaHei"/>
                <a:ea typeface="Microsoft YaHei"/>
              </a:rPr>
              <a:t>拍屏视频中的页面滚动、屏内视频与相机运动并不相同。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142232"/>
            <a:ext cx="5650992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1A1A1A"/>
                </a:solidFill>
                <a:latin typeface="Microsoft YaHei"/>
                <a:ea typeface="Microsoft YaHei"/>
              </a:rPr>
              <a:t>我们让物理屏幕边框直接决定单应矩阵，内部 LK/RANSAC 仅用于一致性诊断，从而在保留真实内容运动的同时，输出稳定的正面屏幕视频。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51775" y="1280160"/>
            <a:ext cx="4270248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ure_0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7" y="1417099"/>
            <a:ext cx="4123944" cy="14360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52360" y="2816352"/>
            <a:ext cx="4069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555B66"/>
                </a:solidFill>
                <a:latin typeface="Microsoft YaHei"/>
                <a:ea typeface="Microsoft YaHei"/>
              </a:rPr>
              <a:t>项目现有方法图：边框驱动的屏幕平面归一化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51775" y="3273552"/>
            <a:ext cx="4270248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nnotated_dataset_mosaic.jpg"/>
          <p:cNvPicPr>
            <a:picLocks noChangeAspect="1"/>
          </p:cNvPicPr>
          <p:nvPr/>
        </p:nvPicPr>
        <p:blipFill>
          <a:blip r:embed="rId4"/>
          <a:srcRect b="48000"/>
          <a:stretch>
            <a:fillRect/>
          </a:stretch>
        </p:blipFill>
        <p:spPr>
          <a:xfrm>
            <a:off x="7424927" y="3346704"/>
            <a:ext cx="4123944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5340096"/>
            <a:ext cx="4069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555B66"/>
                </a:solidFill>
                <a:latin typeface="Microsoft YaHei"/>
                <a:ea typeface="Microsoft YaHei"/>
              </a:rPr>
              <a:t>自采集拍屏样例与人工四角标注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419088"/>
            <a:ext cx="11045952" cy="0"/>
          </a:xfrm>
          <a:prstGeom prst="line">
            <a:avLst/>
          </a:prstGeom>
          <a:ln w="635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6473952"/>
            <a:ext cx="1600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5B66"/>
                </a:solidFill>
                <a:latin typeface="Microsoft YaHei"/>
                <a:ea typeface="Microsoft YaHei"/>
              </a:rPr>
              <a:t>ECE4512 Final Project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6473952"/>
            <a:ext cx="885139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5B66"/>
                </a:solidFill>
                <a:latin typeface="Microsoft YaHei"/>
                <a:ea typeface="Microsoft YaHei"/>
              </a:rPr>
              <a:t>来源：figure_01_pipeline.png；annotated_dataset_mosaic.jpg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73952"/>
            <a:ext cx="228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55B66"/>
                </a:solidFill>
                <a:latin typeface="Microsoft YaHei"/>
                <a:ea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57C4"/>
                </a:solidFill>
                <a:latin typeface="Microsoft YaHei"/>
                <a:ea typeface="Microsoft YaHei"/>
              </a:rPr>
              <a:t>WHY BORDER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Microsoft YaHei"/>
                <a:ea typeface="Microsoft YaHei"/>
              </a:rPr>
              <a:t>问题的本质：内容运动 ≠ 屏幕运动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52144"/>
            <a:ext cx="832104" cy="0"/>
          </a:xfrm>
          <a:prstGeom prst="line">
            <a:avLst/>
          </a:prstGeom>
          <a:ln w="30480">
            <a:solidFill>
              <a:srgbClr val="1F5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19088"/>
            <a:ext cx="11045952" cy="0"/>
          </a:xfrm>
          <a:prstGeom prst="line">
            <a:avLst/>
          </a:prstGeom>
          <a:ln w="635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1600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5B66"/>
                </a:solidFill>
                <a:latin typeface="Microsoft YaHei"/>
                <a:ea typeface="Microsoft YaHei"/>
              </a:rPr>
              <a:t>ECE4512 Final Project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6473952"/>
            <a:ext cx="885139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5B66"/>
                </a:solidFill>
                <a:latin typeface="Microsoft YaHei"/>
                <a:ea typeface="Microsoft YaHei"/>
              </a:rPr>
              <a:t>来源：完善大纲.md；figure_05_qualitative.png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228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55B6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26464"/>
            <a:ext cx="3163824" cy="2039112"/>
          </a:xfrm>
          <a:prstGeom prst="roundRect">
            <a:avLst>
              <a:gd name="adj" fmla="val 8000"/>
            </a:avLst>
          </a:prstGeom>
          <a:solidFill>
            <a:srgbClr val="FCEDEA"/>
          </a:solidFill>
          <a:ln w="13970">
            <a:solidFill>
              <a:srgbClr val="C43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627632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43D2E"/>
                </a:solidFill>
                <a:latin typeface="Microsoft YaHei"/>
                <a:ea typeface="Microsoft YaHei"/>
              </a:rPr>
              <a:t>逐帧检测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03911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55B66"/>
                </a:solidFill>
                <a:latin typeface="Microsoft YaHei"/>
                <a:ea typeface="Microsoft YaHei"/>
              </a:rPr>
              <a:t>相信当前帧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8" y="2414016"/>
            <a:ext cx="2706624" cy="0"/>
          </a:xfrm>
          <a:prstGeom prst="line">
            <a:avLst/>
          </a:prstGeom>
          <a:ln w="1016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5528" y="2560320"/>
            <a:ext cx="27249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A1A1A"/>
                </a:solidFill>
                <a:latin typeface="Microsoft YaHei"/>
                <a:ea typeface="Microsoft YaHei"/>
              </a:rPr>
              <a:t>检测噪声 → 抖动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A1A1A"/>
                </a:solidFill>
                <a:latin typeface="Microsoft YaHei"/>
                <a:ea typeface="Microsoft YaHei"/>
              </a:rPr>
              <a:t>弱边框 → 定位偏移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426464"/>
            <a:ext cx="3163824" cy="2039112"/>
          </a:xfrm>
          <a:prstGeom prst="roundRect">
            <a:avLst>
              <a:gd name="adj" fmla="val 8000"/>
            </a:avLst>
          </a:prstGeom>
          <a:solidFill>
            <a:srgbClr val="FFF3E8"/>
          </a:solidFill>
          <a:ln w="13970">
            <a:solidFill>
              <a:srgbClr val="E97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70248" y="1627632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97822"/>
                </a:solidFill>
                <a:latin typeface="Microsoft YaHei"/>
                <a:ea typeface="Microsoft YaHei"/>
              </a:rPr>
              <a:t>相邻帧光流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03911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55B66"/>
                </a:solidFill>
                <a:latin typeface="Microsoft YaHei"/>
                <a:ea typeface="Microsoft YaHei"/>
              </a:rPr>
              <a:t>相信内部纹理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70248" y="2414016"/>
            <a:ext cx="2706624" cy="0"/>
          </a:xfrm>
          <a:prstGeom prst="line">
            <a:avLst/>
          </a:prstGeom>
          <a:ln w="1016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70248" y="2560320"/>
            <a:ext cx="27249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A1A1A"/>
                </a:solidFill>
                <a:latin typeface="Microsoft YaHei"/>
                <a:ea typeface="Microsoft YaHei"/>
              </a:rPr>
              <a:t>页面滚动 → 内容驱动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A1A1A"/>
                </a:solidFill>
                <a:latin typeface="Microsoft YaHei"/>
                <a:ea typeface="Microsoft YaHei"/>
              </a:rPr>
              <a:t>逐帧传播 → 累积漂移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1426464"/>
            <a:ext cx="3163824" cy="2039112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13970">
            <a:solidFill>
              <a:srgbClr val="1F5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44968" y="1627632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57C4"/>
                </a:solidFill>
                <a:latin typeface="Microsoft YaHei"/>
                <a:ea typeface="Microsoft YaHei"/>
              </a:rPr>
              <a:t>边框主导（本文）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203911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55B66"/>
                </a:solidFill>
                <a:latin typeface="Microsoft YaHei"/>
                <a:ea typeface="Microsoft YaHei"/>
              </a:rPr>
              <a:t>相信物理边界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44968" y="2414016"/>
            <a:ext cx="2706624" cy="0"/>
          </a:xfrm>
          <a:prstGeom prst="line">
            <a:avLst/>
          </a:prstGeom>
          <a:ln w="1016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44968" y="2560320"/>
            <a:ext cx="272491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A1A1A"/>
                </a:solidFill>
                <a:latin typeface="Microsoft YaHei"/>
                <a:ea typeface="Microsoft YaHei"/>
              </a:rPr>
              <a:t>边框决定四边形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A1A1A"/>
                </a:solidFill>
                <a:latin typeface="Microsoft YaHei"/>
                <a:ea typeface="Microsoft YaHei"/>
              </a:rPr>
              <a:t>内部光流只做诊断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73075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F57C4"/>
                </a:solidFill>
                <a:latin typeface="Microsoft YaHei"/>
                <a:ea typeface="Microsoft YaHei"/>
              </a:rPr>
              <a:t>滚动页面的同一时刻：输入 + 三种方法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023360"/>
            <a:ext cx="1100023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figure_05_qualitative.png"/>
          <p:cNvPicPr>
            <a:picLocks noChangeAspect="1"/>
          </p:cNvPicPr>
          <p:nvPr/>
        </p:nvPicPr>
        <p:blipFill>
          <a:blip r:embed="rId3"/>
          <a:srcRect t="20500" b="61500"/>
          <a:stretch>
            <a:fillRect/>
          </a:stretch>
        </p:blipFill>
        <p:spPr>
          <a:xfrm>
            <a:off x="694944" y="4123944"/>
            <a:ext cx="10799064" cy="17556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4088" y="5998464"/>
            <a:ext cx="107716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55B66"/>
                </a:solidFill>
                <a:latin typeface="Microsoft YaHei"/>
                <a:ea typeface="Microsoft YaHei"/>
              </a:rPr>
              <a:t>观察重点：屏幕范围是否完整、边缘是否漂移，以及滚动内容是否被正常保留。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57C4"/>
                </a:solidFill>
                <a:latin typeface="Microsoft YaHei"/>
                <a:ea typeface="Microsoft Ya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Microsoft YaHei"/>
                <a:ea typeface="Microsoft YaHei"/>
              </a:rPr>
              <a:t>当前边框主导管线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52144"/>
            <a:ext cx="832104" cy="0"/>
          </a:xfrm>
          <a:prstGeom prst="line">
            <a:avLst/>
          </a:prstGeom>
          <a:ln w="30480">
            <a:solidFill>
              <a:srgbClr val="1F5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19088"/>
            <a:ext cx="11045952" cy="0"/>
          </a:xfrm>
          <a:prstGeom prst="line">
            <a:avLst/>
          </a:prstGeom>
          <a:ln w="635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1600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5B66"/>
                </a:solidFill>
                <a:latin typeface="Microsoft YaHei"/>
                <a:ea typeface="Microsoft YaHei"/>
              </a:rPr>
              <a:t>ECE4512 Final Project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6473952"/>
            <a:ext cx="885139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5B66"/>
                </a:solidFill>
                <a:latin typeface="Microsoft YaHei"/>
                <a:ea typeface="Microsoft YaHei"/>
              </a:rPr>
              <a:t>来源：figure_01_pipeline.png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228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55B6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71600"/>
            <a:ext cx="11045952" cy="3319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ure_0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601" y="1463040"/>
            <a:ext cx="8980604" cy="31272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3504" y="4937760"/>
            <a:ext cx="3291840" cy="1170432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51297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57C4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5084064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A1A1A"/>
                </a:solidFill>
                <a:latin typeface="Microsoft YaHei"/>
                <a:ea typeface="Microsoft YaHei"/>
              </a:rPr>
              <a:t>物理边框决定单应矩阵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504688"/>
            <a:ext cx="285292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B66"/>
                </a:solidFill>
                <a:latin typeface="Microsoft YaHei"/>
                <a:ea typeface="Microsoft YaHei"/>
              </a:rPr>
              <a:t>在上一帧预测边附近采样 profile，拟合四条边线并求交。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4937760"/>
            <a:ext cx="3291840" cy="1170432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5112" y="51297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57C4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024" y="5084064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A1A1A"/>
                </a:solidFill>
                <a:latin typeface="Microsoft YaHei"/>
                <a:ea typeface="Microsoft YaHei"/>
              </a:rPr>
              <a:t>LK/RANSAC 只做诊断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5504688"/>
            <a:ext cx="285292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B66"/>
                </a:solidFill>
                <a:latin typeface="Microsoft YaHei"/>
                <a:ea typeface="Microsoft YaHei"/>
              </a:rPr>
              <a:t>发现内部运动冲突，但不让滚动内容接管屏幕平面。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17536" y="4937760"/>
            <a:ext cx="3291840" cy="1170432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7" y="51297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57C4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084064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A1A1A"/>
                </a:solidFill>
                <a:latin typeface="Microsoft YaHei"/>
                <a:ea typeface="Microsoft YaHei"/>
              </a:rPr>
              <a:t>门控、重检与平滑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5504688"/>
            <a:ext cx="285292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B66"/>
                </a:solidFill>
                <a:latin typeface="Microsoft YaHei"/>
                <a:ea typeface="Microsoft YaHei"/>
              </a:rPr>
              <a:t>拒绝非法四边形；必要时重检，并平滑最终轨迹。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57C4"/>
                </a:solidFill>
                <a:latin typeface="Microsoft YaHei"/>
                <a:ea typeface="Microsoft YaHe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Microsoft YaHei"/>
                <a:ea typeface="Microsoft YaHei"/>
              </a:rPr>
              <a:t>数据集与实验设置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52144"/>
            <a:ext cx="832104" cy="0"/>
          </a:xfrm>
          <a:prstGeom prst="line">
            <a:avLst/>
          </a:prstGeom>
          <a:ln w="30480">
            <a:solidFill>
              <a:srgbClr val="1F5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19088"/>
            <a:ext cx="11045952" cy="0"/>
          </a:xfrm>
          <a:prstGeom prst="line">
            <a:avLst/>
          </a:prstGeom>
          <a:ln w="635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1600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5B66"/>
                </a:solidFill>
                <a:latin typeface="Microsoft YaHei"/>
                <a:ea typeface="Microsoft YaHei"/>
              </a:rPr>
              <a:t>ECE4512 Final Project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6473952"/>
            <a:ext cx="885139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5B66"/>
                </a:solidFill>
                <a:latin typeface="Microsoft YaHei"/>
                <a:ea typeface="Microsoft YaHei"/>
              </a:rPr>
              <a:t>来源：完善大纲.md；annotated_dataset_mosaic.jpg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228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55B6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417320"/>
            <a:ext cx="1709928" cy="1097280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10160">
            <a:solidFill>
              <a:srgbClr val="E8E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572768"/>
            <a:ext cx="145389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57C4"/>
                </a:solidFill>
                <a:latin typeface="Microsoft YaHei"/>
                <a:ea typeface="Microsoft YaHei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48256"/>
            <a:ext cx="1527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B66"/>
                </a:solidFill>
                <a:latin typeface="Microsoft YaHei"/>
                <a:ea typeface="Microsoft YaHei"/>
              </a:rPr>
              <a:t>自采集视频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8" y="1417320"/>
            <a:ext cx="1947672" cy="1097280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10160">
            <a:solidFill>
              <a:srgbClr val="E8E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60904" y="1572768"/>
            <a:ext cx="16916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57C4"/>
                </a:solidFill>
                <a:latin typeface="Microsoft YaHei"/>
                <a:ea typeface="Microsoft YaHei"/>
              </a:rPr>
              <a:t>14,985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048256"/>
            <a:ext cx="17647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B66"/>
                </a:solidFill>
                <a:latin typeface="Microsoft YaHei"/>
                <a:ea typeface="Microsoft YaHei"/>
              </a:rPr>
              <a:t>总帧数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18304" y="1417320"/>
            <a:ext cx="1709928" cy="1097280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10160">
            <a:solidFill>
              <a:srgbClr val="E8E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1572768"/>
            <a:ext cx="145389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57C4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2048256"/>
            <a:ext cx="1527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B66"/>
                </a:solidFill>
                <a:latin typeface="Microsoft YaHei"/>
                <a:ea typeface="Microsoft YaHei"/>
              </a:rPr>
              <a:t>带标注评估片段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276148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57C4"/>
                </a:solidFill>
                <a:latin typeface="Microsoft YaHei"/>
                <a:ea typeface="Microsoft YaHei"/>
              </a:rPr>
              <a:t>五类拍摄条件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136392"/>
            <a:ext cx="1078992" cy="1115568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1270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57C4"/>
                </a:solidFill>
                <a:latin typeface="Microsoft YaHei"/>
                <a:ea typeface="Microsoft YaHei"/>
              </a:rPr>
              <a:t>CLASS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657600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A1A1A"/>
                </a:solidFill>
                <a:latin typeface="Microsoft YaHei"/>
                <a:ea typeface="Microsoft YaHei"/>
              </a:rPr>
              <a:t>静态页面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65376" y="3136392"/>
            <a:ext cx="1078992" cy="1115568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1270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38528" y="3300984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57C4"/>
                </a:solidFill>
                <a:latin typeface="Microsoft YaHei"/>
                <a:ea typeface="Microsoft YaHei"/>
              </a:rPr>
              <a:t>CLASS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" y="3657600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A1A1A"/>
                </a:solidFill>
                <a:latin typeface="Microsoft YaHei"/>
                <a:ea typeface="Microsoft YaHei"/>
              </a:rPr>
              <a:t>滚动页面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3136392"/>
            <a:ext cx="1078992" cy="1115568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1270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82112" y="3300984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57C4"/>
                </a:solidFill>
                <a:latin typeface="Microsoft YaHei"/>
                <a:ea typeface="Microsoft YaHei"/>
              </a:rPr>
              <a:t>CLASS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2112" y="3657600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A1A1A"/>
                </a:solidFill>
                <a:latin typeface="Microsoft YaHei"/>
                <a:ea typeface="Microsoft YaHei"/>
              </a:rPr>
              <a:t>屏内视频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2544" y="3136392"/>
            <a:ext cx="1078992" cy="1115568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1270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25696" y="3300984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F57C4"/>
                </a:solidFill>
                <a:latin typeface="Microsoft YaHei"/>
                <a:ea typeface="Microsoft YaHei"/>
              </a:rPr>
              <a:t>CLASS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3657600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A1A1A"/>
                </a:solidFill>
                <a:latin typeface="Microsoft YaHei"/>
                <a:ea typeface="Microsoft YaHei"/>
              </a:rPr>
              <a:t>弱边框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96128" y="3136392"/>
            <a:ext cx="1078992" cy="1115568"/>
          </a:xfrm>
          <a:prstGeom prst="roundRect">
            <a:avLst>
              <a:gd name="adj" fmla="val 8000"/>
            </a:avLst>
          </a:prstGeom>
          <a:solidFill>
            <a:srgbClr val="FCEDEA"/>
          </a:solidFill>
          <a:ln w="12700">
            <a:solidFill>
              <a:srgbClr val="C43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0" y="3300984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43D2E"/>
                </a:solidFill>
                <a:latin typeface="Microsoft YaHei"/>
                <a:ea typeface="Microsoft YaHei"/>
              </a:rPr>
              <a:t>CLASS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657600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A1A1A"/>
                </a:solidFill>
                <a:latin typeface="Microsoft YaHei"/>
                <a:ea typeface="Microsoft YaHei"/>
              </a:rPr>
              <a:t>挑战场景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517136"/>
            <a:ext cx="6016752" cy="1426464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4709160"/>
            <a:ext cx="5532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F57C4"/>
                </a:solidFill>
                <a:latin typeface="Microsoft YaHei"/>
                <a:ea typeface="Microsoft YaHei"/>
              </a:rPr>
              <a:t>公平比较。</a:t>
            </a:r>
            <a:r>
              <a:rPr sz="1310" b="0" i="0">
                <a:solidFill>
                  <a:srgbClr val="1A1A1A"/>
                </a:solidFill>
                <a:latin typeface="Microsoft YaHei"/>
                <a:ea typeface="Microsoft YaHei"/>
              </a:rPr>
              <a:t>三种主方法共享相同输入、初始化、输出画布、标注和指标代码。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193792"/>
            <a:ext cx="5468112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B66"/>
                </a:solidFill>
                <a:latin typeface="Microsoft YaHei"/>
                <a:ea typeface="Microsoft YaHei"/>
              </a:rPr>
              <a:t>几何评价排除用于初始化的第 0 帧；片段内先取中位数，再跨片段汇总。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76872" y="1417320"/>
            <a:ext cx="4617720" cy="452628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016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annotated_dataset_mosa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790" y="1508760"/>
            <a:ext cx="3813882" cy="42976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159752" y="5742432"/>
            <a:ext cx="4251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D3DAE6"/>
                </a:solidFill>
                <a:latin typeface="Microsoft YaHei"/>
                <a:ea typeface="Microsoft YaHei"/>
              </a:rPr>
              <a:t>项目内现有数据集马赛克；绿色四边形为人工屏幕边界。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57C4"/>
                </a:solidFill>
                <a:latin typeface="Microsoft YaHei"/>
                <a:ea typeface="Microsoft YaHei"/>
              </a:rPr>
              <a:t>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Microsoft YaHei"/>
                <a:ea typeface="Microsoft YaHei"/>
              </a:rPr>
              <a:t>总体结果：更准，同时更稳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52144"/>
            <a:ext cx="832104" cy="0"/>
          </a:xfrm>
          <a:prstGeom prst="line">
            <a:avLst/>
          </a:prstGeom>
          <a:ln w="30480">
            <a:solidFill>
              <a:srgbClr val="1F5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19088"/>
            <a:ext cx="11045952" cy="0"/>
          </a:xfrm>
          <a:prstGeom prst="line">
            <a:avLst/>
          </a:prstGeom>
          <a:ln w="635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1600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5B66"/>
                </a:solidFill>
                <a:latin typeface="Microsoft YaHei"/>
                <a:ea typeface="Microsoft YaHei"/>
              </a:rPr>
              <a:t>ECE4512 Final Project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6473952"/>
            <a:ext cx="885139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5B66"/>
                </a:solidFill>
                <a:latin typeface="Microsoft YaHei"/>
                <a:ea typeface="Microsoft YaHei"/>
              </a:rPr>
              <a:t>来源：figure_02_overall_results.png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228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55B66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399032"/>
            <a:ext cx="7699248" cy="4553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ure_02_overal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8911"/>
            <a:ext cx="7498079" cy="293566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22208" y="1399032"/>
            <a:ext cx="3081528" cy="4553712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10160">
            <a:solidFill>
              <a:srgbClr val="E8E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23960" y="1700784"/>
            <a:ext cx="24871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57C4"/>
                </a:solidFill>
                <a:latin typeface="Microsoft YaHei"/>
                <a:ea typeface="Microsoft YaHei"/>
              </a:rPr>
              <a:t>3.87 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14884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A1A1A"/>
                </a:solidFill>
                <a:latin typeface="Microsoft YaHei"/>
                <a:ea typeface="Microsoft YaHei"/>
              </a:rPr>
              <a:t>角点 RMSE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62488" y="2121408"/>
            <a:ext cx="521207" cy="22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0776" y="2157984"/>
            <a:ext cx="46634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F57C4"/>
                </a:solidFill>
                <a:latin typeface="Microsoft YaHei"/>
                <a:ea typeface="Microsoft YaHei"/>
              </a:rPr>
              <a:t>最低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688336"/>
            <a:ext cx="24871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E8579"/>
                </a:solidFill>
                <a:latin typeface="Microsoft YaHei"/>
                <a:ea typeface="Microsoft YaHei"/>
              </a:rPr>
              <a:t>0.996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13639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A1A1A"/>
                </a:solidFill>
                <a:latin typeface="Microsoft YaHei"/>
                <a:ea typeface="Microsoft YaHei"/>
              </a:rPr>
              <a:t>四边形 IoU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62488" y="3108960"/>
            <a:ext cx="521207" cy="22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0776" y="3145536"/>
            <a:ext cx="46634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2E8579"/>
                </a:solidFill>
                <a:latin typeface="Microsoft YaHei"/>
                <a:ea typeface="Microsoft YaHei"/>
              </a:rPr>
              <a:t>最高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3675888"/>
            <a:ext cx="24871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57C4"/>
                </a:solidFill>
                <a:latin typeface="Microsoft YaHei"/>
                <a:ea typeface="Microsoft YaHei"/>
              </a:rPr>
              <a:t>2.45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412394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A1A1A"/>
                </a:solidFill>
                <a:latin typeface="Microsoft YaHei"/>
                <a:ea typeface="Microsoft YaHei"/>
              </a:rPr>
              <a:t>px / frame 平移变化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62488" y="4096512"/>
            <a:ext cx="521207" cy="22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0776" y="4133088"/>
            <a:ext cx="46634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F57C4"/>
                </a:solidFill>
                <a:latin typeface="Microsoft YaHei"/>
                <a:ea typeface="Microsoft YaHei"/>
              </a:rPr>
              <a:t>最低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3960" y="4626864"/>
            <a:ext cx="2496312" cy="0"/>
          </a:xfrm>
          <a:prstGeom prst="line">
            <a:avLst/>
          </a:prstGeom>
          <a:ln w="1016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823960" y="4846320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F57C4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5148072"/>
            <a:ext cx="248716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</a:rPr>
              <a:t>改进不只是轨迹更平滑；更关键的是四边形更贴近人工标注。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57C4"/>
                </a:solidFill>
                <a:latin typeface="Microsoft YaHei"/>
                <a:ea typeface="Microsoft YaHei"/>
              </a:rPr>
              <a:t>WHERE IT HELPS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Microsoft YaHei"/>
                <a:ea typeface="Microsoft YaHei"/>
              </a:rPr>
              <a:t>优势集中在滚动与弱边框场景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52144"/>
            <a:ext cx="832104" cy="0"/>
          </a:xfrm>
          <a:prstGeom prst="line">
            <a:avLst/>
          </a:prstGeom>
          <a:ln w="30480">
            <a:solidFill>
              <a:srgbClr val="1F5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19088"/>
            <a:ext cx="11045952" cy="0"/>
          </a:xfrm>
          <a:prstGeom prst="line">
            <a:avLst/>
          </a:prstGeom>
          <a:ln w="635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1600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5B66"/>
                </a:solidFill>
                <a:latin typeface="Microsoft YaHei"/>
                <a:ea typeface="Microsoft YaHei"/>
              </a:rPr>
              <a:t>ECE4512 Final Project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6473952"/>
            <a:ext cx="885139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5B66"/>
                </a:solidFill>
                <a:latin typeface="Microsoft YaHei"/>
                <a:ea typeface="Microsoft YaHei"/>
              </a:rPr>
              <a:t>来源：figure_03_category_results.png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228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55B66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399032"/>
            <a:ext cx="8074152" cy="4553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ure_03_category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806044"/>
            <a:ext cx="7854696" cy="372139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87968" y="1399032"/>
            <a:ext cx="2715768" cy="1444752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10160">
            <a:solidFill>
              <a:srgbClr val="1F5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25712" y="162763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60" b="1" i="0">
                <a:solidFill>
                  <a:srgbClr val="1F57C4"/>
                </a:solidFill>
                <a:latin typeface="Microsoft YaHei"/>
                <a:ea typeface="Microsoft YaHei"/>
              </a:rPr>
              <a:t>滚动页面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5712" y="1993392"/>
            <a:ext cx="219456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>
                <a:solidFill>
                  <a:srgbClr val="1A1A1A"/>
                </a:solidFill>
                <a:latin typeface="Microsoft YaHei"/>
                <a:ea typeface="Microsoft YaHei"/>
              </a:rPr>
              <a:t>RMSE  2.87 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37744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55B66"/>
                </a:solidFill>
                <a:latin typeface="Microsoft YaHei"/>
                <a:ea typeface="Microsoft YaHei"/>
              </a:rPr>
              <a:t>逐帧 31.76 · 光流 81.67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7968" y="3017520"/>
            <a:ext cx="2715768" cy="1444752"/>
          </a:xfrm>
          <a:prstGeom prst="roundRect">
            <a:avLst>
              <a:gd name="adj" fmla="val 8000"/>
            </a:avLst>
          </a:prstGeom>
          <a:solidFill>
            <a:srgbClr val="E6F3F1"/>
          </a:solidFill>
          <a:ln w="10160">
            <a:solidFill>
              <a:srgbClr val="2E85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25712" y="324612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60" b="1" i="0">
                <a:solidFill>
                  <a:srgbClr val="2E8579"/>
                </a:solidFill>
                <a:latin typeface="Microsoft YaHei"/>
                <a:ea typeface="Microsoft YaHei"/>
              </a:rPr>
              <a:t>弱边框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3611880"/>
            <a:ext cx="219456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>
                <a:solidFill>
                  <a:srgbClr val="1A1A1A"/>
                </a:solidFill>
                <a:latin typeface="Microsoft YaHei"/>
                <a:ea typeface="Microsoft YaHei"/>
              </a:rPr>
              <a:t>RMSE  9.35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99592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55B66"/>
                </a:solidFill>
                <a:latin typeface="Microsoft YaHei"/>
                <a:ea typeface="Microsoft YaHei"/>
              </a:rPr>
              <a:t>另外两种方法均 &gt;155 px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4636008"/>
            <a:ext cx="2715768" cy="1316736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5712" y="4855464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C43D2E"/>
                </a:solidFill>
                <a:latin typeface="Microsoft YaHei"/>
                <a:ea typeface="Microsoft YaHei"/>
              </a:rPr>
              <a:t>挑战场景仍是限制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5230368"/>
            <a:ext cx="21945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B66"/>
                </a:solidFill>
                <a:latin typeface="Microsoft YaHei"/>
                <a:ea typeface="Microsoft YaHei"/>
              </a:rPr>
              <a:t>几何略逊于逐帧检测，但平移变化 3.74，仍低于 5.19 / 8.56。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57C4"/>
                </a:solidFill>
                <a:latin typeface="Microsoft YaHei"/>
                <a:ea typeface="Microsoft YaHei"/>
              </a:rPr>
              <a:t>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Microsoft YaHei"/>
                <a:ea typeface="Microsoft YaHei"/>
              </a:rPr>
              <a:t>消融：滤波换来稳定，其余模块提供安全网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52144"/>
            <a:ext cx="832104" cy="0"/>
          </a:xfrm>
          <a:prstGeom prst="line">
            <a:avLst/>
          </a:prstGeom>
          <a:ln w="30480">
            <a:solidFill>
              <a:srgbClr val="1F5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19088"/>
            <a:ext cx="11045952" cy="0"/>
          </a:xfrm>
          <a:prstGeom prst="line">
            <a:avLst/>
          </a:prstGeom>
          <a:ln w="635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1600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5B66"/>
                </a:solidFill>
                <a:latin typeface="Microsoft YaHei"/>
                <a:ea typeface="Microsoft YaHei"/>
              </a:rPr>
              <a:t>ECE4512 Final Project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6473952"/>
            <a:ext cx="885139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5B66"/>
                </a:solidFill>
                <a:latin typeface="Microsoft YaHei"/>
                <a:ea typeface="Microsoft YaHei"/>
              </a:rPr>
              <a:t>来源：proposal_border_ablation_2026-07-14.md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228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55B66"/>
                </a:solidFill>
                <a:latin typeface="Microsoft YaHei"/>
                <a:ea typeface="Microsoft YaHei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3504" y="1481328"/>
          <a:ext cx="7543799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2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088">
                <a:tc>
                  <a:txBody>
                    <a:bodyPr/>
                    <a:lstStyle/>
                    <a:p>
                      <a:pPr algn="ctr"/>
                      <a:r>
                        <a:rPr sz="113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变体</a:t>
                      </a:r>
                    </a:p>
                  </a:txBody>
                  <a:tcPr marL="54864" marR="54864" marT="36576" marB="36576">
                    <a:solidFill>
                      <a:srgbClr val="1747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RMSE ↓</a:t>
                      </a:r>
                    </a:p>
                  </a:txBody>
                  <a:tcPr marL="54864" marR="54864" marT="36576" marB="36576">
                    <a:solidFill>
                      <a:srgbClr val="1747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IoU ↑</a:t>
                      </a:r>
                    </a:p>
                  </a:txBody>
                  <a:tcPr marL="54864" marR="54864" marT="36576" marB="36576">
                    <a:solidFill>
                      <a:srgbClr val="1747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平移变化 ↓</a:t>
                      </a:r>
                    </a:p>
                  </a:txBody>
                  <a:tcPr marL="54864" marR="54864" marT="36576" marB="36576">
                    <a:solidFill>
                      <a:srgbClr val="1747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algn="l"/>
                      <a:r>
                        <a:rPr sz="112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完整方法：Profile 边框</a:t>
                      </a:r>
                    </a:p>
                  </a:txBody>
                  <a:tcPr marL="54864" marR="54864" marT="36576" marB="36576"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57C4"/>
                          </a:solidFill>
                          <a:latin typeface="Microsoft YaHei"/>
                          <a:ea typeface="Microsoft YaHei"/>
                        </a:rPr>
                        <a:t>3.253</a:t>
                      </a:r>
                    </a:p>
                  </a:txBody>
                  <a:tcPr marL="54864" marR="54864" marT="36576" marB="36576"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57C4"/>
                          </a:solidFill>
                          <a:latin typeface="Microsoft YaHei"/>
                          <a:ea typeface="Microsoft YaHei"/>
                        </a:rPr>
                        <a:t>0.996038</a:t>
                      </a:r>
                    </a:p>
                  </a:txBody>
                  <a:tcPr marL="54864" marR="54864" marT="36576" marB="36576"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57C4"/>
                          </a:solidFill>
                          <a:latin typeface="Microsoft YaHei"/>
                          <a:ea typeface="Microsoft YaHei"/>
                        </a:rPr>
                        <a:t>0.752</a:t>
                      </a:r>
                    </a:p>
                  </a:txBody>
                  <a:tcPr marL="54864" marR="54864" marT="36576" marB="36576">
                    <a:solidFill>
                      <a:srgbClr val="E8EF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algn="l"/>
                      <a:r>
                        <a:rPr sz="112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去掉轨迹滤波</a:t>
                      </a:r>
                    </a:p>
                  </a:txBody>
                  <a:tcPr marL="54864" marR="54864" marT="36576" marB="36576">
                    <a:solidFill>
                      <a:srgbClr val="FCED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2.932</a:t>
                      </a:r>
                    </a:p>
                  </a:txBody>
                  <a:tcPr marL="54864" marR="54864" marT="36576" marB="36576">
                    <a:solidFill>
                      <a:srgbClr val="FCED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0.996585</a:t>
                      </a:r>
                    </a:p>
                  </a:txBody>
                  <a:tcPr marL="54864" marR="54864" marT="36576" marB="36576">
                    <a:solidFill>
                      <a:srgbClr val="FCED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1.430</a:t>
                      </a:r>
                    </a:p>
                  </a:txBody>
                  <a:tcPr marL="54864" marR="54864" marT="36576" marB="36576">
                    <a:solidFill>
                      <a:srgbClr val="FC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algn="l"/>
                      <a:r>
                        <a:rPr sz="112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去掉 LK 一致性诊断</a:t>
                      </a:r>
                    </a:p>
                  </a:txBody>
                  <a:tcPr marL="54864" marR="54864" marT="36576" marB="3657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3.253</a:t>
                      </a:r>
                    </a:p>
                  </a:txBody>
                  <a:tcPr marL="54864" marR="54864" marT="36576" marB="3657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0.996038</a:t>
                      </a:r>
                    </a:p>
                  </a:txBody>
                  <a:tcPr marL="54864" marR="54864" marT="36576" marB="3657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0.752</a:t>
                      </a:r>
                    </a:p>
                  </a:txBody>
                  <a:tcPr marL="54864" marR="54864" marT="36576" marB="36576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algn="l"/>
                      <a:r>
                        <a:rPr sz="112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去掉重新检测回退</a:t>
                      </a:r>
                    </a:p>
                  </a:txBody>
                  <a:tcPr marL="54864" marR="54864" marT="36576" marB="3657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3.253</a:t>
                      </a:r>
                    </a:p>
                  </a:txBody>
                  <a:tcPr marL="54864" marR="54864" marT="36576" marB="3657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0.996038</a:t>
                      </a:r>
                    </a:p>
                  </a:txBody>
                  <a:tcPr marL="54864" marR="54864" marT="36576" marB="3657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0.752</a:t>
                      </a:r>
                    </a:p>
                  </a:txBody>
                  <a:tcPr marL="54864" marR="54864" marT="36576" marB="36576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algn="l"/>
                      <a:r>
                        <a:rPr sz="112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放宽边缘门控</a:t>
                      </a:r>
                    </a:p>
                  </a:txBody>
                  <a:tcPr marL="54864" marR="54864" marT="36576" marB="3657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3.253</a:t>
                      </a:r>
                    </a:p>
                  </a:txBody>
                  <a:tcPr marL="54864" marR="54864" marT="36576" marB="3657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0.996038</a:t>
                      </a:r>
                    </a:p>
                  </a:txBody>
                  <a:tcPr marL="54864" marR="54864" marT="36576" marB="3657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0.752</a:t>
                      </a:r>
                    </a:p>
                  </a:txBody>
                  <a:tcPr marL="54864" marR="54864" marT="36576" marB="36576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412480" y="1481328"/>
            <a:ext cx="3182112" cy="1874519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10160">
            <a:solidFill>
              <a:srgbClr val="1F5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68512" y="1792224"/>
            <a:ext cx="26609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57C4"/>
                </a:solidFill>
                <a:latin typeface="Microsoft YaHei"/>
                <a:ea typeface="Microsoft YaHei"/>
              </a:rPr>
              <a:t>0.752  →  1.430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7656" y="2331720"/>
            <a:ext cx="2642616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</a:rPr>
              <a:t>去掉滤波后，平移变化接近翻倍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98064"/>
            <a:ext cx="2660904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55B66"/>
                </a:solidFill>
                <a:latin typeface="Microsoft YaHei"/>
                <a:ea typeface="Microsoft YaHei"/>
              </a:rPr>
              <a:t>代价：稀疏标注帧 RMSE 略降，但帧间抖动明显增加。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3593592"/>
            <a:ext cx="3182112" cy="2112264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68512" y="3877056"/>
            <a:ext cx="26609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</a:rPr>
              <a:t>LK / 重检 / 门控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4325112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F57C4"/>
                </a:solidFill>
                <a:latin typeface="Microsoft YaHei"/>
                <a:ea typeface="Microsoft YaHei"/>
              </a:rPr>
              <a:t>在该滚动片段上数值不变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736592"/>
            <a:ext cx="2624328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B66"/>
                </a:solidFill>
                <a:latin typeface="Microsoft YaHei"/>
                <a:ea typeface="Microsoft YaHei"/>
              </a:rPr>
              <a:t>说明 Profile 边框证据逐帧成功；这些模块主要承担异常检测与恢复，而不是正常帧的主估计。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5916168"/>
            <a:ext cx="7452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1">
                <a:solidFill>
                  <a:srgbClr val="555B66"/>
                </a:solidFill>
                <a:latin typeface="Microsoft YaHei"/>
                <a:ea typeface="Microsoft YaHei"/>
              </a:rPr>
              <a:t>表中数值均直接转录自项目现有 Proposal Border Ablation 文档。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57C4"/>
                </a:solidFill>
                <a:latin typeface="Microsoft YaHei"/>
                <a:ea typeface="Microsoft YaHei"/>
              </a:rPr>
              <a:t>LIMITS &amp;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Microsoft YaHei"/>
                <a:ea typeface="Microsoft YaHei"/>
              </a:rPr>
              <a:t>边界仍是限制，但结论清晰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" y="1152144"/>
            <a:ext cx="832104" cy="0"/>
          </a:xfrm>
          <a:prstGeom prst="line">
            <a:avLst/>
          </a:prstGeom>
          <a:ln w="30480">
            <a:solidFill>
              <a:srgbClr val="1F5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419088"/>
            <a:ext cx="11045952" cy="0"/>
          </a:xfrm>
          <a:prstGeom prst="line">
            <a:avLst/>
          </a:prstGeom>
          <a:ln w="635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1600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5B66"/>
                </a:solidFill>
                <a:latin typeface="Microsoft YaHei"/>
                <a:ea typeface="Microsoft YaHei"/>
              </a:rPr>
              <a:t>ECE4512 Final Project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6473952"/>
            <a:ext cx="885139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5B66"/>
                </a:solidFill>
                <a:latin typeface="Microsoft YaHei"/>
                <a:ea typeface="Microsoft YaHei"/>
              </a:rPr>
              <a:t>来源：完善大纲.md §4–5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228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55B66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444752"/>
            <a:ext cx="5321808" cy="1856231"/>
          </a:xfrm>
          <a:prstGeom prst="roundRect">
            <a:avLst>
              <a:gd name="adj" fmla="val 8000"/>
            </a:avLst>
          </a:prstGeom>
          <a:solidFill>
            <a:srgbClr val="FCEDEA"/>
          </a:solidFill>
          <a:ln w="10160">
            <a:solidFill>
              <a:srgbClr val="C43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709928"/>
            <a:ext cx="13258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3D2E"/>
                </a:solidFill>
                <a:latin typeface="Microsoft YaHei"/>
                <a:ea typeface="Microsoft YaHei"/>
              </a:rPr>
              <a:t>主要局限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48840"/>
            <a:ext cx="4718304" cy="813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A1A1A"/>
                </a:solidFill>
                <a:latin typeface="Microsoft YaHei"/>
                <a:ea typeface="Microsoft YaHei"/>
              </a:rPr>
              <a:t>• 弱边缘 / 极低对比度：真实梯度不足，背景纹理可能成为更强候选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A1A1A"/>
                </a:solidFill>
                <a:latin typeface="Microsoft YaHei"/>
                <a:ea typeface="Microsoft YaHei"/>
              </a:rPr>
              <a:t>• 强反光 / 遮挡：伪梯度会偏移边线，或触发重检与保持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444752"/>
            <a:ext cx="5404104" cy="1856231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10160">
            <a:solidFill>
              <a:srgbClr val="1F5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1709928"/>
            <a:ext cx="13258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57C4"/>
                </a:solidFill>
                <a:latin typeface="Microsoft YaHei"/>
                <a:ea typeface="Microsoft YaHei"/>
              </a:rPr>
              <a:t>最终结论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828032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 i="0">
                <a:solidFill>
                  <a:srgbClr val="1A1A1A"/>
                </a:solidFill>
                <a:latin typeface="Microsoft YaHei"/>
                <a:ea typeface="Microsoft YaHei"/>
              </a:rPr>
              <a:t>物理屏幕边框比单帧独立检测或内部内容光流，更适合作为屏幕平面的主要证据。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365760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57C4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4041648"/>
            <a:ext cx="3273552" cy="14813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4251960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57C4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4215384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A1A1A"/>
                </a:solidFill>
                <a:latin typeface="Microsoft YaHei"/>
                <a:ea typeface="Microsoft YaHei"/>
              </a:rPr>
              <a:t>多线索边界融合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700016"/>
            <a:ext cx="285292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B66"/>
                </a:solidFill>
                <a:latin typeface="Microsoft YaHei"/>
                <a:ea typeface="Microsoft YaHei"/>
              </a:rPr>
              <a:t>联合 Profile、长线段、颜色差异与矩形约束。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78808" y="4041648"/>
            <a:ext cx="3273552" cy="14813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4251960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57C4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4215384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A1A1A"/>
                </a:solidFill>
                <a:latin typeface="Microsoft YaHei"/>
                <a:ea typeface="Microsoft YaHei"/>
              </a:rPr>
              <a:t>边级置信度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700016"/>
            <a:ext cx="285292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B66"/>
                </a:solidFill>
                <a:latin typeface="Microsoft YaHei"/>
                <a:ea typeface="Microsoft YaHei"/>
              </a:rPr>
              <a:t>对四条边分别估计可信度，并跨帧补全低置信度边。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35824" y="4041648"/>
            <a:ext cx="3273552" cy="14813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0160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00416" y="4251960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57C4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4215384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A1A1A"/>
                </a:solidFill>
                <a:latin typeface="Microsoft YaHei"/>
                <a:ea typeface="Microsoft YaHei"/>
              </a:rPr>
              <a:t>更强失败恢复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0416" y="4700016"/>
            <a:ext cx="285292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B66"/>
                </a:solidFill>
                <a:latin typeface="Microsoft YaHei"/>
                <a:ea typeface="Microsoft YaHei"/>
              </a:rPr>
              <a:t>连续失败时主动重新初始化，并扩充反光、遮挡标注。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" y="5806440"/>
            <a:ext cx="108996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>
                <a:solidFill>
                  <a:srgbClr val="1F57C4"/>
                </a:solidFill>
                <a:latin typeface="Microsoft YaHei"/>
                <a:ea typeface="Microsoft YaHei"/>
              </a:rPr>
              <a:t>3.87 px RMSE   ·   0.996 IoU   ·   2.45 px/frame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751</Words>
  <Application>Microsoft Office PowerPoint</Application>
  <PresentationFormat>宽屏</PresentationFormat>
  <Paragraphs>165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Microsoft YaHei</vt:lpstr>
      <vt:lpstr>Aptos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Mingrui Liu (SSE,124090375)</cp:lastModifiedBy>
  <cp:revision>1</cp:revision>
  <dcterms:created xsi:type="dcterms:W3CDTF">2013-01-27T09:14:16Z</dcterms:created>
  <dcterms:modified xsi:type="dcterms:W3CDTF">2026-07-14T13:57:03Z</dcterms:modified>
  <cp:category/>
</cp:coreProperties>
</file>