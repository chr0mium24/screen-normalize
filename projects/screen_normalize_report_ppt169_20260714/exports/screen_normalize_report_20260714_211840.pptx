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  <Relationship Id="rId2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project normalizes the perspective of a physical display in real captured-screen video. The central result is a corner RMSE of 3.87 pixels, compared with more than 30 pixels for both the frame-wise and optical-flow baselines.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hard part is not rectifying a single frame; it is keeping the screen plane stable while the camera and the content inside the screen move at the same time. Our key design choice is to let the physical border determine the homography and use internal optical flow only to diagnose conflicts.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With the objective defined, this slide shows the complete pipeline. We initialize one quadrilateral, observe the four physical borders with local profiles, validate or recover the candidate, and finally smooth the trajectory before perspective normalization.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default estimator does not search the full image again on every frame. It samples narrow normal profiles around predicted edges, selects strong gradient responses, fits robust lines, and obtains updated corners from line intersections; LK motion remains a consistency check rather than the geometric driver.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main difference among the three methods is the evidence they trust. Frame-wise detection restarts from the current image, optical flow propagates internal feature motion, while our method follows the physical border and invokes hold or redetection only when that evidence becomes unreliable.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broader project set contains 50 videos and 14,985 frames, while the formal three-method ranking uses 10 annotated clips across five scene categories. The current comparable evidence covers corner accuracy, quadrilateral overlap, and temporal translation stability; detail and frequency-domain behavior are supporting observations rather than current numeric rankings.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Across the annotated set, the proposed method wins all three aggregate metrics. It reduces corner RMSE to 3.87 pixels, raises quadrilateral IoU to 0.996, and lowers translation variation to 2.45 pixels per frame.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advantage becomes especially clear when internal scrolling or weak physical borders challenge the baselines. On scrolling clips the RMSE falls to 2.87 pixels, and on weak-border clips it remains at 9.35 pixels while both baselines exceed 155 pixels.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qualitative grid shows that the normalized view follows the physical display rather than the pixels moving inside it. On the hardest subset, frame-wise detection is slightly better in RMSE, but our method stays competitive in accuracy and gives the best temporal stability.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ablation results show that trajectory smoothing is the only tested removal that changes this sequence directly. Removing it improves the instantaneous geometry slightly, but increases frame-to-frame variation from 0.752 to 1.430, so the complete method cuts that instability by about 47 percent.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equal rows are explained by execution counts, not by assuming that the safety modules have no value. After one initialization frame, the Profile observation is accepted on all 298 remaining frames, so the LK conflict branch, automatic redetection, and relaxed gates never alter the output.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remaining failure modes occur when reflection, occlusion, or extreme low contrast makes the physical border ambiguous for a sustained period. The current gates, diagnostics, redetection, and hold behavior limit damage, while future work should improve adaptive search, multi-frame recovery, and confidence-aware output.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conclusion is simple: track the display, not the content moving inside it. A border-first pipeline produces the best aggregate geometry and stability, with its largest gains appearing exactly where frame-wise detection and optical flow are most easily confused.</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creen_normalize_repor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creen_normalize_repor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0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9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6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5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3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2400" kern="1200">
          <a:solidFill>
            <a:schemeClr val="tx1"/>
          </a:solidFill>
          <a:latin typeface="+mn-lt"/>
          <a:ea typeface="+mn-ea"/>
          <a:cs typeface="+mn-cs"/>
        </a:defRPr>
      </a:lvl1pPr>
      <a:lvl2pPr marL="457200" algn="l" defTabSz="457200" rtl="0" eaLnBrk="1" latinLnBrk="0" hangingPunct="1">
        <a:defRPr sz="2250" kern="1200">
          <a:solidFill>
            <a:schemeClr val="tx1"/>
          </a:solidFill>
          <a:latin typeface="+mn-lt"/>
          <a:ea typeface="+mn-ea"/>
          <a:cs typeface="+mn-cs"/>
        </a:defRPr>
      </a:lvl2pPr>
      <a:lvl3pPr marL="914400" algn="l" defTabSz="457200" rtl="0" eaLnBrk="1" latinLnBrk="0" hangingPunct="1">
        <a:defRPr sz="2100" kern="1200">
          <a:solidFill>
            <a:schemeClr val="tx1"/>
          </a:solidFill>
          <a:latin typeface="+mn-lt"/>
          <a:ea typeface="+mn-ea"/>
          <a:cs typeface="+mn-cs"/>
        </a:defRPr>
      </a:lvl3pPr>
      <a:lvl4pPr marL="1371600" algn="l" defTabSz="457200" rtl="0" eaLnBrk="1" latinLnBrk="0" hangingPunct="1">
        <a:defRPr sz="195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650" kern="1200">
          <a:solidFill>
            <a:schemeClr val="tx1"/>
          </a:solidFill>
          <a:latin typeface="+mn-lt"/>
          <a:ea typeface="+mn-ea"/>
          <a:cs typeface="+mn-cs"/>
        </a:defRPr>
      </a:lvl6pPr>
      <a:lvl7pPr marL="2743200" algn="l" defTabSz="457200" rtl="0" eaLnBrk="1" latinLnBrk="0" hangingPunct="1">
        <a:defRPr sz="1500" kern="1200">
          <a:solidFill>
            <a:schemeClr val="tx1"/>
          </a:solidFill>
          <a:latin typeface="+mn-lt"/>
          <a:ea typeface="+mn-ea"/>
          <a:cs typeface="+mn-cs"/>
        </a:defRPr>
      </a:lvl7pPr>
      <a:lvl8pPr marL="3200400" algn="l" defTabSz="457200" rtl="0" eaLnBrk="1" latinLnBrk="0" hangingPunct="1">
        <a:defRPr sz="135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ea22e15470af33e.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48464962a706558.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609600" y="1028700"/>
            <a:ext cx="7419975" cy="5124450"/>
            <a:chOff x="609600" y="1028700"/>
            <a:chExt cx="7419975" cy="5124450"/>
          </a:xfrm>
        </p:grpSpPr>
        <p:sp>
          <p:nvSpPr>
            <p:cNvPr id="2" name="Polygon 2"/>
            <p:cNvSpPr/>
            <p:nvPr/>
          </p:nvSpPr>
          <p:spPr>
            <a:xfrm>
              <a:off x="685800" y="1104900"/>
              <a:ext cx="7124700" cy="4972050"/>
            </a:xfrm>
            <a:custGeom>
              <a:avLst/>
              <a:gdLst/>
              <a:ahLst/>
              <a:cxnLst/>
              <a:rect l="l" t="t" r="r" b="b"/>
              <a:pathLst>
                <a:path w="7124700" h="4972050">
                  <a:moveTo>
                    <a:pt x="0" y="342900"/>
                  </a:moveTo>
                  <a:lnTo>
                    <a:pt x="6572250" y="0"/>
                  </a:lnTo>
                  <a:lnTo>
                    <a:pt x="7124700" y="4629150"/>
                  </a:lnTo>
                  <a:lnTo>
                    <a:pt x="381000" y="4972050"/>
                  </a:lnTo>
                  <a:close/>
                </a:path>
              </a:pathLst>
            </a:custGeom>
            <a:solidFill>
              <a:schemeClr val="lt2">
                <a:alpha val="50000"/>
              </a:schemeClr>
            </a:solidFill>
            <a:ln w="38100">
              <a:solidFill>
                <a:schemeClr val="accent2"/>
              </a:solidFill>
            </a:ln>
          </p:spPr>
        </p:sp>
        <p:sp>
          <p:nvSpPr>
            <p:cNvPr id="3" name="Ellipse 3"/>
            <p:cNvSpPr/>
            <p:nvPr/>
          </p:nvSpPr>
          <p:spPr>
            <a:xfrm>
              <a:off x="609600" y="1371600"/>
              <a:ext cx="152400" cy="152400"/>
            </a:xfrm>
            <a:prstGeom prst="ellipse">
              <a:avLst/>
            </a:prstGeom>
            <a:solidFill>
              <a:schemeClr val="accent2"/>
            </a:solidFill>
            <a:ln>
              <a:noFill/>
            </a:ln>
          </p:spPr>
        </p:sp>
        <p:sp>
          <p:nvSpPr>
            <p:cNvPr id="4" name="Ellipse 4"/>
            <p:cNvSpPr/>
            <p:nvPr/>
          </p:nvSpPr>
          <p:spPr>
            <a:xfrm>
              <a:off x="7181850" y="1028700"/>
              <a:ext cx="152400" cy="152400"/>
            </a:xfrm>
            <a:prstGeom prst="ellipse">
              <a:avLst/>
            </a:prstGeom>
            <a:solidFill>
              <a:schemeClr val="accent2"/>
            </a:solidFill>
            <a:ln>
              <a:noFill/>
            </a:ln>
          </p:spPr>
        </p:sp>
        <p:sp>
          <p:nvSpPr>
            <p:cNvPr id="5" name="Ellipse 5"/>
            <p:cNvSpPr/>
            <p:nvPr/>
          </p:nvSpPr>
          <p:spPr>
            <a:xfrm>
              <a:off x="7734300" y="5657850"/>
              <a:ext cx="152400" cy="152400"/>
            </a:xfrm>
            <a:prstGeom prst="ellipse">
              <a:avLst/>
            </a:prstGeom>
            <a:solidFill>
              <a:schemeClr val="accent2"/>
            </a:solidFill>
            <a:ln>
              <a:noFill/>
            </a:ln>
          </p:spPr>
        </p:sp>
        <p:sp>
          <p:nvSpPr>
            <p:cNvPr id="6" name="Ellipse 6"/>
            <p:cNvSpPr/>
            <p:nvPr/>
          </p:nvSpPr>
          <p:spPr>
            <a:xfrm>
              <a:off x="990600" y="6000750"/>
              <a:ext cx="152400" cy="152400"/>
            </a:xfrm>
            <a:prstGeom prst="ellipse">
              <a:avLst/>
            </a:prstGeom>
            <a:solidFill>
              <a:schemeClr val="accent2"/>
            </a:solidFill>
            <a:ln>
              <a:noFill/>
            </a:ln>
          </p:spPr>
        </p:sp>
        <p:sp>
          <p:nvSpPr>
            <p:cNvPr id="7" name="Line 7"/>
            <p:cNvSpPr/>
            <p:nvPr/>
          </p:nvSpPr>
          <p:spPr>
            <a:xfrm>
              <a:off x="8020050" y="1104900"/>
              <a:ext cx="9525" cy="4629150"/>
            </a:xfrm>
            <a:custGeom>
              <a:avLst/>
              <a:gdLst/>
              <a:ahLst/>
              <a:cxnLst/>
              <a:rect l="l" t="t" r="r" b="b"/>
              <a:pathLst>
                <a:path w="9525" h="4629150">
                  <a:moveTo>
                    <a:pt x="0" y="0"/>
                  </a:moveTo>
                  <a:lnTo>
                    <a:pt x="0" y="4629150"/>
                  </a:lnTo>
                </a:path>
              </a:pathLst>
            </a:custGeom>
            <a:noFill/>
            <a:ln w="19050">
              <a:solidFill>
                <a:schemeClr val="accent4"/>
              </a:solidFill>
            </a:ln>
          </p:spPr>
        </p:sp>
      </p:grpSp>
      <p:grpSp>
        <p:nvGrpSpPr>
          <p:cNvPr id="11" name="Group 11"/>
          <p:cNvGrpSpPr/>
          <p:nvPr/>
        </p:nvGrpSpPr>
        <p:grpSpPr>
          <a:xfrm>
            <a:off x="676656" y="586740"/>
            <a:ext cx="3963528" cy="394335"/>
            <a:chOff x="676656" y="586740"/>
            <a:chExt cx="3963528" cy="394335"/>
          </a:xfrm>
        </p:grpSpPr>
        <p:sp>
          <p:nvSpPr>
            <p:cNvPr id="9" name="TextBox 9"/>
            <p:cNvSpPr txBox="1"/>
            <p:nvPr/>
          </p:nvSpPr>
          <p:spPr>
            <a:xfrm>
              <a:off x="676656" y="586740"/>
              <a:ext cx="3963528" cy="352044"/>
            </a:xfrm>
            <a:prstGeom prst="rect">
              <a:avLst/>
            </a:prstGeom>
            <a:noFill/>
            <a:ln>
              <a:noFill/>
            </a:ln>
          </p:spPr>
          <p:txBody>
            <a:bodyPr wrap="none" lIns="0" tIns="0" rIns="0" bIns="0" anchor="t" anchorCtr="0">
              <a:spAutoFit/>
            </a:bodyPr>
            <a:lstStyle/>
            <a:p>
              <a:pPr algn="l"/>
              <a:r>
                <a:rPr lang="en-US" sz="1800" b="1" spc="150" dirty="0">
                  <a:solidFill>
                    <a:schemeClr val="dk2"/>
                  </a:solidFill>
                  <a:latin typeface="+mn-lt"/>
                  <a:ea typeface="+mn-ea"/>
                  <a:cs typeface="+mn-cs"/>
                </a:rPr>
                <a:t>ECE4512 · PROJECT REPORT</a:t>
              </a:r>
            </a:p>
          </p:txBody>
        </p:sp>
        <p:sp>
          <p:nvSpPr>
            <p:cNvPr id="10" name="Line 10"/>
            <p:cNvSpPr/>
            <p:nvPr/>
          </p:nvSpPr>
          <p:spPr>
            <a:xfrm>
              <a:off x="685800" y="971550"/>
              <a:ext cx="1695450" cy="9525"/>
            </a:xfrm>
            <a:custGeom>
              <a:avLst/>
              <a:gdLst/>
              <a:ahLst/>
              <a:cxnLst/>
              <a:rect l="l" t="t" r="r" b="b"/>
              <a:pathLst>
                <a:path w="1695450" h="9525">
                  <a:moveTo>
                    <a:pt x="0" y="0"/>
                  </a:moveTo>
                  <a:lnTo>
                    <a:pt x="1695450" y="0"/>
                  </a:lnTo>
                </a:path>
              </a:pathLst>
            </a:custGeom>
            <a:noFill/>
            <a:ln w="19050">
              <a:solidFill>
                <a:schemeClr val="accent1"/>
              </a:solidFill>
            </a:ln>
          </p:spPr>
        </p:sp>
      </p:grpSp>
      <p:grpSp>
        <p:nvGrpSpPr>
          <p:cNvPr id="16" name="Group 16"/>
          <p:cNvGrpSpPr/>
          <p:nvPr/>
        </p:nvGrpSpPr>
        <p:grpSpPr>
          <a:xfrm>
            <a:off x="971550" y="2004060"/>
            <a:ext cx="9397487" cy="3031807"/>
            <a:chOff x="971550" y="2004060"/>
            <a:chExt cx="9397487" cy="3031807"/>
          </a:xfrm>
        </p:grpSpPr>
        <p:sp>
          <p:nvSpPr>
            <p:cNvPr id="12" name="TextBox 12"/>
            <p:cNvSpPr txBox="1"/>
            <p:nvPr/>
          </p:nvSpPr>
          <p:spPr>
            <a:xfrm>
              <a:off x="971550" y="2004060"/>
              <a:ext cx="6779491" cy="1104900"/>
            </a:xfrm>
            <a:prstGeom prst="rect">
              <a:avLst/>
            </a:prstGeom>
            <a:noFill/>
            <a:ln>
              <a:noFill/>
            </a:ln>
          </p:spPr>
          <p:txBody>
            <a:bodyPr wrap="none" lIns="0" tIns="0" rIns="0" bIns="0" anchor="t" anchorCtr="0">
              <a:spAutoFit/>
            </a:bodyPr>
            <a:lstStyle/>
            <a:p>
              <a:pPr algn="l"/>
              <a:r>
                <a:rPr lang="en-US" sz="5700" b="1" dirty="0">
                  <a:solidFill>
                    <a:schemeClr val="accent1"/>
                  </a:solidFill>
                  <a:latin typeface="+mn-lt"/>
                  <a:ea typeface="+mn-ea"/>
                  <a:cs typeface="+mn-cs"/>
                </a:rPr>
                <a:t>Physical-Border-</a:t>
              </a:r>
            </a:p>
          </p:txBody>
        </p:sp>
        <p:sp>
          <p:nvSpPr>
            <p:cNvPr id="13" name="TextBox 13"/>
            <p:cNvSpPr txBox="1"/>
            <p:nvPr/>
          </p:nvSpPr>
          <p:spPr>
            <a:xfrm>
              <a:off x="971550" y="2842260"/>
              <a:ext cx="5446556" cy="1104900"/>
            </a:xfrm>
            <a:prstGeom prst="rect">
              <a:avLst/>
            </a:prstGeom>
            <a:noFill/>
            <a:ln>
              <a:noFill/>
            </a:ln>
          </p:spPr>
          <p:txBody>
            <a:bodyPr wrap="none" lIns="0" tIns="0" rIns="0" bIns="0" anchor="t" anchorCtr="0">
              <a:spAutoFit/>
            </a:bodyPr>
            <a:lstStyle/>
            <a:p>
              <a:pPr algn="l"/>
              <a:r>
                <a:rPr lang="en-US" sz="5700" b="1" dirty="0">
                  <a:solidFill>
                    <a:schemeClr val="accent1"/>
                  </a:solidFill>
                  <a:latin typeface="+mn-lt"/>
                  <a:ea typeface="+mn-ea"/>
                  <a:cs typeface="+mn-cs"/>
                </a:rPr>
                <a:t>Guided Screen</a:t>
              </a:r>
            </a:p>
          </p:txBody>
        </p:sp>
        <p:sp>
          <p:nvSpPr>
            <p:cNvPr id="14" name="TextBox 14"/>
            <p:cNvSpPr txBox="1"/>
            <p:nvPr/>
          </p:nvSpPr>
          <p:spPr>
            <a:xfrm>
              <a:off x="971550" y="3680460"/>
              <a:ext cx="5378878" cy="1104900"/>
            </a:xfrm>
            <a:prstGeom prst="rect">
              <a:avLst/>
            </a:prstGeom>
            <a:noFill/>
            <a:ln>
              <a:noFill/>
            </a:ln>
          </p:spPr>
          <p:txBody>
            <a:bodyPr wrap="none" lIns="0" tIns="0" rIns="0" bIns="0" anchor="t" anchorCtr="0">
              <a:spAutoFit/>
            </a:bodyPr>
            <a:lstStyle/>
            <a:p>
              <a:pPr algn="l"/>
              <a:r>
                <a:rPr lang="en-US" sz="5700" b="1" dirty="0">
                  <a:solidFill>
                    <a:schemeClr val="accent1"/>
                  </a:solidFill>
                  <a:latin typeface="+mn-lt"/>
                  <a:ea typeface="+mn-ea"/>
                  <a:cs typeface="+mn-cs"/>
                </a:rPr>
                <a:t>Normalization</a:t>
              </a:r>
            </a:p>
          </p:txBody>
        </p:sp>
        <p:sp>
          <p:nvSpPr>
            <p:cNvPr id="15" name="TextBox 15"/>
            <p:cNvSpPr txBox="1"/>
            <p:nvPr/>
          </p:nvSpPr>
          <p:spPr>
            <a:xfrm>
              <a:off x="1017270" y="4595812"/>
              <a:ext cx="935176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Stable screen-plane estimation from captured-display video</a:t>
              </a:r>
            </a:p>
          </p:txBody>
        </p:sp>
      </p:grpSp>
      <p:grpSp>
        <p:nvGrpSpPr>
          <p:cNvPr id="25" name="Group 25"/>
          <p:cNvGrpSpPr/>
          <p:nvPr/>
        </p:nvGrpSpPr>
        <p:grpSpPr>
          <a:xfrm>
            <a:off x="8553450" y="1310640"/>
            <a:ext cx="4895917" cy="3800094"/>
            <a:chOff x="8553450" y="1310640"/>
            <a:chExt cx="4895917" cy="3800094"/>
          </a:xfrm>
        </p:grpSpPr>
        <p:sp>
          <p:nvSpPr>
            <p:cNvPr id="17" name="TextBox 17"/>
            <p:cNvSpPr txBox="1"/>
            <p:nvPr/>
          </p:nvSpPr>
          <p:spPr>
            <a:xfrm>
              <a:off x="8553450" y="1310640"/>
              <a:ext cx="3396600" cy="2076450"/>
            </a:xfrm>
            <a:prstGeom prst="rect">
              <a:avLst/>
            </a:prstGeom>
            <a:noFill/>
            <a:ln>
              <a:noFill/>
            </a:ln>
          </p:spPr>
          <p:txBody>
            <a:bodyPr wrap="none" lIns="0" tIns="0" rIns="0" bIns="0" anchor="t" anchorCtr="0">
              <a:spAutoFit/>
            </a:bodyPr>
            <a:lstStyle/>
            <a:p>
              <a:pPr algn="l"/>
              <a:r>
                <a:rPr lang="en-US" sz="10800" b="1" dirty="0">
                  <a:solidFill>
                    <a:schemeClr val="accent2"/>
                  </a:solidFill>
                  <a:latin typeface="+mn-lt"/>
                  <a:ea typeface="+mn-ea"/>
                  <a:cs typeface="+mn-cs"/>
                </a:rPr>
                <a:t>3.87</a:t>
              </a:r>
            </a:p>
          </p:txBody>
        </p:sp>
        <p:sp>
          <p:nvSpPr>
            <p:cNvPr id="18" name="TextBox 18"/>
            <p:cNvSpPr txBox="1"/>
            <p:nvPr/>
          </p:nvSpPr>
          <p:spPr>
            <a:xfrm>
              <a:off x="8636508" y="2646045"/>
              <a:ext cx="2875940"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px · corner RMSE</a:t>
              </a:r>
            </a:p>
          </p:txBody>
        </p:sp>
        <p:sp>
          <p:nvSpPr>
            <p:cNvPr id="19" name="Line 19"/>
            <p:cNvSpPr/>
            <p:nvPr/>
          </p:nvSpPr>
          <p:spPr>
            <a:xfrm>
              <a:off x="8610600" y="3219450"/>
              <a:ext cx="2895600" cy="9525"/>
            </a:xfrm>
            <a:custGeom>
              <a:avLst/>
              <a:gdLst/>
              <a:ahLst/>
              <a:cxnLst/>
              <a:rect l="l" t="t" r="r" b="b"/>
              <a:pathLst>
                <a:path w="2895600" h="9525">
                  <a:moveTo>
                    <a:pt x="0" y="0"/>
                  </a:moveTo>
                  <a:lnTo>
                    <a:pt x="2895600" y="0"/>
                  </a:lnTo>
                </a:path>
              </a:pathLst>
            </a:custGeom>
            <a:noFill/>
            <a:ln w="19050">
              <a:solidFill>
                <a:schemeClr val="accent1"/>
              </a:solidFill>
            </a:ln>
          </p:spPr>
        </p:sp>
        <p:sp>
          <p:nvSpPr>
            <p:cNvPr id="20" name="TextBox 20"/>
            <p:cNvSpPr txBox="1"/>
            <p:nvPr/>
          </p:nvSpPr>
          <p:spPr>
            <a:xfrm>
              <a:off x="8639556" y="3520440"/>
              <a:ext cx="139598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Frame-wise</a:t>
              </a:r>
            </a:p>
          </p:txBody>
        </p:sp>
        <p:sp>
          <p:nvSpPr>
            <p:cNvPr id="21" name="TextBox 21"/>
            <p:cNvSpPr txBox="1"/>
            <p:nvPr/>
          </p:nvSpPr>
          <p:spPr>
            <a:xfrm>
              <a:off x="10561091" y="3455670"/>
              <a:ext cx="957301" cy="469392"/>
            </a:xfrm>
            <a:prstGeom prst="rect">
              <a:avLst/>
            </a:prstGeom>
            <a:noFill/>
            <a:ln>
              <a:noFill/>
            </a:ln>
          </p:spPr>
          <p:txBody>
            <a:bodyPr wrap="none" lIns="0" tIns="0" rIns="0" bIns="0" anchor="t" anchorCtr="0">
              <a:spAutoFit/>
            </a:bodyPr>
            <a:lstStyle/>
            <a:p>
              <a:pPr algn="r"/>
              <a:r>
                <a:rPr lang="en-US" sz="2400" b="1" dirty="0">
                  <a:solidFill>
                    <a:srgbClr val="9AA4B2"/>
                  </a:solidFill>
                  <a:latin typeface="+mn-lt"/>
                  <a:ea typeface="+mn-ea"/>
                  <a:cs typeface="+mn-cs"/>
                </a:rPr>
                <a:t>30.37</a:t>
              </a:r>
            </a:p>
          </p:txBody>
        </p:sp>
        <p:sp>
          <p:nvSpPr>
            <p:cNvPr id="22" name="TextBox 22"/>
            <p:cNvSpPr txBox="1"/>
            <p:nvPr/>
          </p:nvSpPr>
          <p:spPr>
            <a:xfrm>
              <a:off x="8639556" y="4034790"/>
              <a:ext cx="147966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Optical flow</a:t>
              </a:r>
            </a:p>
          </p:txBody>
        </p:sp>
        <p:sp>
          <p:nvSpPr>
            <p:cNvPr id="23" name="TextBox 23"/>
            <p:cNvSpPr txBox="1"/>
            <p:nvPr/>
          </p:nvSpPr>
          <p:spPr>
            <a:xfrm>
              <a:off x="10561091" y="3970020"/>
              <a:ext cx="957301" cy="469392"/>
            </a:xfrm>
            <a:prstGeom prst="rect">
              <a:avLst/>
            </a:prstGeom>
            <a:noFill/>
            <a:ln>
              <a:noFill/>
            </a:ln>
          </p:spPr>
          <p:txBody>
            <a:bodyPr wrap="none" lIns="0" tIns="0" rIns="0" bIns="0" anchor="t" anchorCtr="0">
              <a:spAutoFit/>
            </a:bodyPr>
            <a:lstStyle/>
            <a:p>
              <a:pPr algn="r"/>
              <a:r>
                <a:rPr lang="en-US" sz="2400" b="1" dirty="0">
                  <a:solidFill>
                    <a:schemeClr val="dk2"/>
                  </a:solidFill>
                  <a:latin typeface="+mn-lt"/>
                  <a:ea typeface="+mn-ea"/>
                  <a:cs typeface="+mn-cs"/>
                </a:rPr>
                <a:t>31.40</a:t>
              </a:r>
            </a:p>
          </p:txBody>
        </p:sp>
        <p:sp>
          <p:nvSpPr>
            <p:cNvPr id="24" name="TextBox 24"/>
            <p:cNvSpPr txBox="1"/>
            <p:nvPr/>
          </p:nvSpPr>
          <p:spPr>
            <a:xfrm>
              <a:off x="8639556" y="4758690"/>
              <a:ext cx="4809811"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Physical border drives the homography</a:t>
              </a:r>
            </a:p>
          </p:txBody>
        </p:sp>
      </p:grpSp>
      <p:grpSp>
        <p:nvGrpSpPr>
          <p:cNvPr id="28" name="Group 28"/>
          <p:cNvGrpSpPr/>
          <p:nvPr/>
        </p:nvGrpSpPr>
        <p:grpSpPr>
          <a:xfrm>
            <a:off x="678942" y="6369368"/>
            <a:ext cx="10834116" cy="264033"/>
            <a:chOff x="678942" y="6369368"/>
            <a:chExt cx="10834116" cy="264033"/>
          </a:xfrm>
        </p:grpSpPr>
        <p:sp>
          <p:nvSpPr>
            <p:cNvPr id="26" name="TextBox 26"/>
            <p:cNvSpPr txBox="1"/>
            <p:nvPr/>
          </p:nvSpPr>
          <p:spPr>
            <a:xfrm>
              <a:off x="678942" y="6369368"/>
              <a:ext cx="168432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SCREEN NORMALIZE</a:t>
              </a:r>
            </a:p>
          </p:txBody>
        </p:sp>
        <p:sp>
          <p:nvSpPr>
            <p:cNvPr id="27" name="TextBox 27"/>
            <p:cNvSpPr txBox="1"/>
            <p:nvPr/>
          </p:nvSpPr>
          <p:spPr>
            <a:xfrm>
              <a:off x="11099521" y="6369368"/>
              <a:ext cx="41353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4350" y="248602"/>
            <a:ext cx="11144250" cy="1362075"/>
            <a:chOff x="514350" y="248602"/>
            <a:chExt cx="11144250" cy="1362075"/>
          </a:xfrm>
        </p:grpSpPr>
        <p:sp>
          <p:nvSpPr>
            <p:cNvPr id="2" name="TextBox 2"/>
            <p:cNvSpPr txBox="1"/>
            <p:nvPr/>
          </p:nvSpPr>
          <p:spPr>
            <a:xfrm>
              <a:off x="514350" y="248602"/>
              <a:ext cx="7985531"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Rectifying one frame is easy</a:t>
              </a:r>
            </a:p>
          </p:txBody>
        </p:sp>
        <p:sp>
          <p:nvSpPr>
            <p:cNvPr id="3" name="TextBox 3"/>
            <p:cNvSpPr txBox="1"/>
            <p:nvPr/>
          </p:nvSpPr>
          <p:spPr>
            <a:xfrm>
              <a:off x="514350" y="820102"/>
              <a:ext cx="8786593"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Resisting content motion is not</a:t>
              </a:r>
            </a:p>
          </p:txBody>
        </p:sp>
        <p:sp>
          <p:nvSpPr>
            <p:cNvPr id="4" name="Line 4"/>
            <p:cNvSpPr/>
            <p:nvPr/>
          </p:nvSpPr>
          <p:spPr>
            <a:xfrm>
              <a:off x="533400" y="1466850"/>
              <a:ext cx="11125200" cy="9525"/>
            </a:xfrm>
            <a:custGeom>
              <a:avLst/>
              <a:gdLst/>
              <a:ahLst/>
              <a:cxnLst/>
              <a:rect l="l" t="t" r="r" b="b"/>
              <a:pathLst>
                <a:path w="11125200" h="9525">
                  <a:moveTo>
                    <a:pt x="0" y="0"/>
                  </a:moveTo>
                  <a:lnTo>
                    <a:pt x="11125200" y="0"/>
                  </a:lnTo>
                </a:path>
              </a:pathLst>
            </a:custGeom>
            <a:noFill/>
            <a:ln w="19050">
              <a:solidFill>
                <a:schemeClr val="accent1"/>
              </a:solidFill>
            </a:ln>
          </p:spPr>
        </p:sp>
      </p:grpSp>
      <p:grpSp>
        <p:nvGrpSpPr>
          <p:cNvPr id="25" name="Group 25"/>
          <p:cNvGrpSpPr/>
          <p:nvPr/>
        </p:nvGrpSpPr>
        <p:grpSpPr>
          <a:xfrm>
            <a:off x="762000" y="2070735"/>
            <a:ext cx="8229895" cy="3497199"/>
            <a:chOff x="762000" y="2070735"/>
            <a:chExt cx="8229895" cy="3497199"/>
          </a:xfrm>
        </p:grpSpPr>
        <p:sp>
          <p:nvSpPr>
            <p:cNvPr id="6" name="Line 6"/>
            <p:cNvSpPr/>
            <p:nvPr/>
          </p:nvSpPr>
          <p:spPr>
            <a:xfrm>
              <a:off x="838200" y="2095500"/>
              <a:ext cx="9525" cy="3409950"/>
            </a:xfrm>
            <a:custGeom>
              <a:avLst/>
              <a:gdLst/>
              <a:ahLst/>
              <a:cxnLst/>
              <a:rect l="l" t="t" r="r" b="b"/>
              <a:pathLst>
                <a:path w="9525" h="3409950">
                  <a:moveTo>
                    <a:pt x="0" y="0"/>
                  </a:moveTo>
                  <a:lnTo>
                    <a:pt x="0" y="3409950"/>
                  </a:lnTo>
                </a:path>
              </a:pathLst>
            </a:custGeom>
            <a:noFill/>
            <a:ln w="19050">
              <a:solidFill>
                <a:schemeClr val="accent4"/>
              </a:solidFill>
            </a:ln>
          </p:spPr>
        </p:sp>
        <p:sp>
          <p:nvSpPr>
            <p:cNvPr id="7" name="Ellipse 7"/>
            <p:cNvSpPr/>
            <p:nvPr/>
          </p:nvSpPr>
          <p:spPr>
            <a:xfrm>
              <a:off x="762000" y="2247900"/>
              <a:ext cx="152400" cy="152400"/>
            </a:xfrm>
            <a:prstGeom prst="ellipse">
              <a:avLst/>
            </a:prstGeom>
            <a:solidFill>
              <a:schemeClr val="accent2"/>
            </a:solidFill>
            <a:ln>
              <a:noFill/>
            </a:ln>
          </p:spPr>
        </p:sp>
        <p:sp>
          <p:nvSpPr>
            <p:cNvPr id="8" name="Ellipse 8"/>
            <p:cNvSpPr/>
            <p:nvPr/>
          </p:nvSpPr>
          <p:spPr>
            <a:xfrm>
              <a:off x="762000" y="3562350"/>
              <a:ext cx="152400" cy="152400"/>
            </a:xfrm>
            <a:prstGeom prst="ellipse">
              <a:avLst/>
            </a:prstGeom>
            <a:solidFill>
              <a:schemeClr val="dk2"/>
            </a:solidFill>
            <a:ln>
              <a:noFill/>
            </a:ln>
          </p:spPr>
        </p:sp>
        <p:sp>
          <p:nvSpPr>
            <p:cNvPr id="9" name="Ellipse 9"/>
            <p:cNvSpPr/>
            <p:nvPr/>
          </p:nvSpPr>
          <p:spPr>
            <a:xfrm>
              <a:off x="762000" y="4876800"/>
              <a:ext cx="152400" cy="152400"/>
            </a:xfrm>
            <a:prstGeom prst="ellipse">
              <a:avLst/>
            </a:prstGeom>
            <a:solidFill>
              <a:schemeClr val="accent3"/>
            </a:solidFill>
            <a:ln>
              <a:noFill/>
            </a:ln>
          </p:spPr>
        </p:sp>
        <p:grpSp>
          <p:nvGrpSpPr>
            <p:cNvPr id="12" name="Group 12"/>
            <p:cNvGrpSpPr/>
            <p:nvPr/>
          </p:nvGrpSpPr>
          <p:grpSpPr>
            <a:xfrm>
              <a:off x="1176337" y="2181225"/>
              <a:ext cx="314325" cy="209550"/>
              <a:chOff x="1176337" y="2181225"/>
              <a:chExt cx="314325" cy="209550"/>
            </a:xfrm>
          </p:grpSpPr>
          <p:sp>
            <p:nvSpPr>
              <p:cNvPr id="10" name="Freeform 10"/>
              <p:cNvSpPr/>
              <p:nvPr/>
            </p:nvSpPr>
            <p:spPr>
              <a:xfrm>
                <a:off x="1385887" y="2208626"/>
                <a:ext cx="104775" cy="154747"/>
              </a:xfrm>
              <a:custGeom>
                <a:avLst/>
                <a:gdLst/>
                <a:ahLst/>
                <a:cxnLst/>
                <a:rect l="l" t="t" r="r" b="b"/>
                <a:pathLst>
                  <a:path w="104775" h="154747">
                    <a:moveTo>
                      <a:pt x="0" y="42449"/>
                    </a:moveTo>
                    <a:lnTo>
                      <a:pt x="79507" y="2704"/>
                    </a:lnTo>
                    <a:cubicBezTo>
                      <a:pt x="84918" y="0"/>
                      <a:pt x="91344" y="289"/>
                      <a:pt x="96491" y="3469"/>
                    </a:cubicBezTo>
                    <a:cubicBezTo>
                      <a:pt x="101637" y="6649"/>
                      <a:pt x="104772" y="12266"/>
                      <a:pt x="104775" y="18316"/>
                    </a:cubicBezTo>
                    <a:lnTo>
                      <a:pt x="104775" y="136432"/>
                    </a:lnTo>
                    <a:cubicBezTo>
                      <a:pt x="104772" y="142481"/>
                      <a:pt x="101637" y="148099"/>
                      <a:pt x="96491" y="151278"/>
                    </a:cubicBezTo>
                    <a:cubicBezTo>
                      <a:pt x="91344" y="154458"/>
                      <a:pt x="84918" y="154747"/>
                      <a:pt x="79507" y="152043"/>
                    </a:cubicBezTo>
                    <a:lnTo>
                      <a:pt x="0" y="112299"/>
                    </a:lnTo>
                    <a:lnTo>
                      <a:pt x="0" y="42449"/>
                    </a:lnTo>
                  </a:path>
                </a:pathLst>
              </a:custGeom>
              <a:noFill/>
              <a:ln w="34925">
                <a:solidFill>
                  <a:schemeClr val="accent2"/>
                </a:solidFill>
              </a:ln>
            </p:spPr>
          </p:sp>
          <p:sp>
            <p:nvSpPr>
              <p:cNvPr id="11" name="Freeform 11"/>
              <p:cNvSpPr/>
              <p:nvPr/>
            </p:nvSpPr>
            <p:spPr>
              <a:xfrm>
                <a:off x="1176337" y="2181225"/>
                <a:ext cx="209550" cy="209550"/>
              </a:xfrm>
              <a:custGeom>
                <a:avLst/>
                <a:gdLst/>
                <a:ahLst/>
                <a:cxnLst/>
                <a:rect l="l" t="t" r="r" b="b"/>
                <a:pathLst>
                  <a:path w="209550" h="209550">
                    <a:moveTo>
                      <a:pt x="0" y="34925"/>
                    </a:moveTo>
                    <a:cubicBezTo>
                      <a:pt x="0" y="15636"/>
                      <a:pt x="15636" y="0"/>
                      <a:pt x="34925" y="0"/>
                    </a:cubicBezTo>
                    <a:lnTo>
                      <a:pt x="174625" y="0"/>
                    </a:lnTo>
                    <a:cubicBezTo>
                      <a:pt x="193913" y="0"/>
                      <a:pt x="209550" y="15636"/>
                      <a:pt x="209550" y="34925"/>
                    </a:cubicBezTo>
                    <a:lnTo>
                      <a:pt x="209550" y="174625"/>
                    </a:lnTo>
                    <a:cubicBezTo>
                      <a:pt x="209550" y="193913"/>
                      <a:pt x="193913" y="209550"/>
                      <a:pt x="174625" y="209550"/>
                    </a:cubicBezTo>
                    <a:lnTo>
                      <a:pt x="34925" y="209550"/>
                    </a:lnTo>
                    <a:cubicBezTo>
                      <a:pt x="15636" y="209550"/>
                      <a:pt x="0" y="193913"/>
                      <a:pt x="0" y="174625"/>
                    </a:cubicBezTo>
                    <a:lnTo>
                      <a:pt x="0" y="34925"/>
                    </a:lnTo>
                  </a:path>
                </a:pathLst>
              </a:custGeom>
              <a:noFill/>
              <a:ln w="34925">
                <a:solidFill>
                  <a:schemeClr val="accent2"/>
                </a:solidFill>
              </a:ln>
            </p:spPr>
          </p:sp>
        </p:grpSp>
        <p:sp>
          <p:nvSpPr>
            <p:cNvPr id="13" name="TextBox 13"/>
            <p:cNvSpPr txBox="1"/>
            <p:nvPr/>
          </p:nvSpPr>
          <p:spPr>
            <a:xfrm>
              <a:off x="1719834" y="2070735"/>
              <a:ext cx="6318698"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Two motions share the same input</a:t>
              </a:r>
            </a:p>
          </p:txBody>
        </p:sp>
        <p:sp>
          <p:nvSpPr>
            <p:cNvPr id="14" name="TextBox 14"/>
            <p:cNvSpPr txBox="1"/>
            <p:nvPr/>
          </p:nvSpPr>
          <p:spPr>
            <a:xfrm>
              <a:off x="1724406" y="2586990"/>
              <a:ext cx="7223061"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Handheld camera motion + scrolling or video inside the screen</a:t>
              </a:r>
            </a:p>
          </p:txBody>
        </p:sp>
        <p:sp>
          <p:nvSpPr>
            <p:cNvPr id="15" name="Freeform 15"/>
            <p:cNvSpPr/>
            <p:nvPr/>
          </p:nvSpPr>
          <p:spPr>
            <a:xfrm>
              <a:off x="1176337" y="3460750"/>
              <a:ext cx="314324" cy="279399"/>
            </a:xfrm>
            <a:custGeom>
              <a:avLst/>
              <a:gdLst/>
              <a:ahLst/>
              <a:cxnLst/>
              <a:rect l="l" t="t" r="r" b="b"/>
              <a:pathLst>
                <a:path w="314324" h="279399">
                  <a:moveTo>
                    <a:pt x="0" y="139700"/>
                  </a:moveTo>
                  <a:lnTo>
                    <a:pt x="69850" y="139700"/>
                  </a:lnTo>
                  <a:lnTo>
                    <a:pt x="122237" y="279399"/>
                  </a:lnTo>
                  <a:lnTo>
                    <a:pt x="192087" y="0"/>
                  </a:lnTo>
                  <a:lnTo>
                    <a:pt x="244475" y="139700"/>
                  </a:lnTo>
                  <a:lnTo>
                    <a:pt x="314324" y="139700"/>
                  </a:lnTo>
                </a:path>
              </a:pathLst>
            </a:custGeom>
            <a:noFill/>
            <a:ln w="34925">
              <a:solidFill>
                <a:schemeClr val="dk2"/>
              </a:solidFill>
            </a:ln>
          </p:spPr>
        </p:sp>
        <p:sp>
          <p:nvSpPr>
            <p:cNvPr id="16" name="TextBox 16"/>
            <p:cNvSpPr txBox="1"/>
            <p:nvPr/>
          </p:nvSpPr>
          <p:spPr>
            <a:xfrm>
              <a:off x="1719834" y="3385185"/>
              <a:ext cx="5860737"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Common evidence mixes the two</a:t>
              </a:r>
            </a:p>
          </p:txBody>
        </p:sp>
        <p:sp>
          <p:nvSpPr>
            <p:cNvPr id="17" name="TextBox 17"/>
            <p:cNvSpPr txBox="1"/>
            <p:nvPr/>
          </p:nvSpPr>
          <p:spPr>
            <a:xfrm>
              <a:off x="1724406" y="3901440"/>
              <a:ext cx="681097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Per-frame detections jitter; internal optical flow drifts</a:t>
              </a:r>
            </a:p>
          </p:txBody>
        </p:sp>
        <p:grpSp>
          <p:nvGrpSpPr>
            <p:cNvPr id="22" name="Group 22"/>
            <p:cNvGrpSpPr/>
            <p:nvPr/>
          </p:nvGrpSpPr>
          <p:grpSpPr>
            <a:xfrm>
              <a:off x="1176337" y="4775200"/>
              <a:ext cx="314324" cy="288924"/>
              <a:chOff x="1176337" y="4775200"/>
              <a:chExt cx="314324" cy="288924"/>
            </a:xfrm>
          </p:grpSpPr>
          <p:sp>
            <p:nvSpPr>
              <p:cNvPr id="18" name="Freeform 18"/>
              <p:cNvSpPr/>
              <p:nvPr/>
            </p:nvSpPr>
            <p:spPr>
              <a:xfrm>
                <a:off x="1176337" y="4775200"/>
                <a:ext cx="314324" cy="209550"/>
              </a:xfrm>
              <a:custGeom>
                <a:avLst/>
                <a:gdLst/>
                <a:ahLst/>
                <a:cxnLst/>
                <a:rect l="l" t="t" r="r" b="b"/>
                <a:pathLst>
                  <a:path w="314324" h="209550">
                    <a:moveTo>
                      <a:pt x="0" y="17462"/>
                    </a:moveTo>
                    <a:cubicBezTo>
                      <a:pt x="0" y="7818"/>
                      <a:pt x="7818" y="0"/>
                      <a:pt x="17462" y="0"/>
                    </a:cubicBezTo>
                    <a:lnTo>
                      <a:pt x="296862" y="0"/>
                    </a:lnTo>
                    <a:cubicBezTo>
                      <a:pt x="306506" y="0"/>
                      <a:pt x="314324" y="7818"/>
                      <a:pt x="314324" y="17462"/>
                    </a:cubicBezTo>
                    <a:lnTo>
                      <a:pt x="314324" y="192087"/>
                    </a:lnTo>
                    <a:cubicBezTo>
                      <a:pt x="314324" y="201731"/>
                      <a:pt x="306506" y="209550"/>
                      <a:pt x="296862" y="209550"/>
                    </a:cubicBezTo>
                    <a:lnTo>
                      <a:pt x="17462" y="209550"/>
                    </a:lnTo>
                    <a:cubicBezTo>
                      <a:pt x="7818" y="209550"/>
                      <a:pt x="0" y="201731"/>
                      <a:pt x="0" y="192087"/>
                    </a:cubicBezTo>
                    <a:lnTo>
                      <a:pt x="0" y="17462"/>
                    </a:lnTo>
                  </a:path>
                </a:pathLst>
              </a:custGeom>
              <a:noFill/>
              <a:ln w="34925">
                <a:solidFill>
                  <a:schemeClr val="accent3"/>
                </a:solidFill>
              </a:ln>
            </p:spPr>
          </p:sp>
          <p:sp>
            <p:nvSpPr>
              <p:cNvPr id="19" name="Freeform 19"/>
              <p:cNvSpPr/>
              <p:nvPr/>
            </p:nvSpPr>
            <p:spPr>
              <a:xfrm>
                <a:off x="1246187" y="5054599"/>
                <a:ext cx="174625" cy="9525"/>
              </a:xfrm>
              <a:custGeom>
                <a:avLst/>
                <a:gdLst/>
                <a:ahLst/>
                <a:cxnLst/>
                <a:rect l="l" t="t" r="r" b="b"/>
                <a:pathLst>
                  <a:path w="174625" h="9525">
                    <a:moveTo>
                      <a:pt x="0" y="0"/>
                    </a:moveTo>
                    <a:lnTo>
                      <a:pt x="174625" y="0"/>
                    </a:lnTo>
                  </a:path>
                </a:pathLst>
              </a:custGeom>
              <a:noFill/>
              <a:ln w="34925">
                <a:solidFill>
                  <a:schemeClr val="accent3"/>
                </a:solidFill>
              </a:ln>
            </p:spPr>
          </p:sp>
          <p:sp>
            <p:nvSpPr>
              <p:cNvPr id="20" name="Freeform 20"/>
              <p:cNvSpPr/>
              <p:nvPr/>
            </p:nvSpPr>
            <p:spPr>
              <a:xfrm>
                <a:off x="1281112" y="4984749"/>
                <a:ext cx="9525" cy="69850"/>
              </a:xfrm>
              <a:custGeom>
                <a:avLst/>
                <a:gdLst/>
                <a:ahLst/>
                <a:cxnLst/>
                <a:rect l="l" t="t" r="r" b="b"/>
                <a:pathLst>
                  <a:path w="9525" h="69850">
                    <a:moveTo>
                      <a:pt x="0" y="0"/>
                    </a:moveTo>
                    <a:lnTo>
                      <a:pt x="0" y="69850"/>
                    </a:lnTo>
                  </a:path>
                </a:pathLst>
              </a:custGeom>
              <a:noFill/>
              <a:ln w="34925">
                <a:solidFill>
                  <a:schemeClr val="accent3"/>
                </a:solidFill>
              </a:ln>
            </p:spPr>
          </p:sp>
          <p:sp>
            <p:nvSpPr>
              <p:cNvPr id="21" name="Freeform 21"/>
              <p:cNvSpPr/>
              <p:nvPr/>
            </p:nvSpPr>
            <p:spPr>
              <a:xfrm>
                <a:off x="1385887" y="4984749"/>
                <a:ext cx="9525" cy="69850"/>
              </a:xfrm>
              <a:custGeom>
                <a:avLst/>
                <a:gdLst/>
                <a:ahLst/>
                <a:cxnLst/>
                <a:rect l="l" t="t" r="r" b="b"/>
                <a:pathLst>
                  <a:path w="9525" h="69850">
                    <a:moveTo>
                      <a:pt x="0" y="0"/>
                    </a:moveTo>
                    <a:lnTo>
                      <a:pt x="0" y="69850"/>
                    </a:lnTo>
                  </a:path>
                </a:pathLst>
              </a:custGeom>
              <a:noFill/>
              <a:ln w="34925">
                <a:solidFill>
                  <a:schemeClr val="accent3"/>
                </a:solidFill>
              </a:ln>
            </p:spPr>
          </p:sp>
        </p:grpSp>
        <p:sp>
          <p:nvSpPr>
            <p:cNvPr id="23" name="TextBox 23"/>
            <p:cNvSpPr txBox="1"/>
            <p:nvPr/>
          </p:nvSpPr>
          <p:spPr>
            <a:xfrm>
              <a:off x="1719834" y="4699635"/>
              <a:ext cx="7272061"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The target is the physical screen plane</a:t>
              </a:r>
            </a:p>
          </p:txBody>
        </p:sp>
        <p:sp>
          <p:nvSpPr>
            <p:cNvPr id="24" name="TextBox 24"/>
            <p:cNvSpPr txBox="1"/>
            <p:nvPr/>
          </p:nvSpPr>
          <p:spPr>
            <a:xfrm>
              <a:off x="1724406" y="5215890"/>
              <a:ext cx="722290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Track one quadrilateral and normalize to a fixed frontal view</a:t>
              </a:r>
            </a:p>
          </p:txBody>
        </p:sp>
      </p:grpSp>
      <p:grpSp>
        <p:nvGrpSpPr>
          <p:cNvPr id="35" name="Group 35"/>
          <p:cNvGrpSpPr/>
          <p:nvPr/>
        </p:nvGrpSpPr>
        <p:grpSpPr>
          <a:xfrm>
            <a:off x="7458075" y="1914525"/>
            <a:ext cx="5475789" cy="3371850"/>
            <a:chOff x="7458075" y="1914525"/>
            <a:chExt cx="5475789" cy="3371850"/>
          </a:xfrm>
        </p:grpSpPr>
        <p:sp>
          <p:nvSpPr>
            <p:cNvPr id="26" name="Polygon 26"/>
            <p:cNvSpPr/>
            <p:nvPr/>
          </p:nvSpPr>
          <p:spPr>
            <a:xfrm>
              <a:off x="7524750" y="1981200"/>
              <a:ext cx="3924300" cy="3238500"/>
            </a:xfrm>
            <a:custGeom>
              <a:avLst/>
              <a:gdLst/>
              <a:ahLst/>
              <a:cxnLst/>
              <a:rect l="l" t="t" r="r" b="b"/>
              <a:pathLst>
                <a:path w="3924300" h="3238500">
                  <a:moveTo>
                    <a:pt x="0" y="228600"/>
                  </a:moveTo>
                  <a:lnTo>
                    <a:pt x="3676650" y="0"/>
                  </a:lnTo>
                  <a:lnTo>
                    <a:pt x="3924300" y="2990850"/>
                  </a:lnTo>
                  <a:lnTo>
                    <a:pt x="228600" y="3238500"/>
                  </a:lnTo>
                  <a:close/>
                </a:path>
              </a:pathLst>
            </a:custGeom>
            <a:solidFill>
              <a:schemeClr val="lt2"/>
            </a:solidFill>
            <a:ln w="38100">
              <a:solidFill>
                <a:schemeClr val="accent2"/>
              </a:solidFill>
            </a:ln>
          </p:spPr>
        </p:sp>
        <p:sp>
          <p:nvSpPr>
            <p:cNvPr id="27" name="Ellipse 27"/>
            <p:cNvSpPr/>
            <p:nvPr/>
          </p:nvSpPr>
          <p:spPr>
            <a:xfrm>
              <a:off x="7458075" y="2143125"/>
              <a:ext cx="133350" cy="133350"/>
            </a:xfrm>
            <a:prstGeom prst="ellipse">
              <a:avLst/>
            </a:prstGeom>
            <a:solidFill>
              <a:schemeClr val="accent2"/>
            </a:solidFill>
            <a:ln>
              <a:noFill/>
            </a:ln>
          </p:spPr>
        </p:sp>
        <p:sp>
          <p:nvSpPr>
            <p:cNvPr id="28" name="Ellipse 28"/>
            <p:cNvSpPr/>
            <p:nvPr/>
          </p:nvSpPr>
          <p:spPr>
            <a:xfrm>
              <a:off x="11134725" y="1914525"/>
              <a:ext cx="133350" cy="133350"/>
            </a:xfrm>
            <a:prstGeom prst="ellipse">
              <a:avLst/>
            </a:prstGeom>
            <a:solidFill>
              <a:schemeClr val="accent2"/>
            </a:solidFill>
            <a:ln>
              <a:noFill/>
            </a:ln>
          </p:spPr>
        </p:sp>
        <p:sp>
          <p:nvSpPr>
            <p:cNvPr id="29" name="Ellipse 29"/>
            <p:cNvSpPr/>
            <p:nvPr/>
          </p:nvSpPr>
          <p:spPr>
            <a:xfrm>
              <a:off x="11382375" y="4905375"/>
              <a:ext cx="133350" cy="133350"/>
            </a:xfrm>
            <a:prstGeom prst="ellipse">
              <a:avLst/>
            </a:prstGeom>
            <a:solidFill>
              <a:schemeClr val="accent2"/>
            </a:solidFill>
            <a:ln>
              <a:noFill/>
            </a:ln>
          </p:spPr>
        </p:sp>
        <p:sp>
          <p:nvSpPr>
            <p:cNvPr id="30" name="Ellipse 30"/>
            <p:cNvSpPr/>
            <p:nvPr/>
          </p:nvSpPr>
          <p:spPr>
            <a:xfrm>
              <a:off x="7686675" y="5153025"/>
              <a:ext cx="133350" cy="133350"/>
            </a:xfrm>
            <a:prstGeom prst="ellipse">
              <a:avLst/>
            </a:prstGeom>
            <a:solidFill>
              <a:schemeClr val="accent2"/>
            </a:solidFill>
            <a:ln>
              <a:noFill/>
            </a:ln>
          </p:spPr>
        </p:sp>
        <p:sp>
          <p:nvSpPr>
            <p:cNvPr id="31" name="TextBox 31"/>
            <p:cNvSpPr txBox="1"/>
            <p:nvPr/>
          </p:nvSpPr>
          <p:spPr>
            <a:xfrm>
              <a:off x="8010906" y="2910840"/>
              <a:ext cx="1268364"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CORE IDEA</a:t>
              </a:r>
            </a:p>
          </p:txBody>
        </p:sp>
        <p:sp>
          <p:nvSpPr>
            <p:cNvPr id="32" name="TextBox 32"/>
            <p:cNvSpPr txBox="1"/>
            <p:nvPr/>
          </p:nvSpPr>
          <p:spPr>
            <a:xfrm>
              <a:off x="8004048" y="3317558"/>
              <a:ext cx="4253680"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The physical border</a:t>
              </a:r>
            </a:p>
          </p:txBody>
        </p:sp>
        <p:sp>
          <p:nvSpPr>
            <p:cNvPr id="33" name="TextBox 33"/>
            <p:cNvSpPr txBox="1"/>
            <p:nvPr/>
          </p:nvSpPr>
          <p:spPr>
            <a:xfrm>
              <a:off x="8004048" y="3812858"/>
              <a:ext cx="4929816"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drives the homography</a:t>
              </a:r>
            </a:p>
          </p:txBody>
        </p:sp>
        <p:sp>
          <p:nvSpPr>
            <p:cNvPr id="34" name="TextBox 34"/>
            <p:cNvSpPr txBox="1"/>
            <p:nvPr/>
          </p:nvSpPr>
          <p:spPr>
            <a:xfrm>
              <a:off x="8010906" y="4453890"/>
              <a:ext cx="4472189"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Internal flow only diagnoses conflicts</a:t>
              </a:r>
            </a:p>
          </p:txBody>
        </p:sp>
      </p:grpSp>
      <p:grpSp>
        <p:nvGrpSpPr>
          <p:cNvPr id="38" name="Group 38"/>
          <p:cNvGrpSpPr/>
          <p:nvPr/>
        </p:nvGrpSpPr>
        <p:grpSpPr>
          <a:xfrm>
            <a:off x="526542" y="6426518"/>
            <a:ext cx="11138916" cy="264033"/>
            <a:chOff x="526542" y="6426518"/>
            <a:chExt cx="11138916" cy="264033"/>
          </a:xfrm>
        </p:grpSpPr>
        <p:sp>
          <p:nvSpPr>
            <p:cNvPr id="36" name="TextBox 36"/>
            <p:cNvSpPr txBox="1"/>
            <p:nvPr/>
          </p:nvSpPr>
          <p:spPr>
            <a:xfrm>
              <a:off x="526542" y="6426518"/>
              <a:ext cx="526557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TASK · GEOMETRIC FRONT END FOR CAPTURED-SCREEN VIDEO</a:t>
              </a:r>
            </a:p>
          </p:txBody>
        </p:sp>
        <p:sp>
          <p:nvSpPr>
            <p:cNvPr id="37" name="TextBox 37"/>
            <p:cNvSpPr txBox="1"/>
            <p:nvPr/>
          </p:nvSpPr>
          <p:spPr>
            <a:xfrm>
              <a:off x="11451831" y="64265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4350" y="191452"/>
            <a:ext cx="13720170" cy="1323975"/>
            <a:chOff x="514350" y="191452"/>
            <a:chExt cx="13720170" cy="1323975"/>
          </a:xfrm>
        </p:grpSpPr>
        <p:sp>
          <p:nvSpPr>
            <p:cNvPr id="2" name="TextBox 2"/>
            <p:cNvSpPr txBox="1"/>
            <p:nvPr/>
          </p:nvSpPr>
          <p:spPr>
            <a:xfrm>
              <a:off x="514350" y="191452"/>
              <a:ext cx="11047330"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The pipeline follows the physical border</a:t>
              </a:r>
            </a:p>
          </p:txBody>
        </p:sp>
        <p:sp>
          <p:nvSpPr>
            <p:cNvPr id="3" name="TextBox 3"/>
            <p:cNvSpPr txBox="1"/>
            <p:nvPr/>
          </p:nvSpPr>
          <p:spPr>
            <a:xfrm>
              <a:off x="514350" y="724852"/>
              <a:ext cx="13720170"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and uses diagnostics and recovery for continuity</a:t>
              </a:r>
            </a:p>
          </p:txBody>
        </p:sp>
      </p:grpSp>
      <p:grpSp>
        <p:nvGrpSpPr>
          <p:cNvPr id="28" name="Group 28"/>
          <p:cNvGrpSpPr/>
          <p:nvPr/>
        </p:nvGrpSpPr>
        <p:grpSpPr>
          <a:xfrm>
            <a:off x="533400" y="1504950"/>
            <a:ext cx="11133386" cy="1428750"/>
            <a:chOff x="533400" y="1504950"/>
            <a:chExt cx="11133386" cy="1428750"/>
          </a:xfrm>
        </p:grpSpPr>
        <p:sp>
          <p:nvSpPr>
            <p:cNvPr id="5" name="Line 5"/>
            <p:cNvSpPr/>
            <p:nvPr/>
          </p:nvSpPr>
          <p:spPr>
            <a:xfrm>
              <a:off x="3009900" y="2228850"/>
              <a:ext cx="228600" cy="1"/>
            </a:xfrm>
            <a:prstGeom prst="line">
              <a:avLst/>
            </a:prstGeom>
            <a:noFill/>
            <a:ln w="28575">
              <a:solidFill>
                <a:schemeClr val="dk2"/>
              </a:solidFill>
              <a:tailEnd type="triangle" w="lg" len="lg"/>
            </a:ln>
          </p:spPr>
        </p:sp>
        <p:sp>
          <p:nvSpPr>
            <p:cNvPr id="6" name="Line 6"/>
            <p:cNvSpPr/>
            <p:nvPr/>
          </p:nvSpPr>
          <p:spPr>
            <a:xfrm>
              <a:off x="5715000" y="2228850"/>
              <a:ext cx="228600" cy="1"/>
            </a:xfrm>
            <a:prstGeom prst="line">
              <a:avLst/>
            </a:prstGeom>
            <a:noFill/>
            <a:ln w="28575">
              <a:solidFill>
                <a:schemeClr val="dk2"/>
              </a:solidFill>
              <a:tailEnd type="triangle" w="lg" len="lg"/>
            </a:ln>
          </p:spPr>
        </p:sp>
        <p:sp>
          <p:nvSpPr>
            <p:cNvPr id="7" name="Line 7"/>
            <p:cNvSpPr/>
            <p:nvPr/>
          </p:nvSpPr>
          <p:spPr>
            <a:xfrm>
              <a:off x="8420100" y="2228850"/>
              <a:ext cx="228600" cy="1"/>
            </a:xfrm>
            <a:prstGeom prst="line">
              <a:avLst/>
            </a:prstGeom>
            <a:noFill/>
            <a:ln w="28575">
              <a:solidFill>
                <a:schemeClr val="dk2"/>
              </a:solidFill>
              <a:tailEnd type="triangle" w="lg" len="lg"/>
            </a:ln>
          </p:spPr>
        </p:sp>
        <p:sp>
          <p:nvSpPr>
            <p:cNvPr id="8" name="Rectangle 8"/>
            <p:cNvSpPr/>
            <p:nvPr/>
          </p:nvSpPr>
          <p:spPr>
            <a:xfrm>
              <a:off x="533400" y="1504950"/>
              <a:ext cx="2476500" cy="1428750"/>
            </a:xfrm>
            <a:prstGeom prst="rect">
              <a:avLst/>
            </a:prstGeom>
            <a:solidFill>
              <a:schemeClr val="lt1"/>
            </a:solidFill>
            <a:ln w="19050">
              <a:solidFill>
                <a:schemeClr val="accent4"/>
              </a:solidFill>
            </a:ln>
          </p:spPr>
        </p:sp>
        <p:sp>
          <p:nvSpPr>
            <p:cNvPr id="9" name="Rectangle 9"/>
            <p:cNvSpPr/>
            <p:nvPr/>
          </p:nvSpPr>
          <p:spPr>
            <a:xfrm>
              <a:off x="533400" y="1504950"/>
              <a:ext cx="2476500" cy="76200"/>
            </a:xfrm>
            <a:prstGeom prst="rect">
              <a:avLst/>
            </a:prstGeom>
            <a:solidFill>
              <a:schemeClr val="accent1"/>
            </a:solidFill>
            <a:ln>
              <a:noFill/>
            </a:ln>
          </p:spPr>
        </p:sp>
        <p:sp>
          <p:nvSpPr>
            <p:cNvPr id="10" name="TextBox 10"/>
            <p:cNvSpPr txBox="1"/>
            <p:nvPr/>
          </p:nvSpPr>
          <p:spPr>
            <a:xfrm>
              <a:off x="714756" y="1710690"/>
              <a:ext cx="1832915" cy="352044"/>
            </a:xfrm>
            <a:prstGeom prst="rect">
              <a:avLst/>
            </a:prstGeom>
            <a:noFill/>
            <a:ln>
              <a:noFill/>
            </a:ln>
          </p:spPr>
          <p:txBody>
            <a:bodyPr wrap="none" lIns="0" tIns="0" rIns="0" bIns="0" anchor="t" anchorCtr="0">
              <a:spAutoFit/>
            </a:bodyPr>
            <a:lstStyle/>
            <a:p>
              <a:pPr algn="l"/>
              <a:r>
                <a:rPr lang="en-US" sz="1800" b="1" dirty="0">
                  <a:solidFill>
                    <a:schemeClr val="dk2"/>
                  </a:solidFill>
                  <a:latin typeface="+mn-lt"/>
                  <a:ea typeface="+mn-ea"/>
                  <a:cs typeface="+mn-cs"/>
                </a:rPr>
                <a:t>01 · INITIALIZE</a:t>
              </a:r>
            </a:p>
          </p:txBody>
        </p:sp>
        <p:sp>
          <p:nvSpPr>
            <p:cNvPr id="11" name="TextBox 11"/>
            <p:cNvSpPr txBox="1"/>
            <p:nvPr/>
          </p:nvSpPr>
          <p:spPr>
            <a:xfrm>
              <a:off x="711708" y="2065020"/>
              <a:ext cx="3479159"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First-frame corners</a:t>
              </a:r>
            </a:p>
          </p:txBody>
        </p:sp>
        <p:sp>
          <p:nvSpPr>
            <p:cNvPr id="12" name="TextBox 12"/>
            <p:cNvSpPr txBox="1"/>
            <p:nvPr/>
          </p:nvSpPr>
          <p:spPr>
            <a:xfrm>
              <a:off x="714756" y="2491740"/>
              <a:ext cx="233895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Initial quadrilateral</a:t>
              </a:r>
            </a:p>
          </p:txBody>
        </p:sp>
        <p:sp>
          <p:nvSpPr>
            <p:cNvPr id="13" name="Rectangle 13"/>
            <p:cNvSpPr/>
            <p:nvPr/>
          </p:nvSpPr>
          <p:spPr>
            <a:xfrm>
              <a:off x="3238500" y="1504950"/>
              <a:ext cx="2476500" cy="1428750"/>
            </a:xfrm>
            <a:prstGeom prst="rect">
              <a:avLst/>
            </a:prstGeom>
            <a:solidFill>
              <a:schemeClr val="lt2"/>
            </a:solidFill>
            <a:ln w="19050">
              <a:solidFill>
                <a:schemeClr val="accent2"/>
              </a:solidFill>
            </a:ln>
          </p:spPr>
        </p:sp>
        <p:sp>
          <p:nvSpPr>
            <p:cNvPr id="14" name="Rectangle 14"/>
            <p:cNvSpPr/>
            <p:nvPr/>
          </p:nvSpPr>
          <p:spPr>
            <a:xfrm>
              <a:off x="3238500" y="1504950"/>
              <a:ext cx="2476500" cy="76200"/>
            </a:xfrm>
            <a:prstGeom prst="rect">
              <a:avLst/>
            </a:prstGeom>
            <a:solidFill>
              <a:schemeClr val="accent2"/>
            </a:solidFill>
            <a:ln>
              <a:noFill/>
            </a:ln>
          </p:spPr>
        </p:sp>
        <p:sp>
          <p:nvSpPr>
            <p:cNvPr id="15" name="TextBox 15"/>
            <p:cNvSpPr txBox="1"/>
            <p:nvPr/>
          </p:nvSpPr>
          <p:spPr>
            <a:xfrm>
              <a:off x="3419856" y="1710690"/>
              <a:ext cx="3311500"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02 · BORDER OBSERVATION</a:t>
              </a:r>
            </a:p>
          </p:txBody>
        </p:sp>
        <p:sp>
          <p:nvSpPr>
            <p:cNvPr id="16" name="TextBox 16"/>
            <p:cNvSpPr txBox="1"/>
            <p:nvPr/>
          </p:nvSpPr>
          <p:spPr>
            <a:xfrm>
              <a:off x="3416808" y="2065020"/>
              <a:ext cx="2901800"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Profiles + line fit</a:t>
              </a:r>
            </a:p>
          </p:txBody>
        </p:sp>
        <p:sp>
          <p:nvSpPr>
            <p:cNvPr id="17" name="TextBox 17"/>
            <p:cNvSpPr txBox="1"/>
            <p:nvPr/>
          </p:nvSpPr>
          <p:spPr>
            <a:xfrm>
              <a:off x="3419856" y="2491740"/>
              <a:ext cx="2315799"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Four physical edges</a:t>
              </a:r>
            </a:p>
          </p:txBody>
        </p:sp>
        <p:sp>
          <p:nvSpPr>
            <p:cNvPr id="18" name="Rectangle 18"/>
            <p:cNvSpPr/>
            <p:nvPr/>
          </p:nvSpPr>
          <p:spPr>
            <a:xfrm>
              <a:off x="5943600" y="1504950"/>
              <a:ext cx="2476500" cy="1428750"/>
            </a:xfrm>
            <a:prstGeom prst="rect">
              <a:avLst/>
            </a:prstGeom>
            <a:solidFill>
              <a:schemeClr val="lt1"/>
            </a:solidFill>
            <a:ln w="19050">
              <a:solidFill>
                <a:schemeClr val="accent3"/>
              </a:solidFill>
            </a:ln>
          </p:spPr>
        </p:sp>
        <p:sp>
          <p:nvSpPr>
            <p:cNvPr id="19" name="Rectangle 19"/>
            <p:cNvSpPr/>
            <p:nvPr/>
          </p:nvSpPr>
          <p:spPr>
            <a:xfrm>
              <a:off x="5943600" y="1504950"/>
              <a:ext cx="2476500" cy="76200"/>
            </a:xfrm>
            <a:prstGeom prst="rect">
              <a:avLst/>
            </a:prstGeom>
            <a:solidFill>
              <a:schemeClr val="accent3"/>
            </a:solidFill>
            <a:ln>
              <a:noFill/>
            </a:ln>
          </p:spPr>
        </p:sp>
        <p:sp>
          <p:nvSpPr>
            <p:cNvPr id="20" name="TextBox 20"/>
            <p:cNvSpPr txBox="1"/>
            <p:nvPr/>
          </p:nvSpPr>
          <p:spPr>
            <a:xfrm>
              <a:off x="6124956" y="1710690"/>
              <a:ext cx="3136758"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03 · VALIDATE + RECOVER</a:t>
              </a:r>
            </a:p>
          </p:txBody>
        </p:sp>
        <p:sp>
          <p:nvSpPr>
            <p:cNvPr id="21" name="TextBox 21"/>
            <p:cNvSpPr txBox="1"/>
            <p:nvPr/>
          </p:nvSpPr>
          <p:spPr>
            <a:xfrm>
              <a:off x="6121908" y="2065020"/>
              <a:ext cx="2793930"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Gates + LK check</a:t>
              </a:r>
            </a:p>
          </p:txBody>
        </p:sp>
        <p:sp>
          <p:nvSpPr>
            <p:cNvPr id="22" name="TextBox 22"/>
            <p:cNvSpPr txBox="1"/>
            <p:nvPr/>
          </p:nvSpPr>
          <p:spPr>
            <a:xfrm>
              <a:off x="6124956" y="2491740"/>
              <a:ext cx="2923070"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Accept / redetect / hold</a:t>
              </a:r>
            </a:p>
          </p:txBody>
        </p:sp>
        <p:sp>
          <p:nvSpPr>
            <p:cNvPr id="23" name="Rectangle 23"/>
            <p:cNvSpPr/>
            <p:nvPr/>
          </p:nvSpPr>
          <p:spPr>
            <a:xfrm>
              <a:off x="8648700" y="1504950"/>
              <a:ext cx="3009900" cy="1428750"/>
            </a:xfrm>
            <a:prstGeom prst="rect">
              <a:avLst/>
            </a:prstGeom>
            <a:solidFill>
              <a:schemeClr val="lt1"/>
            </a:solidFill>
            <a:ln w="19050">
              <a:solidFill>
                <a:schemeClr val="accent4"/>
              </a:solidFill>
            </a:ln>
          </p:spPr>
        </p:sp>
        <p:sp>
          <p:nvSpPr>
            <p:cNvPr id="24" name="Rectangle 24"/>
            <p:cNvSpPr/>
            <p:nvPr/>
          </p:nvSpPr>
          <p:spPr>
            <a:xfrm>
              <a:off x="8648700" y="1504950"/>
              <a:ext cx="3009900" cy="76200"/>
            </a:xfrm>
            <a:prstGeom prst="rect">
              <a:avLst/>
            </a:prstGeom>
            <a:solidFill>
              <a:schemeClr val="accent1"/>
            </a:solidFill>
            <a:ln>
              <a:noFill/>
            </a:ln>
          </p:spPr>
        </p:sp>
        <p:sp>
          <p:nvSpPr>
            <p:cNvPr id="25" name="TextBox 25"/>
            <p:cNvSpPr txBox="1"/>
            <p:nvPr/>
          </p:nvSpPr>
          <p:spPr>
            <a:xfrm>
              <a:off x="8830056" y="1710690"/>
              <a:ext cx="2531882" cy="352044"/>
            </a:xfrm>
            <a:prstGeom prst="rect">
              <a:avLst/>
            </a:prstGeom>
            <a:noFill/>
            <a:ln>
              <a:noFill/>
            </a:ln>
          </p:spPr>
          <p:txBody>
            <a:bodyPr wrap="none" lIns="0" tIns="0" rIns="0" bIns="0" anchor="t" anchorCtr="0">
              <a:spAutoFit/>
            </a:bodyPr>
            <a:lstStyle/>
            <a:p>
              <a:pPr algn="l"/>
              <a:r>
                <a:rPr lang="en-US" sz="1800" b="1" dirty="0">
                  <a:solidFill>
                    <a:schemeClr val="dk2"/>
                  </a:solidFill>
                  <a:latin typeface="+mn-lt"/>
                  <a:ea typeface="+mn-ea"/>
                  <a:cs typeface="+mn-cs"/>
                </a:rPr>
                <a:t>04 · STABLE OUTPUT</a:t>
              </a:r>
            </a:p>
          </p:txBody>
        </p:sp>
        <p:sp>
          <p:nvSpPr>
            <p:cNvPr id="26" name="TextBox 26"/>
            <p:cNvSpPr txBox="1"/>
            <p:nvPr/>
          </p:nvSpPr>
          <p:spPr>
            <a:xfrm>
              <a:off x="8827008" y="2065020"/>
              <a:ext cx="2835320"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Smooth + rectify</a:t>
              </a:r>
            </a:p>
          </p:txBody>
        </p:sp>
        <p:sp>
          <p:nvSpPr>
            <p:cNvPr id="27" name="TextBox 27"/>
            <p:cNvSpPr txBox="1"/>
            <p:nvPr/>
          </p:nvSpPr>
          <p:spPr>
            <a:xfrm>
              <a:off x="8830056" y="2491740"/>
              <a:ext cx="2836730"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Normalized screen video</a:t>
              </a:r>
            </a:p>
          </p:txBody>
        </p:sp>
      </p:grpSp>
      <p:grpSp>
        <p:nvGrpSpPr>
          <p:cNvPr id="31" name="Group 31"/>
          <p:cNvGrpSpPr/>
          <p:nvPr/>
        </p:nvGrpSpPr>
        <p:grpSpPr>
          <a:xfrm>
            <a:off x="1581150" y="3162300"/>
            <a:ext cx="9029700" cy="3143250"/>
            <a:chOff x="1581150" y="3162300"/>
            <a:chExt cx="9029700" cy="3143250"/>
          </a:xfrm>
        </p:grpSpPr>
        <p:sp>
          <p:nvSpPr>
            <p:cNvPr id="29" name="Rectangle 29"/>
            <p:cNvSpPr/>
            <p:nvPr/>
          </p:nvSpPr>
          <p:spPr>
            <a:xfrm>
              <a:off x="1581150" y="3162300"/>
              <a:ext cx="9029700" cy="3143250"/>
            </a:xfrm>
            <a:prstGeom prst="rect">
              <a:avLst/>
            </a:prstGeom>
            <a:solidFill>
              <a:schemeClr val="lt1"/>
            </a:solidFill>
            <a:ln w="19050">
              <a:solidFill>
                <a:schemeClr val="accent2"/>
              </a:solidFill>
            </a:ln>
          </p:spPr>
        </p:sp>
        <p:pic>
          <p:nvPicPr>
            <p:cNvPr id="30" name="Image 30"/>
            <p:cNvPicPr>
              <a:picLocks noChangeAspect="1"/>
            </p:cNvPicPr>
            <p:nvPr/>
          </p:nvPicPr>
          <p:blipFill>
            <a:blip r:embed="rId2"/>
            <a:stretch>
              <a:fillRect/>
            </a:stretch>
          </p:blipFill>
          <p:spPr>
            <a:xfrm>
              <a:off x="1581150" y="3162300"/>
              <a:ext cx="9029700" cy="3143250"/>
            </a:xfrm>
            <a:prstGeom prst="rect">
              <a:avLst/>
            </a:prstGeom>
          </p:spPr>
        </p:pic>
      </p:grpSp>
      <p:grpSp>
        <p:nvGrpSpPr>
          <p:cNvPr id="34" name="Group 34"/>
          <p:cNvGrpSpPr/>
          <p:nvPr/>
        </p:nvGrpSpPr>
        <p:grpSpPr>
          <a:xfrm>
            <a:off x="526542" y="6464618"/>
            <a:ext cx="11138916" cy="264033"/>
            <a:chOff x="526542" y="6464618"/>
            <a:chExt cx="11138916" cy="264033"/>
          </a:xfrm>
        </p:grpSpPr>
        <p:sp>
          <p:nvSpPr>
            <p:cNvPr id="32" name="TextBox 32"/>
            <p:cNvSpPr txBox="1"/>
            <p:nvPr/>
          </p:nvSpPr>
          <p:spPr>
            <a:xfrm>
              <a:off x="526542" y="6464618"/>
              <a:ext cx="344134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CURRENT METHOD · PROPOSAL_BORDER</a:t>
              </a:r>
            </a:p>
          </p:txBody>
        </p:sp>
        <p:sp>
          <p:nvSpPr>
            <p:cNvPr id="33" name="TextBox 33"/>
            <p:cNvSpPr txBox="1"/>
            <p:nvPr/>
          </p:nvSpPr>
          <p:spPr>
            <a:xfrm>
              <a:off x="11451831" y="64646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4350" y="210502"/>
            <a:ext cx="14539848" cy="1265683"/>
            <a:chOff x="514350" y="210502"/>
            <a:chExt cx="14539848" cy="1265683"/>
          </a:xfrm>
        </p:grpSpPr>
        <p:sp>
          <p:nvSpPr>
            <p:cNvPr id="2" name="TextBox 2"/>
            <p:cNvSpPr txBox="1"/>
            <p:nvPr/>
          </p:nvSpPr>
          <p:spPr>
            <a:xfrm>
              <a:off x="514350" y="210502"/>
              <a:ext cx="14539848"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Local profiles search only around predicted borders</a:t>
              </a:r>
            </a:p>
          </p:txBody>
        </p:sp>
        <p:sp>
          <p:nvSpPr>
            <p:cNvPr id="3" name="TextBox 3"/>
            <p:cNvSpPr txBox="1"/>
            <p:nvPr/>
          </p:nvSpPr>
          <p:spPr>
            <a:xfrm>
              <a:off x="517398" y="860108"/>
              <a:ext cx="12981037" cy="616077"/>
            </a:xfrm>
            <a:prstGeom prst="rect">
              <a:avLst/>
            </a:prstGeom>
            <a:noFill/>
            <a:ln>
              <a:noFill/>
            </a:ln>
          </p:spPr>
          <p:txBody>
            <a:bodyPr wrap="none" lIns="0" tIns="0" rIns="0" bIns="0" anchor="t" anchorCtr="0">
              <a:spAutoFit/>
            </a:bodyPr>
            <a:lstStyle/>
            <a:p>
              <a:pPr algn="l"/>
              <a:r>
                <a:rPr lang="en-US" sz="3150" b="1" dirty="0">
                  <a:solidFill>
                    <a:schemeClr val="dk2"/>
                  </a:solidFill>
                  <a:latin typeface="+mn-lt"/>
                  <a:ea typeface="+mn-ea"/>
                  <a:cs typeface="+mn-cs"/>
                </a:rPr>
                <a:t>This suppresses interference from internal screen texture</a:t>
              </a:r>
            </a:p>
          </p:txBody>
        </p:sp>
        <p:sp>
          <p:nvSpPr>
            <p:cNvPr id="4" name="Line 4"/>
            <p:cNvSpPr/>
            <p:nvPr/>
          </p:nvSpPr>
          <p:spPr>
            <a:xfrm>
              <a:off x="533400" y="1428750"/>
              <a:ext cx="11125200" cy="9525"/>
            </a:xfrm>
            <a:custGeom>
              <a:avLst/>
              <a:gdLst/>
              <a:ahLst/>
              <a:cxnLst/>
              <a:rect l="l" t="t" r="r" b="b"/>
              <a:pathLst>
                <a:path w="11125200" h="9525">
                  <a:moveTo>
                    <a:pt x="0" y="0"/>
                  </a:moveTo>
                  <a:lnTo>
                    <a:pt x="11125200" y="0"/>
                  </a:lnTo>
                </a:path>
              </a:pathLst>
            </a:custGeom>
            <a:noFill/>
            <a:ln w="19050">
              <a:solidFill>
                <a:schemeClr val="accent1"/>
              </a:solidFill>
            </a:ln>
          </p:spPr>
        </p:sp>
      </p:grpSp>
      <p:grpSp>
        <p:nvGrpSpPr>
          <p:cNvPr id="15" name="Group 15"/>
          <p:cNvGrpSpPr/>
          <p:nvPr/>
        </p:nvGrpSpPr>
        <p:grpSpPr>
          <a:xfrm>
            <a:off x="524256" y="1672590"/>
            <a:ext cx="5317138" cy="3070860"/>
            <a:chOff x="524256" y="1672590"/>
            <a:chExt cx="5317138" cy="3070860"/>
          </a:xfrm>
        </p:grpSpPr>
        <p:sp>
          <p:nvSpPr>
            <p:cNvPr id="6" name="TextBox 6"/>
            <p:cNvSpPr txBox="1"/>
            <p:nvPr/>
          </p:nvSpPr>
          <p:spPr>
            <a:xfrm>
              <a:off x="524256" y="1672590"/>
              <a:ext cx="4386834"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1 · PREDICT A NARROW SEARCH BAND</a:t>
              </a:r>
            </a:p>
          </p:txBody>
        </p:sp>
        <p:sp>
          <p:nvSpPr>
            <p:cNvPr id="7" name="Rectangle 7"/>
            <p:cNvSpPr/>
            <p:nvPr/>
          </p:nvSpPr>
          <p:spPr>
            <a:xfrm>
              <a:off x="533400" y="2095500"/>
              <a:ext cx="3105150" cy="2647950"/>
            </a:xfrm>
            <a:prstGeom prst="rect">
              <a:avLst/>
            </a:prstGeom>
            <a:solidFill>
              <a:schemeClr val="lt2"/>
            </a:solidFill>
            <a:ln w="19050">
              <a:solidFill>
                <a:schemeClr val="accent4"/>
              </a:solidFill>
            </a:ln>
          </p:spPr>
        </p:sp>
        <p:sp>
          <p:nvSpPr>
            <p:cNvPr id="8" name="Line 8"/>
            <p:cNvSpPr/>
            <p:nvPr/>
          </p:nvSpPr>
          <p:spPr>
            <a:xfrm>
              <a:off x="876300" y="2438400"/>
              <a:ext cx="2362200" cy="285750"/>
            </a:xfrm>
            <a:custGeom>
              <a:avLst/>
              <a:gdLst/>
              <a:ahLst/>
              <a:cxnLst/>
              <a:rect l="l" t="t" r="r" b="b"/>
              <a:pathLst>
                <a:path w="2362200" h="285750">
                  <a:moveTo>
                    <a:pt x="0" y="0"/>
                  </a:moveTo>
                  <a:lnTo>
                    <a:pt x="2362200" y="285750"/>
                  </a:lnTo>
                </a:path>
              </a:pathLst>
            </a:custGeom>
            <a:noFill/>
            <a:ln w="19050">
              <a:solidFill>
                <a:schemeClr val="accent5"/>
              </a:solidFill>
            </a:ln>
          </p:spPr>
        </p:sp>
        <p:sp>
          <p:nvSpPr>
            <p:cNvPr id="9" name="Line 9"/>
            <p:cNvSpPr/>
            <p:nvPr/>
          </p:nvSpPr>
          <p:spPr>
            <a:xfrm>
              <a:off x="876300" y="3105150"/>
              <a:ext cx="2362200" cy="266700"/>
            </a:xfrm>
            <a:custGeom>
              <a:avLst/>
              <a:gdLst/>
              <a:ahLst/>
              <a:cxnLst/>
              <a:rect l="l" t="t" r="r" b="b"/>
              <a:pathLst>
                <a:path w="2362200" h="266700">
                  <a:moveTo>
                    <a:pt x="0" y="0"/>
                  </a:moveTo>
                  <a:lnTo>
                    <a:pt x="2362200" y="266700"/>
                  </a:lnTo>
                </a:path>
              </a:pathLst>
            </a:custGeom>
            <a:noFill/>
            <a:ln w="19050">
              <a:solidFill>
                <a:schemeClr val="accent5"/>
              </a:solidFill>
            </a:ln>
          </p:spPr>
        </p:sp>
        <p:sp>
          <p:nvSpPr>
            <p:cNvPr id="10" name="Line 10"/>
            <p:cNvSpPr/>
            <p:nvPr/>
          </p:nvSpPr>
          <p:spPr>
            <a:xfrm>
              <a:off x="876300" y="3771900"/>
              <a:ext cx="2362200" cy="285750"/>
            </a:xfrm>
            <a:custGeom>
              <a:avLst/>
              <a:gdLst/>
              <a:ahLst/>
              <a:cxnLst/>
              <a:rect l="l" t="t" r="r" b="b"/>
              <a:pathLst>
                <a:path w="2362200" h="285750">
                  <a:moveTo>
                    <a:pt x="0" y="0"/>
                  </a:moveTo>
                  <a:lnTo>
                    <a:pt x="2362200" y="285750"/>
                  </a:lnTo>
                </a:path>
              </a:pathLst>
            </a:custGeom>
            <a:noFill/>
            <a:ln w="19050">
              <a:solidFill>
                <a:schemeClr val="accent5"/>
              </a:solidFill>
            </a:ln>
          </p:spPr>
        </p:sp>
        <p:sp>
          <p:nvSpPr>
            <p:cNvPr id="11" name="Polygon 11"/>
            <p:cNvSpPr/>
            <p:nvPr/>
          </p:nvSpPr>
          <p:spPr>
            <a:xfrm>
              <a:off x="1000125" y="2571750"/>
              <a:ext cx="2105025" cy="1619250"/>
            </a:xfrm>
            <a:custGeom>
              <a:avLst/>
              <a:gdLst/>
              <a:ahLst/>
              <a:cxnLst/>
              <a:rect l="l" t="t" r="r" b="b"/>
              <a:pathLst>
                <a:path w="2105025" h="1619250">
                  <a:moveTo>
                    <a:pt x="0" y="0"/>
                  </a:moveTo>
                  <a:lnTo>
                    <a:pt x="2105025" y="209550"/>
                  </a:lnTo>
                  <a:lnTo>
                    <a:pt x="2009775" y="1619250"/>
                  </a:lnTo>
                  <a:lnTo>
                    <a:pt x="123825" y="1390650"/>
                  </a:lnTo>
                  <a:close/>
                </a:path>
              </a:pathLst>
            </a:custGeom>
            <a:solidFill>
              <a:schemeClr val="lt1"/>
            </a:solidFill>
            <a:ln w="38100">
              <a:solidFill>
                <a:schemeClr val="accent1"/>
              </a:solidFill>
            </a:ln>
          </p:spPr>
        </p:sp>
        <p:sp>
          <p:nvSpPr>
            <p:cNvPr id="12" name="Polygon 12"/>
            <p:cNvSpPr/>
            <p:nvPr/>
          </p:nvSpPr>
          <p:spPr>
            <a:xfrm>
              <a:off x="933450" y="2476500"/>
              <a:ext cx="2247900" cy="1809750"/>
            </a:xfrm>
            <a:custGeom>
              <a:avLst/>
              <a:gdLst/>
              <a:ahLst/>
              <a:cxnLst/>
              <a:rect l="l" t="t" r="r" b="b"/>
              <a:pathLst>
                <a:path w="2247900" h="1809750">
                  <a:moveTo>
                    <a:pt x="0" y="0"/>
                  </a:moveTo>
                  <a:lnTo>
                    <a:pt x="2247900" y="219075"/>
                  </a:lnTo>
                  <a:lnTo>
                    <a:pt x="2162175" y="1809750"/>
                  </a:lnTo>
                  <a:lnTo>
                    <a:pt x="104775" y="1571625"/>
                  </a:lnTo>
                  <a:close/>
                </a:path>
              </a:pathLst>
            </a:custGeom>
            <a:noFill/>
            <a:ln w="38100">
              <a:solidFill>
                <a:schemeClr val="accent2"/>
              </a:solidFill>
              <a:custDash>
                <a:ds d="250000" sp="200000"/>
              </a:custDash>
            </a:ln>
          </p:spPr>
        </p:sp>
        <p:sp>
          <p:nvSpPr>
            <p:cNvPr id="13" name="Line 13"/>
            <p:cNvSpPr/>
            <p:nvPr/>
          </p:nvSpPr>
          <p:spPr>
            <a:xfrm>
              <a:off x="2933700" y="2724150"/>
              <a:ext cx="95250" cy="1514475"/>
            </a:xfrm>
            <a:custGeom>
              <a:avLst/>
              <a:gdLst/>
              <a:ahLst/>
              <a:cxnLst/>
              <a:rect l="l" t="t" r="r" b="b"/>
              <a:pathLst>
                <a:path w="95250" h="1514475">
                  <a:moveTo>
                    <a:pt x="95250" y="0"/>
                  </a:moveTo>
                  <a:lnTo>
                    <a:pt x="0" y="1514475"/>
                  </a:lnTo>
                </a:path>
              </a:pathLst>
            </a:custGeom>
            <a:noFill/>
            <a:ln w="76200">
              <a:solidFill>
                <a:schemeClr val="accent3"/>
              </a:solidFill>
            </a:ln>
          </p:spPr>
        </p:sp>
        <p:sp>
          <p:nvSpPr>
            <p:cNvPr id="14" name="TextBox 14"/>
            <p:cNvSpPr txBox="1"/>
            <p:nvPr/>
          </p:nvSpPr>
          <p:spPr>
            <a:xfrm>
              <a:off x="714756" y="4358640"/>
              <a:ext cx="5126638"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Prediction limits where evidence is trusted</a:t>
              </a:r>
            </a:p>
          </p:txBody>
        </p:sp>
      </p:grpSp>
      <p:grpSp>
        <p:nvGrpSpPr>
          <p:cNvPr id="25" name="Group 25"/>
          <p:cNvGrpSpPr/>
          <p:nvPr/>
        </p:nvGrpSpPr>
        <p:grpSpPr>
          <a:xfrm>
            <a:off x="3752850" y="1672590"/>
            <a:ext cx="6234733" cy="3070860"/>
            <a:chOff x="3752850" y="1672590"/>
            <a:chExt cx="6234733" cy="3070860"/>
          </a:xfrm>
        </p:grpSpPr>
        <p:sp>
          <p:nvSpPr>
            <p:cNvPr id="16" name="Line 16"/>
            <p:cNvSpPr/>
            <p:nvPr/>
          </p:nvSpPr>
          <p:spPr>
            <a:xfrm>
              <a:off x="3752850" y="3390900"/>
              <a:ext cx="400050" cy="1"/>
            </a:xfrm>
            <a:prstGeom prst="line">
              <a:avLst/>
            </a:prstGeom>
            <a:noFill/>
            <a:ln w="28575">
              <a:solidFill>
                <a:schemeClr val="dk2"/>
              </a:solidFill>
              <a:tailEnd type="triangle" w="lg" len="lg"/>
            </a:ln>
          </p:spPr>
        </p:sp>
        <p:sp>
          <p:nvSpPr>
            <p:cNvPr id="17" name="TextBox 17"/>
            <p:cNvSpPr txBox="1"/>
            <p:nvPr/>
          </p:nvSpPr>
          <p:spPr>
            <a:xfrm>
              <a:off x="4315206" y="1672590"/>
              <a:ext cx="374163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2 · SAMPLE NORMAL PROFILES</a:t>
              </a:r>
            </a:p>
          </p:txBody>
        </p:sp>
        <p:sp>
          <p:nvSpPr>
            <p:cNvPr id="18" name="Rectangle 18"/>
            <p:cNvSpPr/>
            <p:nvPr/>
          </p:nvSpPr>
          <p:spPr>
            <a:xfrm>
              <a:off x="4324350" y="2095500"/>
              <a:ext cx="3105150" cy="2647950"/>
            </a:xfrm>
            <a:prstGeom prst="rect">
              <a:avLst/>
            </a:prstGeom>
            <a:solidFill>
              <a:schemeClr val="lt1"/>
            </a:solidFill>
            <a:ln w="19050">
              <a:solidFill>
                <a:schemeClr val="accent4"/>
              </a:solidFill>
            </a:ln>
          </p:spPr>
        </p:sp>
        <p:sp>
          <p:nvSpPr>
            <p:cNvPr id="19" name="Line 19"/>
            <p:cNvSpPr/>
            <p:nvPr/>
          </p:nvSpPr>
          <p:spPr>
            <a:xfrm>
              <a:off x="4667250" y="4267200"/>
              <a:ext cx="2419350" cy="9525"/>
            </a:xfrm>
            <a:custGeom>
              <a:avLst/>
              <a:gdLst/>
              <a:ahLst/>
              <a:cxnLst/>
              <a:rect l="l" t="t" r="r" b="b"/>
              <a:pathLst>
                <a:path w="2419350" h="9525">
                  <a:moveTo>
                    <a:pt x="0" y="0"/>
                  </a:moveTo>
                  <a:lnTo>
                    <a:pt x="2419350" y="0"/>
                  </a:lnTo>
                </a:path>
              </a:pathLst>
            </a:custGeom>
            <a:noFill/>
            <a:ln w="19050">
              <a:solidFill>
                <a:schemeClr val="dk2"/>
              </a:solidFill>
            </a:ln>
          </p:spPr>
        </p:sp>
        <p:sp>
          <p:nvSpPr>
            <p:cNvPr id="20" name="Line 20"/>
            <p:cNvSpPr/>
            <p:nvPr/>
          </p:nvSpPr>
          <p:spPr>
            <a:xfrm>
              <a:off x="4667250" y="2400300"/>
              <a:ext cx="9525" cy="1866900"/>
            </a:xfrm>
            <a:custGeom>
              <a:avLst/>
              <a:gdLst/>
              <a:ahLst/>
              <a:cxnLst/>
              <a:rect l="l" t="t" r="r" b="b"/>
              <a:pathLst>
                <a:path w="9525" h="1866900">
                  <a:moveTo>
                    <a:pt x="0" y="0"/>
                  </a:moveTo>
                  <a:lnTo>
                    <a:pt x="0" y="1866900"/>
                  </a:lnTo>
                </a:path>
              </a:pathLst>
            </a:custGeom>
            <a:noFill/>
            <a:ln w="19050">
              <a:solidFill>
                <a:schemeClr val="dk2"/>
              </a:solidFill>
            </a:ln>
          </p:spPr>
        </p:sp>
        <p:sp>
          <p:nvSpPr>
            <p:cNvPr id="21" name="Polyline 21"/>
            <p:cNvSpPr/>
            <p:nvPr/>
          </p:nvSpPr>
          <p:spPr>
            <a:xfrm>
              <a:off x="4667250" y="2343150"/>
              <a:ext cx="2419350" cy="1657350"/>
            </a:xfrm>
            <a:custGeom>
              <a:avLst/>
              <a:gdLst/>
              <a:ahLst/>
              <a:cxnLst/>
              <a:rect l="l" t="t" r="r" b="b"/>
              <a:pathLst>
                <a:path w="2419350" h="1657350">
                  <a:moveTo>
                    <a:pt x="0" y="1657350"/>
                  </a:moveTo>
                  <a:lnTo>
                    <a:pt x="285750" y="1600200"/>
                  </a:lnTo>
                  <a:lnTo>
                    <a:pt x="552450" y="1543050"/>
                  </a:lnTo>
                  <a:lnTo>
                    <a:pt x="762000" y="1428750"/>
                  </a:lnTo>
                  <a:lnTo>
                    <a:pt x="971550" y="1200150"/>
                  </a:lnTo>
                  <a:lnTo>
                    <a:pt x="1143000" y="361950"/>
                  </a:lnTo>
                  <a:lnTo>
                    <a:pt x="1314450" y="0"/>
                  </a:lnTo>
                  <a:lnTo>
                    <a:pt x="1485900" y="800100"/>
                  </a:lnTo>
                  <a:lnTo>
                    <a:pt x="1657350" y="1333500"/>
                  </a:lnTo>
                  <a:lnTo>
                    <a:pt x="1885950" y="1543050"/>
                  </a:lnTo>
                  <a:lnTo>
                    <a:pt x="2152650" y="1600200"/>
                  </a:lnTo>
                  <a:lnTo>
                    <a:pt x="2419350" y="1657350"/>
                  </a:lnTo>
                </a:path>
              </a:pathLst>
            </a:custGeom>
            <a:noFill/>
            <a:ln w="47625">
              <a:solidFill>
                <a:schemeClr val="accent2"/>
              </a:solidFill>
            </a:ln>
          </p:spPr>
        </p:sp>
        <p:sp>
          <p:nvSpPr>
            <p:cNvPr id="22" name="Line 22"/>
            <p:cNvSpPr/>
            <p:nvPr/>
          </p:nvSpPr>
          <p:spPr>
            <a:xfrm>
              <a:off x="5981700" y="2343150"/>
              <a:ext cx="9525" cy="1924050"/>
            </a:xfrm>
            <a:custGeom>
              <a:avLst/>
              <a:gdLst/>
              <a:ahLst/>
              <a:cxnLst/>
              <a:rect l="l" t="t" r="r" b="b"/>
              <a:pathLst>
                <a:path w="9525" h="1924050">
                  <a:moveTo>
                    <a:pt x="0" y="0"/>
                  </a:moveTo>
                  <a:lnTo>
                    <a:pt x="0" y="1924050"/>
                  </a:lnTo>
                </a:path>
              </a:pathLst>
            </a:custGeom>
            <a:noFill/>
            <a:ln w="28575">
              <a:solidFill>
                <a:schemeClr val="accent3"/>
              </a:solidFill>
              <a:custDash>
                <a:ds d="266667" sp="266667"/>
              </a:custDash>
            </a:ln>
          </p:spPr>
        </p:sp>
        <p:sp>
          <p:nvSpPr>
            <p:cNvPr id="23" name="Ellipse 23"/>
            <p:cNvSpPr/>
            <p:nvPr/>
          </p:nvSpPr>
          <p:spPr>
            <a:xfrm>
              <a:off x="5905500" y="2266950"/>
              <a:ext cx="152400" cy="152400"/>
            </a:xfrm>
            <a:prstGeom prst="ellipse">
              <a:avLst/>
            </a:prstGeom>
            <a:solidFill>
              <a:schemeClr val="accent3"/>
            </a:solidFill>
            <a:ln>
              <a:noFill/>
            </a:ln>
          </p:spPr>
        </p:sp>
        <p:sp>
          <p:nvSpPr>
            <p:cNvPr id="24" name="TextBox 24"/>
            <p:cNvSpPr txBox="1"/>
            <p:nvPr/>
          </p:nvSpPr>
          <p:spPr>
            <a:xfrm>
              <a:off x="4848606" y="4358640"/>
              <a:ext cx="513897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Gradient peak proposes the border position</a:t>
              </a:r>
            </a:p>
          </p:txBody>
        </p:sp>
      </p:grpSp>
      <p:grpSp>
        <p:nvGrpSpPr>
          <p:cNvPr id="42" name="Group 42"/>
          <p:cNvGrpSpPr/>
          <p:nvPr/>
        </p:nvGrpSpPr>
        <p:grpSpPr>
          <a:xfrm>
            <a:off x="7543800" y="1672590"/>
            <a:ext cx="6974950" cy="3070860"/>
            <a:chOff x="7543800" y="1672590"/>
            <a:chExt cx="6974950" cy="3070860"/>
          </a:xfrm>
        </p:grpSpPr>
        <p:sp>
          <p:nvSpPr>
            <p:cNvPr id="26" name="Line 26"/>
            <p:cNvSpPr/>
            <p:nvPr/>
          </p:nvSpPr>
          <p:spPr>
            <a:xfrm>
              <a:off x="7543800" y="3390900"/>
              <a:ext cx="400050" cy="1"/>
            </a:xfrm>
            <a:prstGeom prst="line">
              <a:avLst/>
            </a:prstGeom>
            <a:noFill/>
            <a:ln w="28575">
              <a:solidFill>
                <a:schemeClr val="dk2"/>
              </a:solidFill>
              <a:tailEnd type="triangle" w="lg" len="lg"/>
            </a:ln>
          </p:spPr>
        </p:sp>
        <p:sp>
          <p:nvSpPr>
            <p:cNvPr id="27" name="TextBox 27"/>
            <p:cNvSpPr txBox="1"/>
            <p:nvPr/>
          </p:nvSpPr>
          <p:spPr>
            <a:xfrm>
              <a:off x="8106156" y="1672590"/>
              <a:ext cx="4494367"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3 · FIT FOUR LINES, THEN INTERSECT</a:t>
              </a:r>
            </a:p>
          </p:txBody>
        </p:sp>
        <p:sp>
          <p:nvSpPr>
            <p:cNvPr id="28" name="Rectangle 28"/>
            <p:cNvSpPr/>
            <p:nvPr/>
          </p:nvSpPr>
          <p:spPr>
            <a:xfrm>
              <a:off x="8115300" y="2095500"/>
              <a:ext cx="3543300" cy="2647950"/>
            </a:xfrm>
            <a:prstGeom prst="rect">
              <a:avLst/>
            </a:prstGeom>
            <a:solidFill>
              <a:schemeClr val="lt2"/>
            </a:solidFill>
            <a:ln w="19050">
              <a:solidFill>
                <a:schemeClr val="accent4"/>
              </a:solidFill>
            </a:ln>
          </p:spPr>
        </p:sp>
        <p:sp>
          <p:nvSpPr>
            <p:cNvPr id="29" name="Ellipse 29"/>
            <p:cNvSpPr/>
            <p:nvPr/>
          </p:nvSpPr>
          <p:spPr>
            <a:xfrm>
              <a:off x="8505825" y="2733675"/>
              <a:ext cx="95250" cy="95250"/>
            </a:xfrm>
            <a:prstGeom prst="ellipse">
              <a:avLst/>
            </a:prstGeom>
            <a:solidFill>
              <a:schemeClr val="accent5"/>
            </a:solidFill>
            <a:ln>
              <a:noFill/>
            </a:ln>
          </p:spPr>
        </p:sp>
        <p:sp>
          <p:nvSpPr>
            <p:cNvPr id="30" name="Ellipse 30"/>
            <p:cNvSpPr/>
            <p:nvPr/>
          </p:nvSpPr>
          <p:spPr>
            <a:xfrm>
              <a:off x="8810625" y="2686050"/>
              <a:ext cx="95250" cy="95250"/>
            </a:xfrm>
            <a:prstGeom prst="ellipse">
              <a:avLst/>
            </a:prstGeom>
            <a:solidFill>
              <a:schemeClr val="accent5"/>
            </a:solidFill>
            <a:ln>
              <a:noFill/>
            </a:ln>
          </p:spPr>
        </p:sp>
        <p:sp>
          <p:nvSpPr>
            <p:cNvPr id="31" name="Ellipse 31"/>
            <p:cNvSpPr/>
            <p:nvPr/>
          </p:nvSpPr>
          <p:spPr>
            <a:xfrm>
              <a:off x="9163050" y="2638425"/>
              <a:ext cx="95250" cy="95250"/>
            </a:xfrm>
            <a:prstGeom prst="ellipse">
              <a:avLst/>
            </a:prstGeom>
            <a:solidFill>
              <a:schemeClr val="accent5"/>
            </a:solidFill>
            <a:ln>
              <a:noFill/>
            </a:ln>
          </p:spPr>
        </p:sp>
        <p:sp>
          <p:nvSpPr>
            <p:cNvPr id="32" name="Ellipse 32"/>
            <p:cNvSpPr/>
            <p:nvPr/>
          </p:nvSpPr>
          <p:spPr>
            <a:xfrm>
              <a:off x="9534525" y="2581275"/>
              <a:ext cx="95250" cy="95250"/>
            </a:xfrm>
            <a:prstGeom prst="ellipse">
              <a:avLst/>
            </a:prstGeom>
            <a:solidFill>
              <a:schemeClr val="accent5"/>
            </a:solidFill>
            <a:ln>
              <a:noFill/>
            </a:ln>
          </p:spPr>
        </p:sp>
        <p:sp>
          <p:nvSpPr>
            <p:cNvPr id="33" name="Ellipse 33"/>
            <p:cNvSpPr/>
            <p:nvPr/>
          </p:nvSpPr>
          <p:spPr>
            <a:xfrm>
              <a:off x="9915525" y="2533650"/>
              <a:ext cx="95250" cy="95250"/>
            </a:xfrm>
            <a:prstGeom prst="ellipse">
              <a:avLst/>
            </a:prstGeom>
            <a:solidFill>
              <a:schemeClr val="accent5"/>
            </a:solidFill>
            <a:ln>
              <a:noFill/>
            </a:ln>
          </p:spPr>
        </p:sp>
        <p:sp>
          <p:nvSpPr>
            <p:cNvPr id="34" name="Ellipse 34"/>
            <p:cNvSpPr/>
            <p:nvPr/>
          </p:nvSpPr>
          <p:spPr>
            <a:xfrm>
              <a:off x="10525125" y="2905125"/>
              <a:ext cx="95250" cy="95250"/>
            </a:xfrm>
            <a:prstGeom prst="ellipse">
              <a:avLst/>
            </a:prstGeom>
            <a:solidFill>
              <a:schemeClr val="accent5"/>
            </a:solidFill>
            <a:ln>
              <a:noFill/>
            </a:ln>
          </p:spPr>
        </p:sp>
        <p:sp>
          <p:nvSpPr>
            <p:cNvPr id="35" name="Ellipse 35"/>
            <p:cNvSpPr/>
            <p:nvPr/>
          </p:nvSpPr>
          <p:spPr>
            <a:xfrm>
              <a:off x="10601325" y="3228975"/>
              <a:ext cx="95250" cy="95250"/>
            </a:xfrm>
            <a:prstGeom prst="ellipse">
              <a:avLst/>
            </a:prstGeom>
            <a:solidFill>
              <a:schemeClr val="accent5"/>
            </a:solidFill>
            <a:ln>
              <a:noFill/>
            </a:ln>
          </p:spPr>
        </p:sp>
        <p:sp>
          <p:nvSpPr>
            <p:cNvPr id="36" name="Ellipse 36"/>
            <p:cNvSpPr/>
            <p:nvPr/>
          </p:nvSpPr>
          <p:spPr>
            <a:xfrm>
              <a:off x="10687050" y="3590925"/>
              <a:ext cx="95250" cy="95250"/>
            </a:xfrm>
            <a:prstGeom prst="ellipse">
              <a:avLst/>
            </a:prstGeom>
            <a:solidFill>
              <a:schemeClr val="accent5"/>
            </a:solidFill>
            <a:ln>
              <a:noFill/>
            </a:ln>
          </p:spPr>
        </p:sp>
        <p:sp>
          <p:nvSpPr>
            <p:cNvPr id="37" name="Ellipse 37"/>
            <p:cNvSpPr/>
            <p:nvPr/>
          </p:nvSpPr>
          <p:spPr>
            <a:xfrm>
              <a:off x="10772775" y="3952875"/>
              <a:ext cx="95250" cy="95250"/>
            </a:xfrm>
            <a:prstGeom prst="ellipse">
              <a:avLst/>
            </a:prstGeom>
            <a:solidFill>
              <a:schemeClr val="accent5"/>
            </a:solidFill>
            <a:ln>
              <a:noFill/>
            </a:ln>
          </p:spPr>
        </p:sp>
        <p:sp>
          <p:nvSpPr>
            <p:cNvPr id="38" name="Line 38"/>
            <p:cNvSpPr/>
            <p:nvPr/>
          </p:nvSpPr>
          <p:spPr>
            <a:xfrm>
              <a:off x="8439150" y="2514600"/>
              <a:ext cx="1885950" cy="285750"/>
            </a:xfrm>
            <a:custGeom>
              <a:avLst/>
              <a:gdLst/>
              <a:ahLst/>
              <a:cxnLst/>
              <a:rect l="l" t="t" r="r" b="b"/>
              <a:pathLst>
                <a:path w="1885950" h="285750">
                  <a:moveTo>
                    <a:pt x="0" y="285750"/>
                  </a:moveTo>
                  <a:lnTo>
                    <a:pt x="1885950" y="0"/>
                  </a:lnTo>
                </a:path>
              </a:pathLst>
            </a:custGeom>
            <a:noFill/>
            <a:ln w="47625">
              <a:solidFill>
                <a:schemeClr val="accent2"/>
              </a:solidFill>
            </a:ln>
          </p:spPr>
        </p:sp>
        <p:sp>
          <p:nvSpPr>
            <p:cNvPr id="39" name="Line 39"/>
            <p:cNvSpPr/>
            <p:nvPr/>
          </p:nvSpPr>
          <p:spPr>
            <a:xfrm>
              <a:off x="10477500" y="2552700"/>
              <a:ext cx="438150" cy="1752600"/>
            </a:xfrm>
            <a:custGeom>
              <a:avLst/>
              <a:gdLst/>
              <a:ahLst/>
              <a:cxnLst/>
              <a:rect l="l" t="t" r="r" b="b"/>
              <a:pathLst>
                <a:path w="438150" h="1752600">
                  <a:moveTo>
                    <a:pt x="0" y="0"/>
                  </a:moveTo>
                  <a:lnTo>
                    <a:pt x="438150" y="1752600"/>
                  </a:lnTo>
                </a:path>
              </a:pathLst>
            </a:custGeom>
            <a:noFill/>
            <a:ln w="47625">
              <a:solidFill>
                <a:schemeClr val="accent2"/>
              </a:solidFill>
            </a:ln>
          </p:spPr>
        </p:sp>
        <p:sp>
          <p:nvSpPr>
            <p:cNvPr id="40" name="Ellipse 40"/>
            <p:cNvSpPr/>
            <p:nvPr/>
          </p:nvSpPr>
          <p:spPr>
            <a:xfrm>
              <a:off x="10391775" y="2466975"/>
              <a:ext cx="171450" cy="171450"/>
            </a:xfrm>
            <a:prstGeom prst="ellipse">
              <a:avLst/>
            </a:prstGeom>
            <a:solidFill>
              <a:schemeClr val="accent3"/>
            </a:solidFill>
            <a:ln>
              <a:noFill/>
            </a:ln>
          </p:spPr>
        </p:sp>
        <p:sp>
          <p:nvSpPr>
            <p:cNvPr id="41" name="TextBox 41"/>
            <p:cNvSpPr txBox="1"/>
            <p:nvPr/>
          </p:nvSpPr>
          <p:spPr>
            <a:xfrm>
              <a:off x="8334756" y="4358640"/>
              <a:ext cx="618399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RANSAC rejects outliers before corners are updated</a:t>
              </a:r>
            </a:p>
          </p:txBody>
        </p:sp>
      </p:grpSp>
      <p:grpSp>
        <p:nvGrpSpPr>
          <p:cNvPr id="49" name="Group 49"/>
          <p:cNvGrpSpPr/>
          <p:nvPr/>
        </p:nvGrpSpPr>
        <p:grpSpPr>
          <a:xfrm>
            <a:off x="533400" y="5124450"/>
            <a:ext cx="11125200" cy="971550"/>
            <a:chOff x="533400" y="5124450"/>
            <a:chExt cx="11125200" cy="971550"/>
          </a:xfrm>
        </p:grpSpPr>
        <p:sp>
          <p:nvSpPr>
            <p:cNvPr id="43" name="Rectangle 43"/>
            <p:cNvSpPr/>
            <p:nvPr/>
          </p:nvSpPr>
          <p:spPr>
            <a:xfrm>
              <a:off x="533400" y="5124450"/>
              <a:ext cx="11125200" cy="971550"/>
            </a:xfrm>
            <a:prstGeom prst="rect">
              <a:avLst/>
            </a:prstGeom>
            <a:solidFill>
              <a:schemeClr val="lt1"/>
            </a:solidFill>
            <a:ln w="19050">
              <a:solidFill>
                <a:schemeClr val="accent3"/>
              </a:solidFill>
            </a:ln>
          </p:spPr>
        </p:sp>
        <p:grpSp>
          <p:nvGrpSpPr>
            <p:cNvPr id="46" name="Group 46"/>
            <p:cNvGrpSpPr/>
            <p:nvPr/>
          </p:nvGrpSpPr>
          <p:grpSpPr>
            <a:xfrm>
              <a:off x="793441" y="5419725"/>
              <a:ext cx="372013" cy="342900"/>
              <a:chOff x="793441" y="5419725"/>
              <a:chExt cx="372013" cy="342900"/>
            </a:xfrm>
          </p:grpSpPr>
          <p:sp>
            <p:nvSpPr>
              <p:cNvPr id="44" name="Freeform 44"/>
              <p:cNvSpPr/>
              <p:nvPr/>
            </p:nvSpPr>
            <p:spPr>
              <a:xfrm>
                <a:off x="793441" y="5419725"/>
                <a:ext cx="372013" cy="339966"/>
              </a:xfrm>
              <a:custGeom>
                <a:avLst/>
                <a:gdLst/>
                <a:ahLst/>
                <a:cxnLst/>
                <a:rect l="l" t="t" r="r" b="b"/>
                <a:pathLst>
                  <a:path w="372013" h="339966">
                    <a:moveTo>
                      <a:pt x="186872" y="339966"/>
                    </a:moveTo>
                    <a:cubicBezTo>
                      <a:pt x="67532" y="302974"/>
                      <a:pt x="0" y="177021"/>
                      <a:pt x="35234" y="57150"/>
                    </a:cubicBezTo>
                    <a:cubicBezTo>
                      <a:pt x="94585" y="59866"/>
                      <a:pt x="152661" y="39368"/>
                      <a:pt x="197159" y="0"/>
                    </a:cubicBezTo>
                    <a:cubicBezTo>
                      <a:pt x="241657" y="39368"/>
                      <a:pt x="299733" y="59866"/>
                      <a:pt x="359084" y="57150"/>
                    </a:cubicBezTo>
                    <a:cubicBezTo>
                      <a:pt x="372013" y="101139"/>
                      <a:pt x="371415" y="147998"/>
                      <a:pt x="357369" y="191643"/>
                    </a:cubicBezTo>
                  </a:path>
                </a:pathLst>
              </a:custGeom>
              <a:noFill/>
              <a:ln w="38100">
                <a:solidFill>
                  <a:schemeClr val="accent3"/>
                </a:solidFill>
              </a:ln>
            </p:spPr>
          </p:sp>
          <p:sp>
            <p:nvSpPr>
              <p:cNvPr id="45" name="Freeform 45"/>
              <p:cNvSpPr/>
              <p:nvPr/>
            </p:nvSpPr>
            <p:spPr>
              <a:xfrm>
                <a:off x="1047750" y="5686425"/>
                <a:ext cx="114300" cy="76200"/>
              </a:xfrm>
              <a:custGeom>
                <a:avLst/>
                <a:gdLst/>
                <a:ahLst/>
                <a:cxnLst/>
                <a:rect l="l" t="t" r="r" b="b"/>
                <a:pathLst>
                  <a:path w="114300" h="76200">
                    <a:moveTo>
                      <a:pt x="0" y="38100"/>
                    </a:moveTo>
                    <a:lnTo>
                      <a:pt x="38100" y="76200"/>
                    </a:lnTo>
                    <a:lnTo>
                      <a:pt x="114300" y="0"/>
                    </a:lnTo>
                  </a:path>
                </a:pathLst>
              </a:custGeom>
              <a:noFill/>
              <a:ln w="38100">
                <a:solidFill>
                  <a:schemeClr val="accent3"/>
                </a:solidFill>
              </a:ln>
            </p:spPr>
          </p:sp>
        </p:grpSp>
        <p:sp>
          <p:nvSpPr>
            <p:cNvPr id="47" name="TextBox 47"/>
            <p:cNvSpPr txBox="1"/>
            <p:nvPr/>
          </p:nvSpPr>
          <p:spPr>
            <a:xfrm>
              <a:off x="1435608" y="5265420"/>
              <a:ext cx="918246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Internal LK / RANSAC motion is a consistency diagnostic</a:t>
              </a:r>
            </a:p>
          </p:txBody>
        </p:sp>
        <p:sp>
          <p:nvSpPr>
            <p:cNvPr id="48" name="TextBox 48"/>
            <p:cNvSpPr txBox="1"/>
            <p:nvPr/>
          </p:nvSpPr>
          <p:spPr>
            <a:xfrm>
              <a:off x="1438656" y="5692140"/>
              <a:ext cx="9282820"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It can flag conflict, but it does not replace the border-derived quadrilateral.</a:t>
              </a:r>
            </a:p>
          </p:txBody>
        </p:sp>
      </p:grpSp>
      <p:grpSp>
        <p:nvGrpSpPr>
          <p:cNvPr id="52" name="Group 52"/>
          <p:cNvGrpSpPr/>
          <p:nvPr/>
        </p:nvGrpSpPr>
        <p:grpSpPr>
          <a:xfrm>
            <a:off x="526542" y="6426518"/>
            <a:ext cx="11138916" cy="264033"/>
            <a:chOff x="526542" y="6426518"/>
            <a:chExt cx="11138916" cy="264033"/>
          </a:xfrm>
        </p:grpSpPr>
        <p:sp>
          <p:nvSpPr>
            <p:cNvPr id="50" name="TextBox 50"/>
            <p:cNvSpPr txBox="1"/>
            <p:nvPr/>
          </p:nvSpPr>
          <p:spPr>
            <a:xfrm>
              <a:off x="526542" y="6426518"/>
              <a:ext cx="496793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PIPELINE DETAIL · PROFILE-BASED BORDER OBSERVATION</a:t>
              </a:r>
            </a:p>
          </p:txBody>
        </p:sp>
        <p:sp>
          <p:nvSpPr>
            <p:cNvPr id="51" name="TextBox 51"/>
            <p:cNvSpPr txBox="1"/>
            <p:nvPr/>
          </p:nvSpPr>
          <p:spPr>
            <a:xfrm>
              <a:off x="11451831" y="64265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4350" y="191452"/>
            <a:ext cx="9044746" cy="1323975"/>
            <a:chOff x="514350" y="191452"/>
            <a:chExt cx="9044746" cy="1323975"/>
          </a:xfrm>
        </p:grpSpPr>
        <p:sp>
          <p:nvSpPr>
            <p:cNvPr id="2" name="TextBox 2"/>
            <p:cNvSpPr txBox="1"/>
            <p:nvPr/>
          </p:nvSpPr>
          <p:spPr>
            <a:xfrm>
              <a:off x="514350" y="191452"/>
              <a:ext cx="9044746"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The three methods differ mainly</a:t>
              </a:r>
            </a:p>
          </p:txBody>
        </p:sp>
        <p:sp>
          <p:nvSpPr>
            <p:cNvPr id="3" name="TextBox 3"/>
            <p:cNvSpPr txBox="1"/>
            <p:nvPr/>
          </p:nvSpPr>
          <p:spPr>
            <a:xfrm>
              <a:off x="514350" y="724852"/>
              <a:ext cx="7966831"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in which evidence they trust</a:t>
              </a:r>
            </a:p>
          </p:txBody>
        </p:sp>
      </p:grpSp>
      <p:grpSp>
        <p:nvGrpSpPr>
          <p:cNvPr id="35" name="Group 35"/>
          <p:cNvGrpSpPr/>
          <p:nvPr/>
        </p:nvGrpSpPr>
        <p:grpSpPr>
          <a:xfrm>
            <a:off x="533400" y="1504950"/>
            <a:ext cx="11125200" cy="4191000"/>
            <a:chOff x="533400" y="1504950"/>
            <a:chExt cx="11125200" cy="4191000"/>
          </a:xfrm>
        </p:grpSpPr>
        <p:sp>
          <p:nvSpPr>
            <p:cNvPr id="5" name="Rectangle 5"/>
            <p:cNvSpPr/>
            <p:nvPr/>
          </p:nvSpPr>
          <p:spPr>
            <a:xfrm>
              <a:off x="533400" y="1504950"/>
              <a:ext cx="11125200" cy="4191000"/>
            </a:xfrm>
            <a:prstGeom prst="rect">
              <a:avLst/>
            </a:prstGeom>
            <a:solidFill>
              <a:schemeClr val="lt1"/>
            </a:solidFill>
            <a:ln w="19050">
              <a:solidFill>
                <a:schemeClr val="accent4"/>
              </a:solidFill>
            </a:ln>
          </p:spPr>
        </p:sp>
        <p:sp>
          <p:nvSpPr>
            <p:cNvPr id="6" name="Rectangle 6"/>
            <p:cNvSpPr/>
            <p:nvPr/>
          </p:nvSpPr>
          <p:spPr>
            <a:xfrm>
              <a:off x="533400" y="1504950"/>
              <a:ext cx="11125200" cy="685800"/>
            </a:xfrm>
            <a:prstGeom prst="rect">
              <a:avLst/>
            </a:prstGeom>
            <a:solidFill>
              <a:schemeClr val="accent1"/>
            </a:solidFill>
            <a:ln>
              <a:noFill/>
            </a:ln>
          </p:spPr>
        </p:sp>
        <p:sp>
          <p:nvSpPr>
            <p:cNvPr id="7" name="Rectangle 7"/>
            <p:cNvSpPr/>
            <p:nvPr/>
          </p:nvSpPr>
          <p:spPr>
            <a:xfrm>
              <a:off x="8743950" y="2190750"/>
              <a:ext cx="2914650" cy="3505200"/>
            </a:xfrm>
            <a:prstGeom prst="rect">
              <a:avLst/>
            </a:prstGeom>
            <a:solidFill>
              <a:schemeClr val="lt2"/>
            </a:solidFill>
            <a:ln>
              <a:noFill/>
            </a:ln>
          </p:spPr>
        </p:sp>
        <p:sp>
          <p:nvSpPr>
            <p:cNvPr id="8" name="Line 8"/>
            <p:cNvSpPr/>
            <p:nvPr/>
          </p:nvSpPr>
          <p:spPr>
            <a:xfrm>
              <a:off x="2914650" y="1504950"/>
              <a:ext cx="9525" cy="4191000"/>
            </a:xfrm>
            <a:custGeom>
              <a:avLst/>
              <a:gdLst/>
              <a:ahLst/>
              <a:cxnLst/>
              <a:rect l="l" t="t" r="r" b="b"/>
              <a:pathLst>
                <a:path w="9525" h="4191000">
                  <a:moveTo>
                    <a:pt x="0" y="0"/>
                  </a:moveTo>
                  <a:lnTo>
                    <a:pt x="0" y="4191000"/>
                  </a:lnTo>
                </a:path>
              </a:pathLst>
            </a:custGeom>
            <a:noFill/>
            <a:ln w="19050">
              <a:solidFill>
                <a:schemeClr val="accent4"/>
              </a:solidFill>
            </a:ln>
          </p:spPr>
        </p:sp>
        <p:sp>
          <p:nvSpPr>
            <p:cNvPr id="9" name="Line 9"/>
            <p:cNvSpPr/>
            <p:nvPr/>
          </p:nvSpPr>
          <p:spPr>
            <a:xfrm>
              <a:off x="5829300" y="1504950"/>
              <a:ext cx="9525" cy="4191000"/>
            </a:xfrm>
            <a:custGeom>
              <a:avLst/>
              <a:gdLst/>
              <a:ahLst/>
              <a:cxnLst/>
              <a:rect l="l" t="t" r="r" b="b"/>
              <a:pathLst>
                <a:path w="9525" h="4191000">
                  <a:moveTo>
                    <a:pt x="0" y="0"/>
                  </a:moveTo>
                  <a:lnTo>
                    <a:pt x="0" y="4191000"/>
                  </a:lnTo>
                </a:path>
              </a:pathLst>
            </a:custGeom>
            <a:noFill/>
            <a:ln w="19050">
              <a:solidFill>
                <a:schemeClr val="accent4"/>
              </a:solidFill>
            </a:ln>
          </p:spPr>
        </p:sp>
        <p:sp>
          <p:nvSpPr>
            <p:cNvPr id="10" name="Line 10"/>
            <p:cNvSpPr/>
            <p:nvPr/>
          </p:nvSpPr>
          <p:spPr>
            <a:xfrm>
              <a:off x="8743950" y="1504950"/>
              <a:ext cx="9525" cy="4191000"/>
            </a:xfrm>
            <a:custGeom>
              <a:avLst/>
              <a:gdLst/>
              <a:ahLst/>
              <a:cxnLst/>
              <a:rect l="l" t="t" r="r" b="b"/>
              <a:pathLst>
                <a:path w="9525" h="4191000">
                  <a:moveTo>
                    <a:pt x="0" y="0"/>
                  </a:moveTo>
                  <a:lnTo>
                    <a:pt x="0" y="4191000"/>
                  </a:lnTo>
                </a:path>
              </a:pathLst>
            </a:custGeom>
            <a:noFill/>
            <a:ln w="28575">
              <a:solidFill>
                <a:schemeClr val="accent2"/>
              </a:solidFill>
            </a:ln>
          </p:spPr>
        </p:sp>
        <p:sp>
          <p:nvSpPr>
            <p:cNvPr id="11" name="Line 11"/>
            <p:cNvSpPr/>
            <p:nvPr/>
          </p:nvSpPr>
          <p:spPr>
            <a:xfrm>
              <a:off x="533400" y="2190750"/>
              <a:ext cx="11125200" cy="9525"/>
            </a:xfrm>
            <a:custGeom>
              <a:avLst/>
              <a:gdLst/>
              <a:ahLst/>
              <a:cxnLst/>
              <a:rect l="l" t="t" r="r" b="b"/>
              <a:pathLst>
                <a:path w="11125200" h="9525">
                  <a:moveTo>
                    <a:pt x="0" y="0"/>
                  </a:moveTo>
                  <a:lnTo>
                    <a:pt x="11125200" y="0"/>
                  </a:lnTo>
                </a:path>
              </a:pathLst>
            </a:custGeom>
            <a:noFill/>
            <a:ln w="19050">
              <a:solidFill>
                <a:schemeClr val="accent4"/>
              </a:solidFill>
            </a:ln>
          </p:spPr>
        </p:sp>
        <p:sp>
          <p:nvSpPr>
            <p:cNvPr id="12" name="Line 12"/>
            <p:cNvSpPr/>
            <p:nvPr/>
          </p:nvSpPr>
          <p:spPr>
            <a:xfrm>
              <a:off x="533400" y="3067050"/>
              <a:ext cx="11125200" cy="9525"/>
            </a:xfrm>
            <a:custGeom>
              <a:avLst/>
              <a:gdLst/>
              <a:ahLst/>
              <a:cxnLst/>
              <a:rect l="l" t="t" r="r" b="b"/>
              <a:pathLst>
                <a:path w="11125200" h="9525">
                  <a:moveTo>
                    <a:pt x="0" y="0"/>
                  </a:moveTo>
                  <a:lnTo>
                    <a:pt x="11125200" y="0"/>
                  </a:lnTo>
                </a:path>
              </a:pathLst>
            </a:custGeom>
            <a:noFill/>
            <a:ln w="19050">
              <a:solidFill>
                <a:schemeClr val="accent4"/>
              </a:solidFill>
            </a:ln>
          </p:spPr>
        </p:sp>
        <p:sp>
          <p:nvSpPr>
            <p:cNvPr id="13" name="Line 13"/>
            <p:cNvSpPr/>
            <p:nvPr/>
          </p:nvSpPr>
          <p:spPr>
            <a:xfrm>
              <a:off x="533400" y="3943350"/>
              <a:ext cx="11125200" cy="9525"/>
            </a:xfrm>
            <a:custGeom>
              <a:avLst/>
              <a:gdLst/>
              <a:ahLst/>
              <a:cxnLst/>
              <a:rect l="l" t="t" r="r" b="b"/>
              <a:pathLst>
                <a:path w="11125200" h="9525">
                  <a:moveTo>
                    <a:pt x="0" y="0"/>
                  </a:moveTo>
                  <a:lnTo>
                    <a:pt x="11125200" y="0"/>
                  </a:lnTo>
                </a:path>
              </a:pathLst>
            </a:custGeom>
            <a:noFill/>
            <a:ln w="19050">
              <a:solidFill>
                <a:schemeClr val="accent4"/>
              </a:solidFill>
            </a:ln>
          </p:spPr>
        </p:sp>
        <p:sp>
          <p:nvSpPr>
            <p:cNvPr id="14" name="Line 14"/>
            <p:cNvSpPr/>
            <p:nvPr/>
          </p:nvSpPr>
          <p:spPr>
            <a:xfrm>
              <a:off x="533400" y="4819650"/>
              <a:ext cx="11125200" cy="9525"/>
            </a:xfrm>
            <a:custGeom>
              <a:avLst/>
              <a:gdLst/>
              <a:ahLst/>
              <a:cxnLst/>
              <a:rect l="l" t="t" r="r" b="b"/>
              <a:pathLst>
                <a:path w="11125200" h="9525">
                  <a:moveTo>
                    <a:pt x="0" y="0"/>
                  </a:moveTo>
                  <a:lnTo>
                    <a:pt x="11125200" y="0"/>
                  </a:lnTo>
                </a:path>
              </a:pathLst>
            </a:custGeom>
            <a:noFill/>
            <a:ln w="19050">
              <a:solidFill>
                <a:schemeClr val="accent4"/>
              </a:solidFill>
            </a:ln>
          </p:spPr>
        </p:sp>
        <p:sp>
          <p:nvSpPr>
            <p:cNvPr id="15" name="TextBox 15"/>
            <p:cNvSpPr txBox="1"/>
            <p:nvPr/>
          </p:nvSpPr>
          <p:spPr>
            <a:xfrm>
              <a:off x="714756" y="1739265"/>
              <a:ext cx="172538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DECISION AXIS</a:t>
              </a:r>
            </a:p>
          </p:txBody>
        </p:sp>
        <p:sp>
          <p:nvSpPr>
            <p:cNvPr id="16" name="TextBox 16"/>
            <p:cNvSpPr txBox="1"/>
            <p:nvPr/>
          </p:nvSpPr>
          <p:spPr>
            <a:xfrm>
              <a:off x="3603376" y="1739265"/>
              <a:ext cx="1537198"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FRAME-WISE</a:t>
              </a:r>
            </a:p>
          </p:txBody>
        </p:sp>
        <p:sp>
          <p:nvSpPr>
            <p:cNvPr id="17" name="TextBox 17"/>
            <p:cNvSpPr txBox="1"/>
            <p:nvPr/>
          </p:nvSpPr>
          <p:spPr>
            <a:xfrm>
              <a:off x="6376888" y="1739265"/>
              <a:ext cx="1819473"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OPTICAL FLOW</a:t>
              </a:r>
            </a:p>
          </p:txBody>
        </p:sp>
        <p:sp>
          <p:nvSpPr>
            <p:cNvPr id="18" name="TextBox 18"/>
            <p:cNvSpPr txBox="1"/>
            <p:nvPr/>
          </p:nvSpPr>
          <p:spPr>
            <a:xfrm>
              <a:off x="9546930" y="1739265"/>
              <a:ext cx="1308689"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PROPOSED</a:t>
              </a:r>
            </a:p>
          </p:txBody>
        </p:sp>
        <p:sp>
          <p:nvSpPr>
            <p:cNvPr id="19" name="TextBox 19"/>
            <p:cNvSpPr txBox="1"/>
            <p:nvPr/>
          </p:nvSpPr>
          <p:spPr>
            <a:xfrm>
              <a:off x="714756" y="2520315"/>
              <a:ext cx="212527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Primary evidence</a:t>
              </a:r>
            </a:p>
          </p:txBody>
        </p:sp>
        <p:sp>
          <p:nvSpPr>
            <p:cNvPr id="20" name="TextBox 20"/>
            <p:cNvSpPr txBox="1"/>
            <p:nvPr/>
          </p:nvSpPr>
          <p:spPr>
            <a:xfrm>
              <a:off x="3288411" y="2434590"/>
              <a:ext cx="2167128" cy="618744"/>
            </a:xfrm>
            <a:prstGeom prst="rect">
              <a:avLst/>
            </a:prstGeom>
            <a:noFill/>
            <a:ln>
              <a:noFill/>
            </a:ln>
          </p:spPr>
          <p:txBody>
            <a:bodyPr wrap="square" lIns="0" tIns="0" rIns="0" bIns="0" anchor="t" anchorCtr="0"/>
            <a:lstStyle/>
            <a:p>
              <a:pPr algn="ctr">
                <a:lnSpc>
                  <a:spcPts val="2100"/>
                </a:lnSpc>
              </a:pPr>
              <a:r>
                <a:rPr lang="en-US" sz="1800" dirty="0">
                  <a:solidFill>
                    <a:schemeClr val="dk1"/>
                  </a:solidFill>
                  <a:latin typeface="+mn-lt"/>
                  <a:ea typeface="+mn-ea"/>
                  <a:cs typeface="+mn-cs"/>
                </a:rPr>
                <a:t xml:space="preserve">Independent screen </a:t>
              </a:r>
              <a:r>
                <a:rPr lang="en-US" sz="1800" dirty="0">
                  <a:solidFill>
                    <a:schemeClr val="dk1"/>
                  </a:solidFill>
                  <a:latin typeface="+mn-lt"/>
                  <a:ea typeface="+mn-ea"/>
                  <a:cs typeface="+mn-cs"/>
                </a:rPr>
                <a:t>detection</a:t>
              </a:r>
            </a:p>
          </p:txBody>
        </p:sp>
        <p:sp>
          <p:nvSpPr>
            <p:cNvPr id="21" name="TextBox 21"/>
            <p:cNvSpPr txBox="1"/>
            <p:nvPr/>
          </p:nvSpPr>
          <p:spPr>
            <a:xfrm>
              <a:off x="6357366" y="2434590"/>
              <a:ext cx="1858518" cy="618744"/>
            </a:xfrm>
            <a:prstGeom prst="rect">
              <a:avLst/>
            </a:prstGeom>
            <a:noFill/>
            <a:ln>
              <a:noFill/>
            </a:ln>
          </p:spPr>
          <p:txBody>
            <a:bodyPr wrap="square" lIns="0" tIns="0" rIns="0" bIns="0" anchor="t" anchorCtr="0"/>
            <a:lstStyle/>
            <a:p>
              <a:pPr algn="ctr">
                <a:lnSpc>
                  <a:spcPts val="2100"/>
                </a:lnSpc>
              </a:pPr>
              <a:r>
                <a:rPr lang="en-US" sz="1800" dirty="0">
                  <a:solidFill>
                    <a:schemeClr val="dk1"/>
                  </a:solidFill>
                  <a:latin typeface="+mn-lt"/>
                  <a:ea typeface="+mn-ea"/>
                  <a:cs typeface="+mn-cs"/>
                </a:rPr>
                <a:t xml:space="preserve">Internal feature </a:t>
              </a:r>
              <a:r>
                <a:rPr lang="en-US" sz="1800" dirty="0">
                  <a:solidFill>
                    <a:schemeClr val="dk1"/>
                  </a:solidFill>
                  <a:latin typeface="+mn-lt"/>
                  <a:ea typeface="+mn-ea"/>
                  <a:cs typeface="+mn-cs"/>
                </a:rPr>
                <a:t>motion</a:t>
              </a:r>
            </a:p>
          </p:txBody>
        </p:sp>
        <p:sp>
          <p:nvSpPr>
            <p:cNvPr id="22" name="TextBox 22"/>
            <p:cNvSpPr txBox="1"/>
            <p:nvPr/>
          </p:nvSpPr>
          <p:spPr>
            <a:xfrm>
              <a:off x="8776038" y="2520315"/>
              <a:ext cx="2850474"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Physical screen border</a:t>
              </a:r>
            </a:p>
          </p:txBody>
        </p:sp>
        <p:sp>
          <p:nvSpPr>
            <p:cNvPr id="23" name="TextBox 23"/>
            <p:cNvSpPr txBox="1"/>
            <p:nvPr/>
          </p:nvSpPr>
          <p:spPr>
            <a:xfrm>
              <a:off x="714756" y="3396615"/>
              <a:ext cx="164224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State update</a:t>
              </a:r>
            </a:p>
          </p:txBody>
        </p:sp>
        <p:sp>
          <p:nvSpPr>
            <p:cNvPr id="24" name="TextBox 24"/>
            <p:cNvSpPr txBox="1"/>
            <p:nvPr/>
          </p:nvSpPr>
          <p:spPr>
            <a:xfrm>
              <a:off x="3128983" y="3396615"/>
              <a:ext cx="2485985" cy="352044"/>
            </a:xfrm>
            <a:prstGeom prst="rect">
              <a:avLst/>
            </a:prstGeom>
            <a:noFill/>
            <a:ln>
              <a:noFill/>
            </a:ln>
          </p:spPr>
          <p:txBody>
            <a:bodyPr wrap="none" lIns="0" tIns="0" rIns="0" bIns="0" anchor="t" anchorCtr="0">
              <a:spAutoFit/>
            </a:bodyPr>
            <a:lstStyle/>
            <a:p>
              <a:pPr algn="ctr"/>
              <a:r>
                <a:rPr lang="en-US" sz="1800" dirty="0">
                  <a:solidFill>
                    <a:schemeClr val="dk1"/>
                  </a:solidFill>
                  <a:latin typeface="+mn-lt"/>
                  <a:ea typeface="+mn-ea"/>
                  <a:cs typeface="+mn-cs"/>
                </a:rPr>
                <a:t>Restart every frame</a:t>
              </a:r>
            </a:p>
          </p:txBody>
        </p:sp>
        <p:sp>
          <p:nvSpPr>
            <p:cNvPr id="25" name="TextBox 25"/>
            <p:cNvSpPr txBox="1"/>
            <p:nvPr/>
          </p:nvSpPr>
          <p:spPr>
            <a:xfrm>
              <a:off x="6203061" y="3310890"/>
              <a:ext cx="2167128" cy="618744"/>
            </a:xfrm>
            <a:prstGeom prst="rect">
              <a:avLst/>
            </a:prstGeom>
            <a:noFill/>
            <a:ln>
              <a:noFill/>
            </a:ln>
          </p:spPr>
          <p:txBody>
            <a:bodyPr wrap="square" lIns="0" tIns="0" rIns="0" bIns="0" anchor="t" anchorCtr="0"/>
            <a:lstStyle/>
            <a:p>
              <a:pPr algn="ctr">
                <a:lnSpc>
                  <a:spcPts val="2100"/>
                </a:lnSpc>
              </a:pPr>
              <a:r>
                <a:rPr lang="en-US" sz="1800" dirty="0">
                  <a:solidFill>
                    <a:schemeClr val="dk1"/>
                  </a:solidFill>
                  <a:latin typeface="+mn-lt"/>
                  <a:ea typeface="+mn-ea"/>
                  <a:cs typeface="+mn-cs"/>
                </a:rPr>
                <a:t xml:space="preserve">Propagate previous </a:t>
              </a:r>
              <a:r>
                <a:rPr lang="en-US" sz="1800" dirty="0">
                  <a:solidFill>
                    <a:schemeClr val="dk1"/>
                  </a:solidFill>
                  <a:latin typeface="+mn-lt"/>
                  <a:ea typeface="+mn-ea"/>
                  <a:cs typeface="+mn-cs"/>
                </a:rPr>
                <a:t>corners</a:t>
              </a:r>
            </a:p>
          </p:txBody>
        </p:sp>
        <p:sp>
          <p:nvSpPr>
            <p:cNvPr id="26" name="TextBox 26"/>
            <p:cNvSpPr txBox="1"/>
            <p:nvPr/>
          </p:nvSpPr>
          <p:spPr>
            <a:xfrm>
              <a:off x="9418034" y="3310890"/>
              <a:ext cx="1566481" cy="618744"/>
            </a:xfrm>
            <a:prstGeom prst="rect">
              <a:avLst/>
            </a:prstGeom>
            <a:noFill/>
            <a:ln>
              <a:noFill/>
            </a:ln>
          </p:spPr>
          <p:txBody>
            <a:bodyPr wrap="square" lIns="0" tIns="0" rIns="0" bIns="0" anchor="t" anchorCtr="0"/>
            <a:lstStyle/>
            <a:p>
              <a:pPr algn="ctr">
                <a:lnSpc>
                  <a:spcPts val="2100"/>
                </a:lnSpc>
              </a:pPr>
              <a:r>
                <a:rPr lang="en-US" sz="1800" b="1" dirty="0">
                  <a:solidFill>
                    <a:schemeClr val="accent1"/>
                  </a:solidFill>
                  <a:latin typeface="+mn-lt"/>
                  <a:ea typeface="+mn-ea"/>
                  <a:cs typeface="+mn-cs"/>
                </a:rPr>
                <a:t xml:space="preserve">Fit four local </a:t>
              </a:r>
              <a:r>
                <a:rPr lang="en-US" sz="1800" b="1" dirty="0">
                  <a:solidFill>
                    <a:schemeClr val="accent1"/>
                  </a:solidFill>
                  <a:latin typeface="+mn-lt"/>
                  <a:ea typeface="+mn-ea"/>
                  <a:cs typeface="+mn-cs"/>
                </a:rPr>
                <a:t>border lines</a:t>
              </a:r>
            </a:p>
          </p:txBody>
        </p:sp>
        <p:sp>
          <p:nvSpPr>
            <p:cNvPr id="27" name="TextBox 27"/>
            <p:cNvSpPr txBox="1"/>
            <p:nvPr/>
          </p:nvSpPr>
          <p:spPr>
            <a:xfrm>
              <a:off x="714756" y="4272915"/>
              <a:ext cx="192146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Internal motion</a:t>
              </a:r>
            </a:p>
          </p:txBody>
        </p:sp>
        <p:sp>
          <p:nvSpPr>
            <p:cNvPr id="28" name="TextBox 28"/>
            <p:cNvSpPr txBox="1"/>
            <p:nvPr/>
          </p:nvSpPr>
          <p:spPr>
            <a:xfrm>
              <a:off x="3699891" y="4187190"/>
              <a:ext cx="1344168" cy="618744"/>
            </a:xfrm>
            <a:prstGeom prst="rect">
              <a:avLst/>
            </a:prstGeom>
            <a:noFill/>
            <a:ln>
              <a:noFill/>
            </a:ln>
          </p:spPr>
          <p:txBody>
            <a:bodyPr wrap="square" lIns="0" tIns="0" rIns="0" bIns="0" anchor="t" anchorCtr="0"/>
            <a:lstStyle/>
            <a:p>
              <a:pPr algn="ctr">
                <a:lnSpc>
                  <a:spcPts val="2100"/>
                </a:lnSpc>
              </a:pPr>
              <a:r>
                <a:rPr lang="en-US" sz="1800" dirty="0">
                  <a:solidFill>
                    <a:schemeClr val="dk1"/>
                  </a:solidFill>
                  <a:latin typeface="+mn-lt"/>
                  <a:ea typeface="+mn-ea"/>
                  <a:cs typeface="+mn-cs"/>
                </a:rPr>
                <a:t xml:space="preserve">Can perturb </a:t>
              </a:r>
              <a:r>
                <a:rPr lang="en-US" sz="1800" dirty="0">
                  <a:solidFill>
                    <a:schemeClr val="dk1"/>
                  </a:solidFill>
                  <a:latin typeface="+mn-lt"/>
                  <a:ea typeface="+mn-ea"/>
                  <a:cs typeface="+mn-cs"/>
                </a:rPr>
                <a:t>detections</a:t>
              </a:r>
            </a:p>
          </p:txBody>
        </p:sp>
        <p:sp>
          <p:nvSpPr>
            <p:cNvPr id="29" name="TextBox 29"/>
            <p:cNvSpPr txBox="1"/>
            <p:nvPr/>
          </p:nvSpPr>
          <p:spPr>
            <a:xfrm>
              <a:off x="6471666" y="4187190"/>
              <a:ext cx="1629918" cy="618744"/>
            </a:xfrm>
            <a:prstGeom prst="rect">
              <a:avLst/>
            </a:prstGeom>
            <a:noFill/>
            <a:ln>
              <a:noFill/>
            </a:ln>
          </p:spPr>
          <p:txBody>
            <a:bodyPr wrap="square" lIns="0" tIns="0" rIns="0" bIns="0" anchor="t" anchorCtr="0"/>
            <a:lstStyle/>
            <a:p>
              <a:pPr algn="ctr">
                <a:lnSpc>
                  <a:spcPts val="2100"/>
                </a:lnSpc>
              </a:pPr>
              <a:r>
                <a:rPr lang="en-US" sz="1800" dirty="0">
                  <a:solidFill>
                    <a:schemeClr val="dk1"/>
                  </a:solidFill>
                  <a:latin typeface="+mn-lt"/>
                  <a:ea typeface="+mn-ea"/>
                  <a:cs typeface="+mn-cs"/>
                </a:rPr>
                <a:t xml:space="preserve">Becomes false </a:t>
              </a:r>
              <a:r>
                <a:rPr lang="en-US" sz="1800" dirty="0">
                  <a:solidFill>
                    <a:schemeClr val="dk1"/>
                  </a:solidFill>
                  <a:latin typeface="+mn-lt"/>
                  <a:ea typeface="+mn-ea"/>
                  <a:cs typeface="+mn-cs"/>
                </a:rPr>
                <a:t>camera motion</a:t>
              </a:r>
            </a:p>
          </p:txBody>
        </p:sp>
        <p:sp>
          <p:nvSpPr>
            <p:cNvPr id="30" name="TextBox 30"/>
            <p:cNvSpPr txBox="1"/>
            <p:nvPr/>
          </p:nvSpPr>
          <p:spPr>
            <a:xfrm>
              <a:off x="9322022" y="4187190"/>
              <a:ext cx="1758505" cy="618744"/>
            </a:xfrm>
            <a:prstGeom prst="rect">
              <a:avLst/>
            </a:prstGeom>
            <a:noFill/>
            <a:ln>
              <a:noFill/>
            </a:ln>
          </p:spPr>
          <p:txBody>
            <a:bodyPr wrap="square" lIns="0" tIns="0" rIns="0" bIns="0" anchor="t" anchorCtr="0"/>
            <a:lstStyle/>
            <a:p>
              <a:pPr algn="ctr">
                <a:lnSpc>
                  <a:spcPts val="2100"/>
                </a:lnSpc>
              </a:pPr>
              <a:r>
                <a:rPr lang="en-US" sz="1800" b="1" dirty="0">
                  <a:solidFill>
                    <a:schemeClr val="accent1"/>
                  </a:solidFill>
                  <a:latin typeface="+mn-lt"/>
                  <a:ea typeface="+mn-ea"/>
                  <a:cs typeface="+mn-cs"/>
                </a:rPr>
                <a:t xml:space="preserve">Consistency </a:t>
              </a:r>
              <a:r>
                <a:rPr lang="en-US" sz="1800" b="1" dirty="0">
                  <a:solidFill>
                    <a:schemeClr val="accent1"/>
                  </a:solidFill>
                  <a:latin typeface="+mn-lt"/>
                  <a:ea typeface="+mn-ea"/>
                  <a:cs typeface="+mn-cs"/>
                </a:rPr>
                <a:t>diagnostic only</a:t>
              </a:r>
            </a:p>
          </p:txBody>
        </p:sp>
        <p:sp>
          <p:nvSpPr>
            <p:cNvPr id="31" name="TextBox 31"/>
            <p:cNvSpPr txBox="1"/>
            <p:nvPr/>
          </p:nvSpPr>
          <p:spPr>
            <a:xfrm>
              <a:off x="714756" y="5149215"/>
              <a:ext cx="215030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Failure signature</a:t>
              </a:r>
            </a:p>
          </p:txBody>
        </p:sp>
        <p:sp>
          <p:nvSpPr>
            <p:cNvPr id="32" name="TextBox 32"/>
            <p:cNvSpPr txBox="1"/>
            <p:nvPr/>
          </p:nvSpPr>
          <p:spPr>
            <a:xfrm>
              <a:off x="3374136" y="5063490"/>
              <a:ext cx="1995678" cy="618744"/>
            </a:xfrm>
            <a:prstGeom prst="rect">
              <a:avLst/>
            </a:prstGeom>
            <a:noFill/>
            <a:ln>
              <a:noFill/>
            </a:ln>
          </p:spPr>
          <p:txBody>
            <a:bodyPr wrap="square" lIns="0" tIns="0" rIns="0" bIns="0" anchor="t" anchorCtr="0"/>
            <a:lstStyle/>
            <a:p>
              <a:pPr algn="ctr">
                <a:lnSpc>
                  <a:spcPts val="2100"/>
                </a:lnSpc>
              </a:pPr>
              <a:r>
                <a:rPr lang="en-US" sz="1800" dirty="0">
                  <a:solidFill>
                    <a:schemeClr val="dk1"/>
                  </a:solidFill>
                  <a:latin typeface="+mn-lt"/>
                  <a:ea typeface="+mn-ea"/>
                  <a:cs typeface="+mn-cs"/>
                </a:rPr>
                <a:t xml:space="preserve">Jitter or </a:t>
              </a:r>
              <a:r>
                <a:rPr lang="en-US" sz="1800" dirty="0">
                  <a:solidFill>
                    <a:schemeClr val="dk1"/>
                  </a:solidFill>
                  <a:latin typeface="+mn-lt"/>
                  <a:ea typeface="+mn-ea"/>
                  <a:cs typeface="+mn-cs"/>
                </a:rPr>
                <a:t>frame-wise jumps</a:t>
              </a:r>
            </a:p>
          </p:txBody>
        </p:sp>
        <p:sp>
          <p:nvSpPr>
            <p:cNvPr id="33" name="TextBox 33"/>
            <p:cNvSpPr txBox="1"/>
            <p:nvPr/>
          </p:nvSpPr>
          <p:spPr>
            <a:xfrm>
              <a:off x="6207519" y="5149215"/>
              <a:ext cx="2158213" cy="352044"/>
            </a:xfrm>
            <a:prstGeom prst="rect">
              <a:avLst/>
            </a:prstGeom>
            <a:noFill/>
            <a:ln>
              <a:noFill/>
            </a:ln>
          </p:spPr>
          <p:txBody>
            <a:bodyPr wrap="none" lIns="0" tIns="0" rIns="0" bIns="0" anchor="t" anchorCtr="0">
              <a:spAutoFit/>
            </a:bodyPr>
            <a:lstStyle/>
            <a:p>
              <a:pPr algn="ctr"/>
              <a:r>
                <a:rPr lang="en-US" sz="1800" dirty="0">
                  <a:solidFill>
                    <a:schemeClr val="dk1"/>
                  </a:solidFill>
                  <a:latin typeface="+mn-lt"/>
                  <a:ea typeface="+mn-ea"/>
                  <a:cs typeface="+mn-cs"/>
                </a:rPr>
                <a:t>Accumulated drift</a:t>
              </a:r>
            </a:p>
          </p:txBody>
        </p:sp>
        <p:sp>
          <p:nvSpPr>
            <p:cNvPr id="34" name="TextBox 34"/>
            <p:cNvSpPr txBox="1"/>
            <p:nvPr/>
          </p:nvSpPr>
          <p:spPr>
            <a:xfrm>
              <a:off x="9202007" y="5063490"/>
              <a:ext cx="1998535" cy="618744"/>
            </a:xfrm>
            <a:prstGeom prst="rect">
              <a:avLst/>
            </a:prstGeom>
            <a:noFill/>
            <a:ln>
              <a:noFill/>
            </a:ln>
          </p:spPr>
          <p:txBody>
            <a:bodyPr wrap="square" lIns="0" tIns="0" rIns="0" bIns="0" anchor="t" anchorCtr="0"/>
            <a:lstStyle/>
            <a:p>
              <a:pPr algn="ctr">
                <a:lnSpc>
                  <a:spcPts val="2100"/>
                </a:lnSpc>
              </a:pPr>
              <a:r>
                <a:rPr lang="en-US" sz="1800" b="1" dirty="0">
                  <a:solidFill>
                    <a:schemeClr val="accent1"/>
                  </a:solidFill>
                  <a:latin typeface="+mn-lt"/>
                  <a:ea typeface="+mn-ea"/>
                  <a:cs typeface="+mn-cs"/>
                </a:rPr>
                <a:t xml:space="preserve">Hold or redetect </a:t>
              </a:r>
              <a:r>
                <a:rPr lang="en-US" sz="1800" b="1" dirty="0">
                  <a:solidFill>
                    <a:schemeClr val="accent1"/>
                  </a:solidFill>
                  <a:latin typeface="+mn-lt"/>
                  <a:ea typeface="+mn-ea"/>
                  <a:cs typeface="+mn-cs"/>
                </a:rPr>
                <a:t>on weak evidence</a:t>
              </a:r>
            </a:p>
          </p:txBody>
        </p:sp>
      </p:grpSp>
      <p:grpSp>
        <p:nvGrpSpPr>
          <p:cNvPr id="38" name="Group 38"/>
          <p:cNvGrpSpPr/>
          <p:nvPr/>
        </p:nvGrpSpPr>
        <p:grpSpPr>
          <a:xfrm>
            <a:off x="524256" y="6000750"/>
            <a:ext cx="11134344" cy="500634"/>
            <a:chOff x="524256" y="6000750"/>
            <a:chExt cx="11134344" cy="500634"/>
          </a:xfrm>
        </p:grpSpPr>
        <p:sp>
          <p:nvSpPr>
            <p:cNvPr id="36" name="Line 36"/>
            <p:cNvSpPr/>
            <p:nvPr/>
          </p:nvSpPr>
          <p:spPr>
            <a:xfrm>
              <a:off x="533400" y="6000750"/>
              <a:ext cx="11125200" cy="9525"/>
            </a:xfrm>
            <a:custGeom>
              <a:avLst/>
              <a:gdLst/>
              <a:ahLst/>
              <a:cxnLst/>
              <a:rect l="l" t="t" r="r" b="b"/>
              <a:pathLst>
                <a:path w="11125200" h="9525">
                  <a:moveTo>
                    <a:pt x="0" y="0"/>
                  </a:moveTo>
                  <a:lnTo>
                    <a:pt x="11125200" y="0"/>
                  </a:lnTo>
                </a:path>
              </a:pathLst>
            </a:custGeom>
            <a:noFill/>
            <a:ln w="38100">
              <a:solidFill>
                <a:schemeClr val="accent2"/>
              </a:solidFill>
            </a:ln>
          </p:spPr>
        </p:sp>
        <p:sp>
          <p:nvSpPr>
            <p:cNvPr id="37" name="TextBox 37"/>
            <p:cNvSpPr txBox="1"/>
            <p:nvPr/>
          </p:nvSpPr>
          <p:spPr>
            <a:xfrm>
              <a:off x="524256" y="6149340"/>
              <a:ext cx="10344214"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The advantage comes from a stable physical reference—not a heavier motion model.</a:t>
              </a:r>
            </a:p>
          </p:txBody>
        </p:sp>
      </p:grpSp>
      <p:sp>
        <p:nvSpPr>
          <p:cNvPr id="39" name="TextBox 39"/>
          <p:cNvSpPr txBox="1"/>
          <p:nvPr/>
        </p:nvSpPr>
        <p:spPr>
          <a:xfrm>
            <a:off x="11451831" y="64646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05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4350" y="191452"/>
            <a:ext cx="16591401" cy="1246633"/>
            <a:chOff x="514350" y="191452"/>
            <a:chExt cx="16591401" cy="1246633"/>
          </a:xfrm>
        </p:grpSpPr>
        <p:sp>
          <p:nvSpPr>
            <p:cNvPr id="2" name="TextBox 2"/>
            <p:cNvSpPr txBox="1"/>
            <p:nvPr/>
          </p:nvSpPr>
          <p:spPr>
            <a:xfrm>
              <a:off x="514350" y="191452"/>
              <a:ext cx="15685003"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Formal evidence covers geometry and temporal stability</a:t>
              </a:r>
            </a:p>
          </p:txBody>
        </p:sp>
        <p:sp>
          <p:nvSpPr>
            <p:cNvPr id="3" name="TextBox 3"/>
            <p:cNvSpPr txBox="1"/>
            <p:nvPr/>
          </p:nvSpPr>
          <p:spPr>
            <a:xfrm>
              <a:off x="517398" y="822008"/>
              <a:ext cx="16588353" cy="616077"/>
            </a:xfrm>
            <a:prstGeom prst="rect">
              <a:avLst/>
            </a:prstGeom>
            <a:noFill/>
            <a:ln>
              <a:noFill/>
            </a:ln>
          </p:spPr>
          <p:txBody>
            <a:bodyPr wrap="none" lIns="0" tIns="0" rIns="0" bIns="0" anchor="t" anchorCtr="0">
              <a:spAutoFit/>
            </a:bodyPr>
            <a:lstStyle/>
            <a:p>
              <a:pPr algn="l"/>
              <a:r>
                <a:rPr lang="en-US" sz="3150" b="1" dirty="0">
                  <a:solidFill>
                    <a:schemeClr val="dk2"/>
                  </a:solidFill>
                  <a:latin typeface="+mn-lt"/>
                  <a:ea typeface="+mn-ea"/>
                  <a:cs typeface="+mn-cs"/>
                </a:rPr>
                <a:t>The ranked comparison uses 10 annotated clips across five scene categories</a:t>
              </a:r>
            </a:p>
          </p:txBody>
        </p:sp>
      </p:grpSp>
      <p:grpSp>
        <p:nvGrpSpPr>
          <p:cNvPr id="15" name="Group 15"/>
          <p:cNvGrpSpPr/>
          <p:nvPr/>
        </p:nvGrpSpPr>
        <p:grpSpPr>
          <a:xfrm>
            <a:off x="533400" y="1562100"/>
            <a:ext cx="5509870" cy="4305300"/>
            <a:chOff x="533400" y="1562100"/>
            <a:chExt cx="5509870" cy="4305300"/>
          </a:xfrm>
        </p:grpSpPr>
        <p:sp>
          <p:nvSpPr>
            <p:cNvPr id="5" name="Rectangle 5"/>
            <p:cNvSpPr/>
            <p:nvPr/>
          </p:nvSpPr>
          <p:spPr>
            <a:xfrm>
              <a:off x="533400" y="1562100"/>
              <a:ext cx="4095750" cy="4305300"/>
            </a:xfrm>
            <a:prstGeom prst="rect">
              <a:avLst/>
            </a:prstGeom>
            <a:solidFill>
              <a:schemeClr val="lt2"/>
            </a:solidFill>
            <a:ln w="19050">
              <a:solidFill>
                <a:schemeClr val="accent4"/>
              </a:solidFill>
            </a:ln>
          </p:spPr>
        </p:sp>
        <p:sp>
          <p:nvSpPr>
            <p:cNvPr id="6" name="TextBox 6"/>
            <p:cNvSpPr txBox="1"/>
            <p:nvPr/>
          </p:nvSpPr>
          <p:spPr>
            <a:xfrm>
              <a:off x="790956" y="1767840"/>
              <a:ext cx="2222724"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DATASET CONTEXT</a:t>
              </a:r>
            </a:p>
          </p:txBody>
        </p:sp>
        <p:sp>
          <p:nvSpPr>
            <p:cNvPr id="7" name="TextBox 7"/>
            <p:cNvSpPr txBox="1"/>
            <p:nvPr/>
          </p:nvSpPr>
          <p:spPr>
            <a:xfrm>
              <a:off x="781050" y="2282190"/>
              <a:ext cx="784433" cy="933450"/>
            </a:xfrm>
            <a:prstGeom prst="rect">
              <a:avLst/>
            </a:prstGeom>
            <a:noFill/>
            <a:ln>
              <a:noFill/>
            </a:ln>
          </p:spPr>
          <p:txBody>
            <a:bodyPr wrap="none" lIns="0" tIns="0" rIns="0" bIns="0" anchor="t" anchorCtr="0">
              <a:spAutoFit/>
            </a:bodyPr>
            <a:lstStyle/>
            <a:p>
              <a:pPr algn="l"/>
              <a:r>
                <a:rPr lang="en-US" sz="4800" b="1" dirty="0">
                  <a:solidFill>
                    <a:schemeClr val="accent1"/>
                  </a:solidFill>
                  <a:latin typeface="+mn-lt"/>
                  <a:ea typeface="+mn-ea"/>
                  <a:cs typeface="+mn-cs"/>
                </a:rPr>
                <a:t>50</a:t>
              </a:r>
            </a:p>
          </p:txBody>
        </p:sp>
        <p:sp>
          <p:nvSpPr>
            <p:cNvPr id="8" name="TextBox 8"/>
            <p:cNvSpPr txBox="1"/>
            <p:nvPr/>
          </p:nvSpPr>
          <p:spPr>
            <a:xfrm>
              <a:off x="1911858" y="2522220"/>
              <a:ext cx="3959596"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captured-screen videos</a:t>
              </a:r>
            </a:p>
          </p:txBody>
        </p:sp>
        <p:sp>
          <p:nvSpPr>
            <p:cNvPr id="9" name="Line 9"/>
            <p:cNvSpPr/>
            <p:nvPr/>
          </p:nvSpPr>
          <p:spPr>
            <a:xfrm>
              <a:off x="800100" y="3067050"/>
              <a:ext cx="3524250" cy="9525"/>
            </a:xfrm>
            <a:custGeom>
              <a:avLst/>
              <a:gdLst/>
              <a:ahLst/>
              <a:cxnLst/>
              <a:rect l="l" t="t" r="r" b="b"/>
              <a:pathLst>
                <a:path w="3524250" h="9525">
                  <a:moveTo>
                    <a:pt x="0" y="0"/>
                  </a:moveTo>
                  <a:lnTo>
                    <a:pt x="3524250" y="0"/>
                  </a:lnTo>
                </a:path>
              </a:pathLst>
            </a:custGeom>
            <a:noFill/>
            <a:ln w="19050">
              <a:solidFill>
                <a:schemeClr val="accent4"/>
              </a:solidFill>
            </a:ln>
          </p:spPr>
        </p:sp>
        <p:sp>
          <p:nvSpPr>
            <p:cNvPr id="10" name="TextBox 10"/>
            <p:cNvSpPr txBox="1"/>
            <p:nvPr/>
          </p:nvSpPr>
          <p:spPr>
            <a:xfrm>
              <a:off x="781050" y="3368040"/>
              <a:ext cx="2277100" cy="933450"/>
            </a:xfrm>
            <a:prstGeom prst="rect">
              <a:avLst/>
            </a:prstGeom>
            <a:noFill/>
            <a:ln>
              <a:noFill/>
            </a:ln>
          </p:spPr>
          <p:txBody>
            <a:bodyPr wrap="none" lIns="0" tIns="0" rIns="0" bIns="0" anchor="t" anchorCtr="0">
              <a:spAutoFit/>
            </a:bodyPr>
            <a:lstStyle/>
            <a:p>
              <a:pPr algn="l"/>
              <a:r>
                <a:rPr lang="en-US" sz="4800" b="1" dirty="0">
                  <a:solidFill>
                    <a:schemeClr val="accent1"/>
                  </a:solidFill>
                  <a:latin typeface="+mn-lt"/>
                  <a:ea typeface="+mn-ea"/>
                  <a:cs typeface="+mn-cs"/>
                </a:rPr>
                <a:t>14,985</a:t>
              </a:r>
            </a:p>
          </p:txBody>
        </p:sp>
        <p:sp>
          <p:nvSpPr>
            <p:cNvPr id="11" name="TextBox 11"/>
            <p:cNvSpPr txBox="1"/>
            <p:nvPr/>
          </p:nvSpPr>
          <p:spPr>
            <a:xfrm>
              <a:off x="790956" y="4072890"/>
              <a:ext cx="525231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total frames represented in the project set</a:t>
              </a:r>
            </a:p>
          </p:txBody>
        </p:sp>
        <p:sp>
          <p:nvSpPr>
            <p:cNvPr id="12" name="Rectangle 12"/>
            <p:cNvSpPr/>
            <p:nvPr/>
          </p:nvSpPr>
          <p:spPr>
            <a:xfrm>
              <a:off x="800100" y="4724400"/>
              <a:ext cx="3276600" cy="819150"/>
            </a:xfrm>
            <a:prstGeom prst="rect">
              <a:avLst/>
            </a:prstGeom>
            <a:solidFill>
              <a:schemeClr val="lt1"/>
            </a:solidFill>
            <a:ln w="19050">
              <a:solidFill>
                <a:schemeClr val="accent2"/>
              </a:solidFill>
            </a:ln>
          </p:spPr>
        </p:sp>
        <p:sp>
          <p:nvSpPr>
            <p:cNvPr id="13" name="TextBox 13"/>
            <p:cNvSpPr txBox="1"/>
            <p:nvPr/>
          </p:nvSpPr>
          <p:spPr>
            <a:xfrm>
              <a:off x="978408" y="4808220"/>
              <a:ext cx="3043641"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10 annotated clips</a:t>
              </a:r>
            </a:p>
          </p:txBody>
        </p:sp>
        <p:sp>
          <p:nvSpPr>
            <p:cNvPr id="14" name="TextBox 14"/>
            <p:cNvSpPr txBox="1"/>
            <p:nvPr/>
          </p:nvSpPr>
          <p:spPr>
            <a:xfrm>
              <a:off x="981456" y="5177790"/>
              <a:ext cx="5022113"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used for the formal three-method ranking</a:t>
              </a:r>
            </a:p>
          </p:txBody>
        </p:sp>
      </p:grpSp>
      <p:grpSp>
        <p:nvGrpSpPr>
          <p:cNvPr id="31" name="Group 31"/>
          <p:cNvGrpSpPr/>
          <p:nvPr/>
        </p:nvGrpSpPr>
        <p:grpSpPr>
          <a:xfrm>
            <a:off x="4895850" y="1562100"/>
            <a:ext cx="8594522" cy="2533650"/>
            <a:chOff x="4895850" y="1562100"/>
            <a:chExt cx="8594522" cy="2533650"/>
          </a:xfrm>
        </p:grpSpPr>
        <p:sp>
          <p:nvSpPr>
            <p:cNvPr id="16" name="Rectangle 16"/>
            <p:cNvSpPr/>
            <p:nvPr/>
          </p:nvSpPr>
          <p:spPr>
            <a:xfrm>
              <a:off x="4895850" y="1562100"/>
              <a:ext cx="6762750" cy="2533650"/>
            </a:xfrm>
            <a:prstGeom prst="rect">
              <a:avLst/>
            </a:prstGeom>
            <a:solidFill>
              <a:schemeClr val="lt1"/>
            </a:solidFill>
            <a:ln w="28575">
              <a:solidFill>
                <a:schemeClr val="accent2"/>
              </a:solidFill>
            </a:ln>
          </p:spPr>
        </p:sp>
        <p:sp>
          <p:nvSpPr>
            <p:cNvPr id="17" name="TextBox 17"/>
            <p:cNvSpPr txBox="1"/>
            <p:nvPr/>
          </p:nvSpPr>
          <p:spPr>
            <a:xfrm>
              <a:off x="5153406" y="1767840"/>
              <a:ext cx="3970142"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RANKED IN THE CURRENT RESULTS</a:t>
              </a:r>
            </a:p>
          </p:txBody>
        </p:sp>
        <p:grpSp>
          <p:nvGrpSpPr>
            <p:cNvPr id="24" name="Group 24"/>
            <p:cNvGrpSpPr/>
            <p:nvPr/>
          </p:nvGrpSpPr>
          <p:grpSpPr>
            <a:xfrm>
              <a:off x="5219700" y="2381250"/>
              <a:ext cx="342900" cy="342900"/>
              <a:chOff x="5219700" y="2381250"/>
              <a:chExt cx="342900" cy="342900"/>
            </a:xfrm>
          </p:grpSpPr>
          <p:sp>
            <p:nvSpPr>
              <p:cNvPr id="18" name="Freeform 18"/>
              <p:cNvSpPr/>
              <p:nvPr/>
            </p:nvSpPr>
            <p:spPr>
              <a:xfrm>
                <a:off x="5381625" y="2543175"/>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38100">
                <a:solidFill>
                  <a:schemeClr val="accent2"/>
                </a:solidFill>
              </a:ln>
            </p:spPr>
          </p:sp>
          <p:sp>
            <p:nvSpPr>
              <p:cNvPr id="19" name="Freeform 19"/>
              <p:cNvSpPr/>
              <p:nvPr/>
            </p:nvSpPr>
            <p:spPr>
              <a:xfrm>
                <a:off x="5257800" y="2419350"/>
                <a:ext cx="266700" cy="266700"/>
              </a:xfrm>
              <a:custGeom>
                <a:avLst/>
                <a:gdLst/>
                <a:ahLst/>
                <a:cxnLst/>
                <a:rect l="l" t="t" r="r" b="b"/>
                <a:pathLst>
                  <a:path w="266700" h="266700">
                    <a:moveTo>
                      <a:pt x="0" y="133350"/>
                    </a:moveTo>
                    <a:cubicBezTo>
                      <a:pt x="0" y="206997"/>
                      <a:pt x="59703" y="266700"/>
                      <a:pt x="133350" y="266700"/>
                    </a:cubicBezTo>
                    <a:cubicBezTo>
                      <a:pt x="206997" y="266700"/>
                      <a:pt x="266700" y="206997"/>
                      <a:pt x="266700" y="133350"/>
                    </a:cubicBezTo>
                    <a:cubicBezTo>
                      <a:pt x="266700" y="59703"/>
                      <a:pt x="206997" y="0"/>
                      <a:pt x="133350" y="0"/>
                    </a:cubicBezTo>
                    <a:cubicBezTo>
                      <a:pt x="59703" y="0"/>
                      <a:pt x="0" y="59703"/>
                      <a:pt x="0" y="133350"/>
                    </a:cubicBezTo>
                  </a:path>
                </a:pathLst>
              </a:custGeom>
              <a:noFill/>
              <a:ln w="38100">
                <a:solidFill>
                  <a:schemeClr val="accent2"/>
                </a:solidFill>
              </a:ln>
            </p:spPr>
          </p:sp>
          <p:sp>
            <p:nvSpPr>
              <p:cNvPr id="20" name="Freeform 20"/>
              <p:cNvSpPr/>
              <p:nvPr/>
            </p:nvSpPr>
            <p:spPr>
              <a:xfrm>
                <a:off x="5391150" y="2381250"/>
                <a:ext cx="9525" cy="38100"/>
              </a:xfrm>
              <a:custGeom>
                <a:avLst/>
                <a:gdLst/>
                <a:ahLst/>
                <a:cxnLst/>
                <a:rect l="l" t="t" r="r" b="b"/>
                <a:pathLst>
                  <a:path w="9525" h="38100">
                    <a:moveTo>
                      <a:pt x="0" y="0"/>
                    </a:moveTo>
                    <a:lnTo>
                      <a:pt x="0" y="38100"/>
                    </a:lnTo>
                  </a:path>
                </a:pathLst>
              </a:custGeom>
              <a:noFill/>
              <a:ln w="38100">
                <a:solidFill>
                  <a:schemeClr val="accent2"/>
                </a:solidFill>
              </a:ln>
            </p:spPr>
          </p:sp>
          <p:sp>
            <p:nvSpPr>
              <p:cNvPr id="21" name="Freeform 21"/>
              <p:cNvSpPr/>
              <p:nvPr/>
            </p:nvSpPr>
            <p:spPr>
              <a:xfrm>
                <a:off x="5219700" y="2552700"/>
                <a:ext cx="38100" cy="9525"/>
              </a:xfrm>
              <a:custGeom>
                <a:avLst/>
                <a:gdLst/>
                <a:ahLst/>
                <a:cxnLst/>
                <a:rect l="l" t="t" r="r" b="b"/>
                <a:pathLst>
                  <a:path w="38100" h="9525">
                    <a:moveTo>
                      <a:pt x="0" y="0"/>
                    </a:moveTo>
                    <a:lnTo>
                      <a:pt x="38100" y="0"/>
                    </a:lnTo>
                  </a:path>
                </a:pathLst>
              </a:custGeom>
              <a:noFill/>
              <a:ln w="38100">
                <a:solidFill>
                  <a:schemeClr val="accent2"/>
                </a:solidFill>
              </a:ln>
            </p:spPr>
          </p:sp>
          <p:sp>
            <p:nvSpPr>
              <p:cNvPr id="22" name="Freeform 22"/>
              <p:cNvSpPr/>
              <p:nvPr/>
            </p:nvSpPr>
            <p:spPr>
              <a:xfrm>
                <a:off x="5391150" y="2686050"/>
                <a:ext cx="9525" cy="38100"/>
              </a:xfrm>
              <a:custGeom>
                <a:avLst/>
                <a:gdLst/>
                <a:ahLst/>
                <a:cxnLst/>
                <a:rect l="l" t="t" r="r" b="b"/>
                <a:pathLst>
                  <a:path w="9525" h="38100">
                    <a:moveTo>
                      <a:pt x="0" y="0"/>
                    </a:moveTo>
                    <a:lnTo>
                      <a:pt x="0" y="38100"/>
                    </a:lnTo>
                  </a:path>
                </a:pathLst>
              </a:custGeom>
              <a:noFill/>
              <a:ln w="38100">
                <a:solidFill>
                  <a:schemeClr val="accent2"/>
                </a:solidFill>
              </a:ln>
            </p:spPr>
          </p:sp>
          <p:sp>
            <p:nvSpPr>
              <p:cNvPr id="23" name="Freeform 23"/>
              <p:cNvSpPr/>
              <p:nvPr/>
            </p:nvSpPr>
            <p:spPr>
              <a:xfrm>
                <a:off x="5524500" y="2552700"/>
                <a:ext cx="38100" cy="9525"/>
              </a:xfrm>
              <a:custGeom>
                <a:avLst/>
                <a:gdLst/>
                <a:ahLst/>
                <a:cxnLst/>
                <a:rect l="l" t="t" r="r" b="b"/>
                <a:pathLst>
                  <a:path w="38100" h="9525">
                    <a:moveTo>
                      <a:pt x="0" y="0"/>
                    </a:moveTo>
                    <a:lnTo>
                      <a:pt x="38100" y="0"/>
                    </a:lnTo>
                  </a:path>
                </a:pathLst>
              </a:custGeom>
              <a:noFill/>
              <a:ln w="38100">
                <a:solidFill>
                  <a:schemeClr val="accent2"/>
                </a:solidFill>
              </a:ln>
            </p:spPr>
          </p:sp>
        </p:grpSp>
        <p:sp>
          <p:nvSpPr>
            <p:cNvPr id="25" name="TextBox 25"/>
            <p:cNvSpPr txBox="1"/>
            <p:nvPr/>
          </p:nvSpPr>
          <p:spPr>
            <a:xfrm>
              <a:off x="5834634" y="2280285"/>
              <a:ext cx="1795433"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Geometry</a:t>
              </a:r>
            </a:p>
          </p:txBody>
        </p:sp>
        <p:sp>
          <p:nvSpPr>
            <p:cNvPr id="26" name="TextBox 26"/>
            <p:cNvSpPr txBox="1"/>
            <p:nvPr/>
          </p:nvSpPr>
          <p:spPr>
            <a:xfrm>
              <a:off x="5839206" y="2739390"/>
              <a:ext cx="418813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Corner RMSE ↓ · quadrilateral IoU ↑</a:t>
              </a:r>
            </a:p>
          </p:txBody>
        </p:sp>
        <p:sp>
          <p:nvSpPr>
            <p:cNvPr id="27" name="Line 27"/>
            <p:cNvSpPr/>
            <p:nvPr/>
          </p:nvSpPr>
          <p:spPr>
            <a:xfrm>
              <a:off x="5162550" y="3200400"/>
              <a:ext cx="6229350" cy="9525"/>
            </a:xfrm>
            <a:custGeom>
              <a:avLst/>
              <a:gdLst/>
              <a:ahLst/>
              <a:cxnLst/>
              <a:rect l="l" t="t" r="r" b="b"/>
              <a:pathLst>
                <a:path w="6229350" h="9525">
                  <a:moveTo>
                    <a:pt x="0" y="0"/>
                  </a:moveTo>
                  <a:lnTo>
                    <a:pt x="6229350" y="0"/>
                  </a:lnTo>
                </a:path>
              </a:pathLst>
            </a:custGeom>
            <a:noFill/>
            <a:ln w="19050">
              <a:solidFill>
                <a:schemeClr val="accent4"/>
              </a:solidFill>
            </a:ln>
          </p:spPr>
        </p:sp>
        <p:sp>
          <p:nvSpPr>
            <p:cNvPr id="28" name="Freeform 28"/>
            <p:cNvSpPr/>
            <p:nvPr/>
          </p:nvSpPr>
          <p:spPr>
            <a:xfrm>
              <a:off x="5219700" y="3448050"/>
              <a:ext cx="342900" cy="304800"/>
            </a:xfrm>
            <a:custGeom>
              <a:avLst/>
              <a:gdLst/>
              <a:ahLst/>
              <a:cxnLst/>
              <a:rect l="l" t="t" r="r" b="b"/>
              <a:pathLst>
                <a:path w="342900" h="304800">
                  <a:moveTo>
                    <a:pt x="0" y="152400"/>
                  </a:moveTo>
                  <a:lnTo>
                    <a:pt x="76200" y="152400"/>
                  </a:lnTo>
                  <a:lnTo>
                    <a:pt x="133350" y="304800"/>
                  </a:lnTo>
                  <a:lnTo>
                    <a:pt x="209550" y="0"/>
                  </a:lnTo>
                  <a:lnTo>
                    <a:pt x="266700" y="152400"/>
                  </a:lnTo>
                  <a:lnTo>
                    <a:pt x="342900" y="152400"/>
                  </a:lnTo>
                </a:path>
              </a:pathLst>
            </a:custGeom>
            <a:noFill/>
            <a:ln w="38100">
              <a:solidFill>
                <a:schemeClr val="accent3"/>
              </a:solidFill>
            </a:ln>
          </p:spPr>
        </p:sp>
        <p:sp>
          <p:nvSpPr>
            <p:cNvPr id="29" name="TextBox 29"/>
            <p:cNvSpPr txBox="1"/>
            <p:nvPr/>
          </p:nvSpPr>
          <p:spPr>
            <a:xfrm>
              <a:off x="5834634" y="3328035"/>
              <a:ext cx="3416260"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Temporal stability</a:t>
              </a:r>
            </a:p>
          </p:txBody>
        </p:sp>
        <p:sp>
          <p:nvSpPr>
            <p:cNvPr id="30" name="TextBox 30"/>
            <p:cNvSpPr txBox="1"/>
            <p:nvPr/>
          </p:nvSpPr>
          <p:spPr>
            <a:xfrm>
              <a:off x="8734806" y="3425190"/>
              <a:ext cx="4755566"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frame-to-frame translation variation ↓</a:t>
              </a:r>
            </a:p>
          </p:txBody>
        </p:sp>
      </p:grpSp>
      <p:grpSp>
        <p:nvGrpSpPr>
          <p:cNvPr id="36" name="Group 36"/>
          <p:cNvGrpSpPr/>
          <p:nvPr/>
        </p:nvGrpSpPr>
        <p:grpSpPr>
          <a:xfrm>
            <a:off x="4895850" y="4286250"/>
            <a:ext cx="10897514" cy="1581150"/>
            <a:chOff x="4895850" y="4286250"/>
            <a:chExt cx="10897514" cy="1581150"/>
          </a:xfrm>
        </p:grpSpPr>
        <p:sp>
          <p:nvSpPr>
            <p:cNvPr id="32" name="Rectangle 32"/>
            <p:cNvSpPr/>
            <p:nvPr/>
          </p:nvSpPr>
          <p:spPr>
            <a:xfrm>
              <a:off x="4895850" y="4286250"/>
              <a:ext cx="6762750" cy="1581150"/>
            </a:xfrm>
            <a:prstGeom prst="rect">
              <a:avLst/>
            </a:prstGeom>
            <a:solidFill>
              <a:schemeClr val="lt1"/>
            </a:solidFill>
            <a:ln w="19050">
              <a:solidFill>
                <a:schemeClr val="accent4"/>
              </a:solidFill>
            </a:ln>
          </p:spPr>
        </p:sp>
        <p:sp>
          <p:nvSpPr>
            <p:cNvPr id="33" name="TextBox 33"/>
            <p:cNvSpPr txBox="1"/>
            <p:nvPr/>
          </p:nvSpPr>
          <p:spPr>
            <a:xfrm>
              <a:off x="5153406" y="4491990"/>
              <a:ext cx="7182703" cy="352044"/>
            </a:xfrm>
            <a:prstGeom prst="rect">
              <a:avLst/>
            </a:prstGeom>
            <a:noFill/>
            <a:ln>
              <a:noFill/>
            </a:ln>
          </p:spPr>
          <p:txBody>
            <a:bodyPr wrap="none" lIns="0" tIns="0" rIns="0" bIns="0" anchor="t" anchorCtr="0">
              <a:spAutoFit/>
            </a:bodyPr>
            <a:lstStyle/>
            <a:p>
              <a:pPr algn="l"/>
              <a:r>
                <a:rPr lang="en-US" sz="1800" b="1" dirty="0">
                  <a:solidFill>
                    <a:schemeClr val="dk2"/>
                  </a:solidFill>
                  <a:latin typeface="+mn-lt"/>
                  <a:ea typeface="+mn-ea"/>
                  <a:cs typeface="+mn-cs"/>
                </a:rPr>
                <a:t>SUPPORTING, BUT NOT RE-RANKED FOR PROPOSAL_BORDER</a:t>
              </a:r>
            </a:p>
          </p:txBody>
        </p:sp>
        <p:sp>
          <p:nvSpPr>
            <p:cNvPr id="34" name="TextBox 34"/>
            <p:cNvSpPr txBox="1"/>
            <p:nvPr/>
          </p:nvSpPr>
          <p:spPr>
            <a:xfrm>
              <a:off x="5150358" y="4922520"/>
              <a:ext cx="7922659"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Detail retention and frequency-domain behavior</a:t>
              </a:r>
            </a:p>
          </p:txBody>
        </p:sp>
        <p:sp>
          <p:nvSpPr>
            <p:cNvPr id="35" name="TextBox 35"/>
            <p:cNvSpPr txBox="1"/>
            <p:nvPr/>
          </p:nvSpPr>
          <p:spPr>
            <a:xfrm>
              <a:off x="5153406" y="5349240"/>
              <a:ext cx="10639958"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Shown qualitatively; no current three-method numeric claim is made on these dimensions.</a:t>
              </a:r>
            </a:p>
          </p:txBody>
        </p:sp>
      </p:grpSp>
      <p:grpSp>
        <p:nvGrpSpPr>
          <p:cNvPr id="39" name="Group 39"/>
          <p:cNvGrpSpPr/>
          <p:nvPr/>
        </p:nvGrpSpPr>
        <p:grpSpPr>
          <a:xfrm>
            <a:off x="524256" y="6153150"/>
            <a:ext cx="11134344" cy="462534"/>
            <a:chOff x="524256" y="6153150"/>
            <a:chExt cx="11134344" cy="462534"/>
          </a:xfrm>
        </p:grpSpPr>
        <p:sp>
          <p:nvSpPr>
            <p:cNvPr id="37" name="Line 37"/>
            <p:cNvSpPr/>
            <p:nvPr/>
          </p:nvSpPr>
          <p:spPr>
            <a:xfrm>
              <a:off x="533400" y="6153150"/>
              <a:ext cx="11125200" cy="9525"/>
            </a:xfrm>
            <a:custGeom>
              <a:avLst/>
              <a:gdLst/>
              <a:ahLst/>
              <a:cxnLst/>
              <a:rect l="l" t="t" r="r" b="b"/>
              <a:pathLst>
                <a:path w="11125200" h="9525">
                  <a:moveTo>
                    <a:pt x="0" y="0"/>
                  </a:moveTo>
                  <a:lnTo>
                    <a:pt x="11125200" y="0"/>
                  </a:lnTo>
                </a:path>
              </a:pathLst>
            </a:custGeom>
            <a:noFill/>
            <a:ln w="19050">
              <a:solidFill>
                <a:schemeClr val="accent1"/>
              </a:solidFill>
            </a:ln>
          </p:spPr>
        </p:sp>
        <p:sp>
          <p:nvSpPr>
            <p:cNvPr id="38" name="TextBox 38"/>
            <p:cNvSpPr txBox="1"/>
            <p:nvPr/>
          </p:nvSpPr>
          <p:spPr>
            <a:xfrm>
              <a:off x="524256" y="6263640"/>
              <a:ext cx="1025483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Evaluation priority: accurate screen geometry first, stable trajectories second.</a:t>
              </a:r>
            </a:p>
          </p:txBody>
        </p:sp>
      </p:grpSp>
      <p:sp>
        <p:nvSpPr>
          <p:cNvPr id="40" name="TextBox 40"/>
          <p:cNvSpPr txBox="1"/>
          <p:nvPr/>
        </p:nvSpPr>
        <p:spPr>
          <a:xfrm>
            <a:off x="11451831" y="648366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06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4350" y="210502"/>
            <a:ext cx="14083500" cy="1343025"/>
            <a:chOff x="514350" y="210502"/>
            <a:chExt cx="14083500" cy="1343025"/>
          </a:xfrm>
        </p:grpSpPr>
        <p:sp>
          <p:nvSpPr>
            <p:cNvPr id="2" name="TextBox 2"/>
            <p:cNvSpPr txBox="1"/>
            <p:nvPr/>
          </p:nvSpPr>
          <p:spPr>
            <a:xfrm>
              <a:off x="514350" y="210502"/>
              <a:ext cx="14083500"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The proposed method improves accuracy, overlap,</a:t>
              </a:r>
            </a:p>
          </p:txBody>
        </p:sp>
        <p:sp>
          <p:nvSpPr>
            <p:cNvPr id="3" name="TextBox 3"/>
            <p:cNvSpPr txBox="1"/>
            <p:nvPr/>
          </p:nvSpPr>
          <p:spPr>
            <a:xfrm>
              <a:off x="514350" y="762952"/>
              <a:ext cx="8424808"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and stability at the same time</a:t>
              </a:r>
            </a:p>
          </p:txBody>
        </p:sp>
      </p:grpSp>
      <p:grpSp>
        <p:nvGrpSpPr>
          <p:cNvPr id="11" name="Group 11"/>
          <p:cNvGrpSpPr/>
          <p:nvPr/>
        </p:nvGrpSpPr>
        <p:grpSpPr>
          <a:xfrm>
            <a:off x="7648575" y="1463040"/>
            <a:ext cx="4170807" cy="352044"/>
            <a:chOff x="7648575" y="1463040"/>
            <a:chExt cx="4170807" cy="352044"/>
          </a:xfrm>
        </p:grpSpPr>
        <p:sp>
          <p:nvSpPr>
            <p:cNvPr id="5" name="Ellipse 5"/>
            <p:cNvSpPr/>
            <p:nvPr/>
          </p:nvSpPr>
          <p:spPr>
            <a:xfrm>
              <a:off x="7648575" y="1514475"/>
              <a:ext cx="133350" cy="133350"/>
            </a:xfrm>
            <a:prstGeom prst="ellipse">
              <a:avLst/>
            </a:prstGeom>
            <a:solidFill>
              <a:schemeClr val="accent5"/>
            </a:solidFill>
            <a:ln>
              <a:noFill/>
            </a:ln>
          </p:spPr>
        </p:sp>
        <p:sp>
          <p:nvSpPr>
            <p:cNvPr id="6" name="TextBox 6"/>
            <p:cNvSpPr txBox="1"/>
            <p:nvPr/>
          </p:nvSpPr>
          <p:spPr>
            <a:xfrm>
              <a:off x="7858506" y="1463040"/>
              <a:ext cx="139598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Frame-wise</a:t>
              </a:r>
            </a:p>
          </p:txBody>
        </p:sp>
        <p:sp>
          <p:nvSpPr>
            <p:cNvPr id="7" name="Ellipse 7"/>
            <p:cNvSpPr/>
            <p:nvPr/>
          </p:nvSpPr>
          <p:spPr>
            <a:xfrm>
              <a:off x="9267825" y="1514475"/>
              <a:ext cx="133350" cy="133350"/>
            </a:xfrm>
            <a:prstGeom prst="ellipse">
              <a:avLst/>
            </a:prstGeom>
            <a:solidFill>
              <a:schemeClr val="dk2"/>
            </a:solidFill>
            <a:ln>
              <a:noFill/>
            </a:ln>
          </p:spPr>
        </p:sp>
        <p:sp>
          <p:nvSpPr>
            <p:cNvPr id="8" name="TextBox 8"/>
            <p:cNvSpPr txBox="1"/>
            <p:nvPr/>
          </p:nvSpPr>
          <p:spPr>
            <a:xfrm>
              <a:off x="9477756" y="1463040"/>
              <a:ext cx="147966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Optical flow</a:t>
              </a:r>
            </a:p>
          </p:txBody>
        </p:sp>
        <p:sp>
          <p:nvSpPr>
            <p:cNvPr id="9" name="Ellipse 9"/>
            <p:cNvSpPr/>
            <p:nvPr/>
          </p:nvSpPr>
          <p:spPr>
            <a:xfrm>
              <a:off x="11001375" y="1514475"/>
              <a:ext cx="133350" cy="133350"/>
            </a:xfrm>
            <a:prstGeom prst="ellipse">
              <a:avLst/>
            </a:prstGeom>
            <a:solidFill>
              <a:schemeClr val="accent2"/>
            </a:solidFill>
            <a:ln>
              <a:noFill/>
            </a:ln>
          </p:spPr>
        </p:sp>
        <p:sp>
          <p:nvSpPr>
            <p:cNvPr id="10" name="TextBox 10"/>
            <p:cNvSpPr txBox="1"/>
            <p:nvPr/>
          </p:nvSpPr>
          <p:spPr>
            <a:xfrm>
              <a:off x="11211306" y="1463040"/>
              <a:ext cx="60807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n-lt"/>
                  <a:ea typeface="+mn-ea"/>
                  <a:cs typeface="+mn-cs"/>
                </a:rPr>
                <a:t>Ours</a:t>
              </a:r>
            </a:p>
          </p:txBody>
        </p:sp>
      </p:grpSp>
      <p:grpSp>
        <p:nvGrpSpPr>
          <p:cNvPr id="23" name="Group 23"/>
          <p:cNvGrpSpPr/>
          <p:nvPr/>
        </p:nvGrpSpPr>
        <p:grpSpPr>
          <a:xfrm>
            <a:off x="533400" y="1962150"/>
            <a:ext cx="4346753" cy="3676650"/>
            <a:chOff x="533400" y="1962150"/>
            <a:chExt cx="4346753" cy="3676650"/>
          </a:xfrm>
        </p:grpSpPr>
        <p:sp>
          <p:nvSpPr>
            <p:cNvPr id="12" name="Rectangle 12"/>
            <p:cNvSpPr/>
            <p:nvPr/>
          </p:nvSpPr>
          <p:spPr>
            <a:xfrm>
              <a:off x="533400" y="1962150"/>
              <a:ext cx="3429000" cy="3676650"/>
            </a:xfrm>
            <a:prstGeom prst="rect">
              <a:avLst/>
            </a:prstGeom>
            <a:solidFill>
              <a:schemeClr val="lt2"/>
            </a:solidFill>
            <a:ln w="19050">
              <a:solidFill>
                <a:schemeClr val="accent4"/>
              </a:solidFill>
            </a:ln>
          </p:spPr>
        </p:sp>
        <p:sp>
          <p:nvSpPr>
            <p:cNvPr id="13" name="TextBox 13"/>
            <p:cNvSpPr txBox="1"/>
            <p:nvPr/>
          </p:nvSpPr>
          <p:spPr>
            <a:xfrm>
              <a:off x="787908" y="2141220"/>
              <a:ext cx="2413963"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Corner RMSE ↓</a:t>
              </a:r>
            </a:p>
          </p:txBody>
        </p:sp>
        <p:sp>
          <p:nvSpPr>
            <p:cNvPr id="14" name="TextBox 14"/>
            <p:cNvSpPr txBox="1"/>
            <p:nvPr/>
          </p:nvSpPr>
          <p:spPr>
            <a:xfrm>
              <a:off x="781050" y="2644140"/>
              <a:ext cx="2480645"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3.87 px</a:t>
              </a:r>
            </a:p>
          </p:txBody>
        </p:sp>
        <p:sp>
          <p:nvSpPr>
            <p:cNvPr id="15" name="TextBox 15"/>
            <p:cNvSpPr txBox="1"/>
            <p:nvPr/>
          </p:nvSpPr>
          <p:spPr>
            <a:xfrm>
              <a:off x="790956" y="3348990"/>
              <a:ext cx="4089197"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87% lower than the best baseline</a:t>
              </a:r>
            </a:p>
          </p:txBody>
        </p:sp>
        <p:sp>
          <p:nvSpPr>
            <p:cNvPr id="16" name="Line 16"/>
            <p:cNvSpPr/>
            <p:nvPr/>
          </p:nvSpPr>
          <p:spPr>
            <a:xfrm>
              <a:off x="800100" y="3943350"/>
              <a:ext cx="2838450" cy="9525"/>
            </a:xfrm>
            <a:custGeom>
              <a:avLst/>
              <a:gdLst/>
              <a:ahLst/>
              <a:cxnLst/>
              <a:rect l="l" t="t" r="r" b="b"/>
              <a:pathLst>
                <a:path w="2838450" h="9525">
                  <a:moveTo>
                    <a:pt x="0" y="0"/>
                  </a:moveTo>
                  <a:lnTo>
                    <a:pt x="2838450" y="0"/>
                  </a:lnTo>
                </a:path>
              </a:pathLst>
            </a:custGeom>
            <a:noFill/>
            <a:ln w="19050">
              <a:solidFill>
                <a:schemeClr val="accent4"/>
              </a:solidFill>
            </a:ln>
          </p:spPr>
        </p:sp>
        <p:sp>
          <p:nvSpPr>
            <p:cNvPr id="17" name="TextBox 17"/>
            <p:cNvSpPr txBox="1"/>
            <p:nvPr/>
          </p:nvSpPr>
          <p:spPr>
            <a:xfrm>
              <a:off x="790956" y="4149090"/>
              <a:ext cx="139598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Frame-wise</a:t>
              </a:r>
            </a:p>
          </p:txBody>
        </p:sp>
        <p:sp>
          <p:nvSpPr>
            <p:cNvPr id="18" name="TextBox 18"/>
            <p:cNvSpPr txBox="1"/>
            <p:nvPr/>
          </p:nvSpPr>
          <p:spPr>
            <a:xfrm>
              <a:off x="2693441" y="4084320"/>
              <a:ext cx="957301" cy="469392"/>
            </a:xfrm>
            <a:prstGeom prst="rect">
              <a:avLst/>
            </a:prstGeom>
            <a:noFill/>
            <a:ln>
              <a:noFill/>
            </a:ln>
          </p:spPr>
          <p:txBody>
            <a:bodyPr wrap="none" lIns="0" tIns="0" rIns="0" bIns="0" anchor="t" anchorCtr="0">
              <a:spAutoFit/>
            </a:bodyPr>
            <a:lstStyle/>
            <a:p>
              <a:pPr algn="r"/>
              <a:r>
                <a:rPr lang="en-US" sz="2400" b="1" dirty="0">
                  <a:solidFill>
                    <a:srgbClr val="9AA4B2"/>
                  </a:solidFill>
                  <a:latin typeface="+mn-lt"/>
                  <a:ea typeface="+mn-ea"/>
                  <a:cs typeface="+mn-cs"/>
                </a:rPr>
                <a:t>30.37</a:t>
              </a:r>
            </a:p>
          </p:txBody>
        </p:sp>
        <p:sp>
          <p:nvSpPr>
            <p:cNvPr id="19" name="TextBox 19"/>
            <p:cNvSpPr txBox="1"/>
            <p:nvPr/>
          </p:nvSpPr>
          <p:spPr>
            <a:xfrm>
              <a:off x="790956" y="4625340"/>
              <a:ext cx="147966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Optical flow</a:t>
              </a:r>
            </a:p>
          </p:txBody>
        </p:sp>
        <p:sp>
          <p:nvSpPr>
            <p:cNvPr id="20" name="TextBox 20"/>
            <p:cNvSpPr txBox="1"/>
            <p:nvPr/>
          </p:nvSpPr>
          <p:spPr>
            <a:xfrm>
              <a:off x="2693441" y="4560570"/>
              <a:ext cx="957301" cy="469392"/>
            </a:xfrm>
            <a:prstGeom prst="rect">
              <a:avLst/>
            </a:prstGeom>
            <a:noFill/>
            <a:ln>
              <a:noFill/>
            </a:ln>
          </p:spPr>
          <p:txBody>
            <a:bodyPr wrap="none" lIns="0" tIns="0" rIns="0" bIns="0" anchor="t" anchorCtr="0">
              <a:spAutoFit/>
            </a:bodyPr>
            <a:lstStyle/>
            <a:p>
              <a:pPr algn="r"/>
              <a:r>
                <a:rPr lang="en-US" sz="2400" b="1" dirty="0">
                  <a:solidFill>
                    <a:schemeClr val="dk2"/>
                  </a:solidFill>
                  <a:latin typeface="+mn-lt"/>
                  <a:ea typeface="+mn-ea"/>
                  <a:cs typeface="+mn-cs"/>
                </a:rPr>
                <a:t>31.40</a:t>
              </a:r>
            </a:p>
          </p:txBody>
        </p:sp>
        <p:sp>
          <p:nvSpPr>
            <p:cNvPr id="21" name="TextBox 21"/>
            <p:cNvSpPr txBox="1"/>
            <p:nvPr/>
          </p:nvSpPr>
          <p:spPr>
            <a:xfrm>
              <a:off x="790956" y="5101590"/>
              <a:ext cx="1145709"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Proposed</a:t>
              </a:r>
            </a:p>
          </p:txBody>
        </p:sp>
        <p:sp>
          <p:nvSpPr>
            <p:cNvPr id="22" name="TextBox 22"/>
            <p:cNvSpPr txBox="1"/>
            <p:nvPr/>
          </p:nvSpPr>
          <p:spPr>
            <a:xfrm>
              <a:off x="2880025" y="5036820"/>
              <a:ext cx="770717" cy="469392"/>
            </a:xfrm>
            <a:prstGeom prst="rect">
              <a:avLst/>
            </a:prstGeom>
            <a:noFill/>
            <a:ln>
              <a:noFill/>
            </a:ln>
          </p:spPr>
          <p:txBody>
            <a:bodyPr wrap="none" lIns="0" tIns="0" rIns="0" bIns="0" anchor="t" anchorCtr="0">
              <a:spAutoFit/>
            </a:bodyPr>
            <a:lstStyle/>
            <a:p>
              <a:pPr algn="r"/>
              <a:r>
                <a:rPr lang="en-US" sz="2400" b="1" dirty="0">
                  <a:solidFill>
                    <a:schemeClr val="accent2"/>
                  </a:solidFill>
                  <a:latin typeface="+mn-lt"/>
                  <a:ea typeface="+mn-ea"/>
                  <a:cs typeface="+mn-cs"/>
                </a:rPr>
                <a:t>3.87</a:t>
              </a:r>
            </a:p>
          </p:txBody>
        </p:sp>
      </p:grpSp>
      <p:grpSp>
        <p:nvGrpSpPr>
          <p:cNvPr id="35" name="Group 35"/>
          <p:cNvGrpSpPr/>
          <p:nvPr/>
        </p:nvGrpSpPr>
        <p:grpSpPr>
          <a:xfrm>
            <a:off x="4381500" y="1962150"/>
            <a:ext cx="3952384" cy="3676650"/>
            <a:chOff x="4381500" y="1962150"/>
            <a:chExt cx="3952384" cy="3676650"/>
          </a:xfrm>
        </p:grpSpPr>
        <p:sp>
          <p:nvSpPr>
            <p:cNvPr id="24" name="Rectangle 24"/>
            <p:cNvSpPr/>
            <p:nvPr/>
          </p:nvSpPr>
          <p:spPr>
            <a:xfrm>
              <a:off x="4381500" y="1962150"/>
              <a:ext cx="3429000" cy="3676650"/>
            </a:xfrm>
            <a:prstGeom prst="rect">
              <a:avLst/>
            </a:prstGeom>
            <a:solidFill>
              <a:schemeClr val="lt1"/>
            </a:solidFill>
            <a:ln w="19050">
              <a:solidFill>
                <a:schemeClr val="accent4"/>
              </a:solidFill>
            </a:ln>
          </p:spPr>
        </p:sp>
        <p:sp>
          <p:nvSpPr>
            <p:cNvPr id="25" name="TextBox 25"/>
            <p:cNvSpPr txBox="1"/>
            <p:nvPr/>
          </p:nvSpPr>
          <p:spPr>
            <a:xfrm>
              <a:off x="4636008" y="2141220"/>
              <a:ext cx="3161396"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Quadrilateral IoU ↑</a:t>
              </a:r>
            </a:p>
          </p:txBody>
        </p:sp>
        <p:sp>
          <p:nvSpPr>
            <p:cNvPr id="26" name="TextBox 26"/>
            <p:cNvSpPr txBox="1"/>
            <p:nvPr/>
          </p:nvSpPr>
          <p:spPr>
            <a:xfrm>
              <a:off x="4629150" y="2644140"/>
              <a:ext cx="1903933"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0.996</a:t>
              </a:r>
            </a:p>
          </p:txBody>
        </p:sp>
        <p:sp>
          <p:nvSpPr>
            <p:cNvPr id="27" name="TextBox 27"/>
            <p:cNvSpPr txBox="1"/>
            <p:nvPr/>
          </p:nvSpPr>
          <p:spPr>
            <a:xfrm>
              <a:off x="4639056" y="3348990"/>
              <a:ext cx="3694828"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+0.016 over the best baseline</a:t>
              </a:r>
            </a:p>
          </p:txBody>
        </p:sp>
        <p:sp>
          <p:nvSpPr>
            <p:cNvPr id="28" name="Line 28"/>
            <p:cNvSpPr/>
            <p:nvPr/>
          </p:nvSpPr>
          <p:spPr>
            <a:xfrm>
              <a:off x="4648200" y="3943350"/>
              <a:ext cx="2838450" cy="9525"/>
            </a:xfrm>
            <a:custGeom>
              <a:avLst/>
              <a:gdLst/>
              <a:ahLst/>
              <a:cxnLst/>
              <a:rect l="l" t="t" r="r" b="b"/>
              <a:pathLst>
                <a:path w="2838450" h="9525">
                  <a:moveTo>
                    <a:pt x="0" y="0"/>
                  </a:moveTo>
                  <a:lnTo>
                    <a:pt x="2838450" y="0"/>
                  </a:lnTo>
                </a:path>
              </a:pathLst>
            </a:custGeom>
            <a:noFill/>
            <a:ln w="19050">
              <a:solidFill>
                <a:schemeClr val="accent4"/>
              </a:solidFill>
            </a:ln>
          </p:spPr>
        </p:sp>
        <p:sp>
          <p:nvSpPr>
            <p:cNvPr id="29" name="TextBox 29"/>
            <p:cNvSpPr txBox="1"/>
            <p:nvPr/>
          </p:nvSpPr>
          <p:spPr>
            <a:xfrm>
              <a:off x="4639056" y="4149090"/>
              <a:ext cx="139598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Frame-wise</a:t>
              </a:r>
            </a:p>
          </p:txBody>
        </p:sp>
        <p:sp>
          <p:nvSpPr>
            <p:cNvPr id="30" name="TextBox 30"/>
            <p:cNvSpPr txBox="1"/>
            <p:nvPr/>
          </p:nvSpPr>
          <p:spPr>
            <a:xfrm>
              <a:off x="6541541" y="4084320"/>
              <a:ext cx="957301" cy="469392"/>
            </a:xfrm>
            <a:prstGeom prst="rect">
              <a:avLst/>
            </a:prstGeom>
            <a:noFill/>
            <a:ln>
              <a:noFill/>
            </a:ln>
          </p:spPr>
          <p:txBody>
            <a:bodyPr wrap="none" lIns="0" tIns="0" rIns="0" bIns="0" anchor="t" anchorCtr="0">
              <a:spAutoFit/>
            </a:bodyPr>
            <a:lstStyle/>
            <a:p>
              <a:pPr algn="r"/>
              <a:r>
                <a:rPr lang="en-US" sz="2400" b="1" dirty="0">
                  <a:solidFill>
                    <a:srgbClr val="9AA4B2"/>
                  </a:solidFill>
                  <a:latin typeface="+mn-lt"/>
                  <a:ea typeface="+mn-ea"/>
                  <a:cs typeface="+mn-cs"/>
                </a:rPr>
                <a:t>0.980</a:t>
              </a:r>
            </a:p>
          </p:txBody>
        </p:sp>
        <p:sp>
          <p:nvSpPr>
            <p:cNvPr id="31" name="TextBox 31"/>
            <p:cNvSpPr txBox="1"/>
            <p:nvPr/>
          </p:nvSpPr>
          <p:spPr>
            <a:xfrm>
              <a:off x="4639056" y="4625340"/>
              <a:ext cx="147966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Optical flow</a:t>
              </a:r>
            </a:p>
          </p:txBody>
        </p:sp>
        <p:sp>
          <p:nvSpPr>
            <p:cNvPr id="32" name="TextBox 32"/>
            <p:cNvSpPr txBox="1"/>
            <p:nvPr/>
          </p:nvSpPr>
          <p:spPr>
            <a:xfrm>
              <a:off x="6541541" y="4560570"/>
              <a:ext cx="957301" cy="469392"/>
            </a:xfrm>
            <a:prstGeom prst="rect">
              <a:avLst/>
            </a:prstGeom>
            <a:noFill/>
            <a:ln>
              <a:noFill/>
            </a:ln>
          </p:spPr>
          <p:txBody>
            <a:bodyPr wrap="none" lIns="0" tIns="0" rIns="0" bIns="0" anchor="t" anchorCtr="0">
              <a:spAutoFit/>
            </a:bodyPr>
            <a:lstStyle/>
            <a:p>
              <a:pPr algn="r"/>
              <a:r>
                <a:rPr lang="en-US" sz="2400" b="1" dirty="0">
                  <a:solidFill>
                    <a:schemeClr val="dk2"/>
                  </a:solidFill>
                  <a:latin typeface="+mn-lt"/>
                  <a:ea typeface="+mn-ea"/>
                  <a:cs typeface="+mn-cs"/>
                </a:rPr>
                <a:t>0.979</a:t>
              </a:r>
            </a:p>
          </p:txBody>
        </p:sp>
        <p:sp>
          <p:nvSpPr>
            <p:cNvPr id="33" name="TextBox 33"/>
            <p:cNvSpPr txBox="1"/>
            <p:nvPr/>
          </p:nvSpPr>
          <p:spPr>
            <a:xfrm>
              <a:off x="4639056" y="5101590"/>
              <a:ext cx="1145709"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Proposed</a:t>
              </a:r>
            </a:p>
          </p:txBody>
        </p:sp>
        <p:sp>
          <p:nvSpPr>
            <p:cNvPr id="34" name="TextBox 34"/>
            <p:cNvSpPr txBox="1"/>
            <p:nvPr/>
          </p:nvSpPr>
          <p:spPr>
            <a:xfrm>
              <a:off x="6541541" y="5036820"/>
              <a:ext cx="957301" cy="469392"/>
            </a:xfrm>
            <a:prstGeom prst="rect">
              <a:avLst/>
            </a:prstGeom>
            <a:noFill/>
            <a:ln>
              <a:noFill/>
            </a:ln>
          </p:spPr>
          <p:txBody>
            <a:bodyPr wrap="none" lIns="0" tIns="0" rIns="0" bIns="0" anchor="t" anchorCtr="0">
              <a:spAutoFit/>
            </a:bodyPr>
            <a:lstStyle/>
            <a:p>
              <a:pPr algn="r"/>
              <a:r>
                <a:rPr lang="en-US" sz="2400" b="1" dirty="0">
                  <a:solidFill>
                    <a:schemeClr val="accent2"/>
                  </a:solidFill>
                  <a:latin typeface="+mn-lt"/>
                  <a:ea typeface="+mn-ea"/>
                  <a:cs typeface="+mn-cs"/>
                </a:rPr>
                <a:t>0.996</a:t>
              </a:r>
            </a:p>
          </p:txBody>
        </p:sp>
      </p:grpSp>
      <p:grpSp>
        <p:nvGrpSpPr>
          <p:cNvPr id="47" name="Group 47"/>
          <p:cNvGrpSpPr/>
          <p:nvPr/>
        </p:nvGrpSpPr>
        <p:grpSpPr>
          <a:xfrm>
            <a:off x="8229600" y="1962150"/>
            <a:ext cx="4346753" cy="3676650"/>
            <a:chOff x="8229600" y="1962150"/>
            <a:chExt cx="4346753" cy="3676650"/>
          </a:xfrm>
        </p:grpSpPr>
        <p:sp>
          <p:nvSpPr>
            <p:cNvPr id="36" name="Rectangle 36"/>
            <p:cNvSpPr/>
            <p:nvPr/>
          </p:nvSpPr>
          <p:spPr>
            <a:xfrm>
              <a:off x="8229600" y="1962150"/>
              <a:ext cx="3429000" cy="3676650"/>
            </a:xfrm>
            <a:prstGeom prst="rect">
              <a:avLst/>
            </a:prstGeom>
            <a:solidFill>
              <a:schemeClr val="lt2"/>
            </a:solidFill>
            <a:ln w="19050">
              <a:solidFill>
                <a:schemeClr val="accent4"/>
              </a:solidFill>
            </a:ln>
          </p:spPr>
        </p:sp>
        <p:sp>
          <p:nvSpPr>
            <p:cNvPr id="37" name="TextBox 37"/>
            <p:cNvSpPr txBox="1"/>
            <p:nvPr/>
          </p:nvSpPr>
          <p:spPr>
            <a:xfrm>
              <a:off x="8484108" y="2141220"/>
              <a:ext cx="3817642"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Translation variation ↓</a:t>
              </a:r>
            </a:p>
          </p:txBody>
        </p:sp>
        <p:sp>
          <p:nvSpPr>
            <p:cNvPr id="38" name="TextBox 38"/>
            <p:cNvSpPr txBox="1"/>
            <p:nvPr/>
          </p:nvSpPr>
          <p:spPr>
            <a:xfrm>
              <a:off x="8477250" y="2644140"/>
              <a:ext cx="1530767"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2.45</a:t>
              </a:r>
            </a:p>
          </p:txBody>
        </p:sp>
        <p:sp>
          <p:nvSpPr>
            <p:cNvPr id="39" name="TextBox 39"/>
            <p:cNvSpPr txBox="1"/>
            <p:nvPr/>
          </p:nvSpPr>
          <p:spPr>
            <a:xfrm>
              <a:off x="8487156" y="3348990"/>
              <a:ext cx="4089197"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13% lower than the best baseline</a:t>
              </a:r>
            </a:p>
          </p:txBody>
        </p:sp>
        <p:sp>
          <p:nvSpPr>
            <p:cNvPr id="40" name="Line 40"/>
            <p:cNvSpPr/>
            <p:nvPr/>
          </p:nvSpPr>
          <p:spPr>
            <a:xfrm>
              <a:off x="8496300" y="3943350"/>
              <a:ext cx="2838450" cy="9525"/>
            </a:xfrm>
            <a:custGeom>
              <a:avLst/>
              <a:gdLst/>
              <a:ahLst/>
              <a:cxnLst/>
              <a:rect l="l" t="t" r="r" b="b"/>
              <a:pathLst>
                <a:path w="2838450" h="9525">
                  <a:moveTo>
                    <a:pt x="0" y="0"/>
                  </a:moveTo>
                  <a:lnTo>
                    <a:pt x="2838450" y="0"/>
                  </a:lnTo>
                </a:path>
              </a:pathLst>
            </a:custGeom>
            <a:noFill/>
            <a:ln w="19050">
              <a:solidFill>
                <a:schemeClr val="accent4"/>
              </a:solidFill>
            </a:ln>
          </p:spPr>
        </p:sp>
        <p:sp>
          <p:nvSpPr>
            <p:cNvPr id="41" name="TextBox 41"/>
            <p:cNvSpPr txBox="1"/>
            <p:nvPr/>
          </p:nvSpPr>
          <p:spPr>
            <a:xfrm>
              <a:off x="8487156" y="4149090"/>
              <a:ext cx="139598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Frame-wise</a:t>
              </a:r>
            </a:p>
          </p:txBody>
        </p:sp>
        <p:sp>
          <p:nvSpPr>
            <p:cNvPr id="42" name="TextBox 42"/>
            <p:cNvSpPr txBox="1"/>
            <p:nvPr/>
          </p:nvSpPr>
          <p:spPr>
            <a:xfrm>
              <a:off x="10576225" y="4084320"/>
              <a:ext cx="770717" cy="469392"/>
            </a:xfrm>
            <a:prstGeom prst="rect">
              <a:avLst/>
            </a:prstGeom>
            <a:noFill/>
            <a:ln>
              <a:noFill/>
            </a:ln>
          </p:spPr>
          <p:txBody>
            <a:bodyPr wrap="none" lIns="0" tIns="0" rIns="0" bIns="0" anchor="t" anchorCtr="0">
              <a:spAutoFit/>
            </a:bodyPr>
            <a:lstStyle/>
            <a:p>
              <a:pPr algn="r"/>
              <a:r>
                <a:rPr lang="en-US" sz="2400" b="1" dirty="0">
                  <a:solidFill>
                    <a:srgbClr val="9AA4B2"/>
                  </a:solidFill>
                  <a:latin typeface="+mn-lt"/>
                  <a:ea typeface="+mn-ea"/>
                  <a:cs typeface="+mn-cs"/>
                </a:rPr>
                <a:t>2.83</a:t>
              </a:r>
            </a:p>
          </p:txBody>
        </p:sp>
        <p:sp>
          <p:nvSpPr>
            <p:cNvPr id="43" name="TextBox 43"/>
            <p:cNvSpPr txBox="1"/>
            <p:nvPr/>
          </p:nvSpPr>
          <p:spPr>
            <a:xfrm>
              <a:off x="8487156" y="4625340"/>
              <a:ext cx="147966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Optical flow</a:t>
              </a:r>
            </a:p>
          </p:txBody>
        </p:sp>
        <p:sp>
          <p:nvSpPr>
            <p:cNvPr id="44" name="TextBox 44"/>
            <p:cNvSpPr txBox="1"/>
            <p:nvPr/>
          </p:nvSpPr>
          <p:spPr>
            <a:xfrm>
              <a:off x="10576225" y="4560570"/>
              <a:ext cx="770717" cy="469392"/>
            </a:xfrm>
            <a:prstGeom prst="rect">
              <a:avLst/>
            </a:prstGeom>
            <a:noFill/>
            <a:ln>
              <a:noFill/>
            </a:ln>
          </p:spPr>
          <p:txBody>
            <a:bodyPr wrap="none" lIns="0" tIns="0" rIns="0" bIns="0" anchor="t" anchorCtr="0">
              <a:spAutoFit/>
            </a:bodyPr>
            <a:lstStyle/>
            <a:p>
              <a:pPr algn="r"/>
              <a:r>
                <a:rPr lang="en-US" sz="2400" b="1" dirty="0">
                  <a:solidFill>
                    <a:schemeClr val="dk2"/>
                  </a:solidFill>
                  <a:latin typeface="+mn-lt"/>
                  <a:ea typeface="+mn-ea"/>
                  <a:cs typeface="+mn-cs"/>
                </a:rPr>
                <a:t>4.13</a:t>
              </a:r>
            </a:p>
          </p:txBody>
        </p:sp>
        <p:sp>
          <p:nvSpPr>
            <p:cNvPr id="45" name="TextBox 45"/>
            <p:cNvSpPr txBox="1"/>
            <p:nvPr/>
          </p:nvSpPr>
          <p:spPr>
            <a:xfrm>
              <a:off x="8487156" y="5101590"/>
              <a:ext cx="1145709"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Proposed</a:t>
              </a:r>
            </a:p>
          </p:txBody>
        </p:sp>
        <p:sp>
          <p:nvSpPr>
            <p:cNvPr id="46" name="TextBox 46"/>
            <p:cNvSpPr txBox="1"/>
            <p:nvPr/>
          </p:nvSpPr>
          <p:spPr>
            <a:xfrm>
              <a:off x="10576225" y="5036820"/>
              <a:ext cx="770717" cy="469392"/>
            </a:xfrm>
            <a:prstGeom prst="rect">
              <a:avLst/>
            </a:prstGeom>
            <a:noFill/>
            <a:ln>
              <a:noFill/>
            </a:ln>
          </p:spPr>
          <p:txBody>
            <a:bodyPr wrap="none" lIns="0" tIns="0" rIns="0" bIns="0" anchor="t" anchorCtr="0">
              <a:spAutoFit/>
            </a:bodyPr>
            <a:lstStyle/>
            <a:p>
              <a:pPr algn="r"/>
              <a:r>
                <a:rPr lang="en-US" sz="2400" b="1" dirty="0">
                  <a:solidFill>
                    <a:schemeClr val="accent2"/>
                  </a:solidFill>
                  <a:latin typeface="+mn-lt"/>
                  <a:ea typeface="+mn-ea"/>
                  <a:cs typeface="+mn-cs"/>
                </a:rPr>
                <a:t>2.45</a:t>
              </a:r>
            </a:p>
          </p:txBody>
        </p:sp>
      </p:grpSp>
      <p:grpSp>
        <p:nvGrpSpPr>
          <p:cNvPr id="50" name="Group 50"/>
          <p:cNvGrpSpPr/>
          <p:nvPr/>
        </p:nvGrpSpPr>
        <p:grpSpPr>
          <a:xfrm>
            <a:off x="521208" y="5962650"/>
            <a:ext cx="11137392" cy="591312"/>
            <a:chOff x="521208" y="5962650"/>
            <a:chExt cx="11137392" cy="591312"/>
          </a:xfrm>
        </p:grpSpPr>
        <p:sp>
          <p:nvSpPr>
            <p:cNvPr id="48" name="Line 48"/>
            <p:cNvSpPr/>
            <p:nvPr/>
          </p:nvSpPr>
          <p:spPr>
            <a:xfrm>
              <a:off x="533400" y="5962650"/>
              <a:ext cx="11125200" cy="9525"/>
            </a:xfrm>
            <a:custGeom>
              <a:avLst/>
              <a:gdLst/>
              <a:ahLst/>
              <a:cxnLst/>
              <a:rect l="l" t="t" r="r" b="b"/>
              <a:pathLst>
                <a:path w="11125200" h="9525">
                  <a:moveTo>
                    <a:pt x="0" y="0"/>
                  </a:moveTo>
                  <a:lnTo>
                    <a:pt x="11125200" y="0"/>
                  </a:lnTo>
                </a:path>
              </a:pathLst>
            </a:custGeom>
            <a:noFill/>
            <a:ln w="38100">
              <a:solidFill>
                <a:schemeClr val="accent2"/>
              </a:solidFill>
            </a:ln>
          </p:spPr>
        </p:sp>
        <p:sp>
          <p:nvSpPr>
            <p:cNvPr id="49" name="TextBox 49"/>
            <p:cNvSpPr txBox="1"/>
            <p:nvPr/>
          </p:nvSpPr>
          <p:spPr>
            <a:xfrm>
              <a:off x="521208" y="6084570"/>
              <a:ext cx="10704952"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One border-driven trajectory wins all three aggregate metrics.</a:t>
              </a:r>
            </a:p>
          </p:txBody>
        </p:sp>
      </p:grpSp>
      <p:sp>
        <p:nvSpPr>
          <p:cNvPr id="51" name="TextBox 51"/>
          <p:cNvSpPr txBox="1"/>
          <p:nvPr/>
        </p:nvSpPr>
        <p:spPr>
          <a:xfrm>
            <a:off x="11451831" y="648366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07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4350" y="210502"/>
            <a:ext cx="16257760" cy="1014032"/>
            <a:chOff x="514350" y="210502"/>
            <a:chExt cx="16257760" cy="1014032"/>
          </a:xfrm>
        </p:grpSpPr>
        <p:sp>
          <p:nvSpPr>
            <p:cNvPr id="2" name="TextBox 2"/>
            <p:cNvSpPr txBox="1"/>
            <p:nvPr/>
          </p:nvSpPr>
          <p:spPr>
            <a:xfrm>
              <a:off x="514350" y="210502"/>
              <a:ext cx="16257760"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The largest gains appear under scrolling and weak borders</a:t>
              </a:r>
            </a:p>
          </p:txBody>
        </p:sp>
        <p:sp>
          <p:nvSpPr>
            <p:cNvPr id="3" name="TextBox 3"/>
            <p:cNvSpPr txBox="1"/>
            <p:nvPr/>
          </p:nvSpPr>
          <p:spPr>
            <a:xfrm>
              <a:off x="524256" y="872490"/>
              <a:ext cx="4627646"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Corner RMSE in pixels · lower is better</a:t>
              </a:r>
            </a:p>
          </p:txBody>
        </p:sp>
      </p:grpSp>
      <p:grpSp>
        <p:nvGrpSpPr>
          <p:cNvPr id="11" name="Group 11"/>
          <p:cNvGrpSpPr/>
          <p:nvPr/>
        </p:nvGrpSpPr>
        <p:grpSpPr>
          <a:xfrm>
            <a:off x="5905500" y="853440"/>
            <a:ext cx="4778578" cy="352044"/>
            <a:chOff x="5905500" y="853440"/>
            <a:chExt cx="4778578" cy="352044"/>
          </a:xfrm>
        </p:grpSpPr>
        <p:sp>
          <p:nvSpPr>
            <p:cNvPr id="5" name="Rectangle 5"/>
            <p:cNvSpPr/>
            <p:nvPr/>
          </p:nvSpPr>
          <p:spPr>
            <a:xfrm>
              <a:off x="5905500" y="895350"/>
              <a:ext cx="171450" cy="171450"/>
            </a:xfrm>
            <a:prstGeom prst="rect">
              <a:avLst/>
            </a:prstGeom>
            <a:solidFill>
              <a:schemeClr val="accent5"/>
            </a:solidFill>
            <a:ln>
              <a:noFill/>
            </a:ln>
          </p:spPr>
        </p:sp>
        <p:sp>
          <p:nvSpPr>
            <p:cNvPr id="6" name="TextBox 6"/>
            <p:cNvSpPr txBox="1"/>
            <p:nvPr/>
          </p:nvSpPr>
          <p:spPr>
            <a:xfrm>
              <a:off x="6182106" y="853440"/>
              <a:ext cx="139598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Frame-wise</a:t>
              </a:r>
            </a:p>
          </p:txBody>
        </p:sp>
        <p:sp>
          <p:nvSpPr>
            <p:cNvPr id="7" name="Rectangle 7"/>
            <p:cNvSpPr/>
            <p:nvPr/>
          </p:nvSpPr>
          <p:spPr>
            <a:xfrm>
              <a:off x="7581900" y="895350"/>
              <a:ext cx="171450" cy="171450"/>
            </a:xfrm>
            <a:prstGeom prst="rect">
              <a:avLst/>
            </a:prstGeom>
            <a:solidFill>
              <a:schemeClr val="dk2"/>
            </a:solidFill>
            <a:ln>
              <a:noFill/>
            </a:ln>
          </p:spPr>
        </p:sp>
        <p:sp>
          <p:nvSpPr>
            <p:cNvPr id="8" name="TextBox 8"/>
            <p:cNvSpPr txBox="1"/>
            <p:nvPr/>
          </p:nvSpPr>
          <p:spPr>
            <a:xfrm>
              <a:off x="7858506" y="853440"/>
              <a:ext cx="147966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Optical flow</a:t>
              </a:r>
            </a:p>
          </p:txBody>
        </p:sp>
        <p:sp>
          <p:nvSpPr>
            <p:cNvPr id="9" name="Rectangle 9"/>
            <p:cNvSpPr/>
            <p:nvPr/>
          </p:nvSpPr>
          <p:spPr>
            <a:xfrm>
              <a:off x="9315450" y="895350"/>
              <a:ext cx="171450" cy="171450"/>
            </a:xfrm>
            <a:prstGeom prst="rect">
              <a:avLst/>
            </a:prstGeom>
            <a:solidFill>
              <a:schemeClr val="accent2"/>
            </a:solidFill>
            <a:ln>
              <a:noFill/>
            </a:ln>
          </p:spPr>
        </p:sp>
        <p:sp>
          <p:nvSpPr>
            <p:cNvPr id="10" name="TextBox 10"/>
            <p:cNvSpPr txBox="1"/>
            <p:nvPr/>
          </p:nvSpPr>
          <p:spPr>
            <a:xfrm>
              <a:off x="9592056" y="853440"/>
              <a:ext cx="109202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n-lt"/>
                  <a:ea typeface="+mn-ea"/>
                  <a:cs typeface="+mn-cs"/>
                </a:rPr>
                <a:t>Proposed</a:t>
              </a:r>
            </a:p>
          </p:txBody>
        </p:sp>
      </p:grpSp>
      <p:grpSp>
        <p:nvGrpSpPr>
          <p:cNvPr id="38" name="Group 38"/>
          <p:cNvGrpSpPr/>
          <p:nvPr/>
        </p:nvGrpSpPr>
        <p:grpSpPr>
          <a:xfrm>
            <a:off x="588626" y="1797368"/>
            <a:ext cx="7698124" cy="4132516"/>
            <a:chOff x="588626" y="1797368"/>
            <a:chExt cx="7698124" cy="4132516"/>
          </a:xfrm>
        </p:grpSpPr>
        <p:grpSp>
          <p:nvGrpSpPr>
            <p:cNvPr id="37" name="Group 37"/>
            <p:cNvGrpSpPr/>
            <p:nvPr/>
          </p:nvGrpSpPr>
          <p:grpSpPr>
            <a:xfrm>
              <a:off x="588626" y="1797368"/>
              <a:ext cx="7698124" cy="4132516"/>
              <a:chOff x="588626" y="1797368"/>
              <a:chExt cx="7698124" cy="4132516"/>
            </a:xfrm>
          </p:grpSpPr>
          <p:sp>
            <p:nvSpPr>
              <p:cNvPr id="12" name="Line 12"/>
              <p:cNvSpPr/>
              <p:nvPr/>
            </p:nvSpPr>
            <p:spPr>
              <a:xfrm>
                <a:off x="1047750" y="5429250"/>
                <a:ext cx="7239000" cy="9525"/>
              </a:xfrm>
              <a:custGeom>
                <a:avLst/>
                <a:gdLst/>
                <a:ahLst/>
                <a:cxnLst/>
                <a:rect l="l" t="t" r="r" b="b"/>
                <a:pathLst>
                  <a:path w="7239000" h="9525">
                    <a:moveTo>
                      <a:pt x="0" y="0"/>
                    </a:moveTo>
                    <a:lnTo>
                      <a:pt x="7239000" y="0"/>
                    </a:lnTo>
                  </a:path>
                </a:pathLst>
              </a:custGeom>
              <a:noFill/>
              <a:ln w="19050">
                <a:solidFill>
                  <a:schemeClr val="accent1"/>
                </a:solidFill>
              </a:ln>
            </p:spPr>
          </p:sp>
          <p:sp>
            <p:nvSpPr>
              <p:cNvPr id="13" name="Line 13"/>
              <p:cNvSpPr/>
              <p:nvPr/>
            </p:nvSpPr>
            <p:spPr>
              <a:xfrm>
                <a:off x="1047750" y="2000250"/>
                <a:ext cx="9525" cy="3429000"/>
              </a:xfrm>
              <a:custGeom>
                <a:avLst/>
                <a:gdLst/>
                <a:ahLst/>
                <a:cxnLst/>
                <a:rect l="l" t="t" r="r" b="b"/>
                <a:pathLst>
                  <a:path w="9525" h="3429000">
                    <a:moveTo>
                      <a:pt x="0" y="0"/>
                    </a:moveTo>
                    <a:lnTo>
                      <a:pt x="0" y="3429000"/>
                    </a:lnTo>
                  </a:path>
                </a:pathLst>
              </a:custGeom>
              <a:noFill/>
              <a:ln w="19050">
                <a:solidFill>
                  <a:schemeClr val="accent1"/>
                </a:solidFill>
              </a:ln>
            </p:spPr>
          </p:sp>
          <p:sp>
            <p:nvSpPr>
              <p:cNvPr id="14" name="Line 14"/>
              <p:cNvSpPr/>
              <p:nvPr/>
            </p:nvSpPr>
            <p:spPr>
              <a:xfrm>
                <a:off x="1047750" y="4572000"/>
                <a:ext cx="7239000" cy="9525"/>
              </a:xfrm>
              <a:custGeom>
                <a:avLst/>
                <a:gdLst/>
                <a:ahLst/>
                <a:cxnLst/>
                <a:rect l="l" t="t" r="r" b="b"/>
                <a:pathLst>
                  <a:path w="7239000" h="9525">
                    <a:moveTo>
                      <a:pt x="0" y="0"/>
                    </a:moveTo>
                    <a:lnTo>
                      <a:pt x="7239000" y="0"/>
                    </a:lnTo>
                  </a:path>
                </a:pathLst>
              </a:custGeom>
              <a:noFill/>
              <a:ln w="19050">
                <a:solidFill>
                  <a:schemeClr val="accent4"/>
                </a:solidFill>
                <a:custDash>
                  <a:ds d="300000" sp="300000"/>
                </a:custDash>
              </a:ln>
            </p:spPr>
          </p:sp>
          <p:sp>
            <p:nvSpPr>
              <p:cNvPr id="15" name="Line 15"/>
              <p:cNvSpPr/>
              <p:nvPr/>
            </p:nvSpPr>
            <p:spPr>
              <a:xfrm>
                <a:off x="1047750" y="3714750"/>
                <a:ext cx="7239000" cy="9525"/>
              </a:xfrm>
              <a:custGeom>
                <a:avLst/>
                <a:gdLst/>
                <a:ahLst/>
                <a:cxnLst/>
                <a:rect l="l" t="t" r="r" b="b"/>
                <a:pathLst>
                  <a:path w="7239000" h="9525">
                    <a:moveTo>
                      <a:pt x="0" y="0"/>
                    </a:moveTo>
                    <a:lnTo>
                      <a:pt x="7239000" y="0"/>
                    </a:lnTo>
                  </a:path>
                </a:pathLst>
              </a:custGeom>
              <a:noFill/>
              <a:ln w="19050">
                <a:solidFill>
                  <a:schemeClr val="accent4"/>
                </a:solidFill>
                <a:custDash>
                  <a:ds d="300000" sp="300000"/>
                </a:custDash>
              </a:ln>
            </p:spPr>
          </p:sp>
          <p:sp>
            <p:nvSpPr>
              <p:cNvPr id="16" name="Line 16"/>
              <p:cNvSpPr/>
              <p:nvPr/>
            </p:nvSpPr>
            <p:spPr>
              <a:xfrm>
                <a:off x="1047750" y="2857500"/>
                <a:ext cx="7239000" cy="9525"/>
              </a:xfrm>
              <a:custGeom>
                <a:avLst/>
                <a:gdLst/>
                <a:ahLst/>
                <a:cxnLst/>
                <a:rect l="l" t="t" r="r" b="b"/>
                <a:pathLst>
                  <a:path w="7239000" h="9525">
                    <a:moveTo>
                      <a:pt x="0" y="0"/>
                    </a:moveTo>
                    <a:lnTo>
                      <a:pt x="7239000" y="0"/>
                    </a:lnTo>
                  </a:path>
                </a:pathLst>
              </a:custGeom>
              <a:noFill/>
              <a:ln w="19050">
                <a:solidFill>
                  <a:schemeClr val="accent4"/>
                </a:solidFill>
                <a:custDash>
                  <a:ds d="300000" sp="300000"/>
                </a:custDash>
              </a:ln>
            </p:spPr>
          </p:sp>
          <p:sp>
            <p:nvSpPr>
              <p:cNvPr id="17" name="Line 17"/>
              <p:cNvSpPr/>
              <p:nvPr/>
            </p:nvSpPr>
            <p:spPr>
              <a:xfrm>
                <a:off x="1047750" y="2000250"/>
                <a:ext cx="7239000" cy="9525"/>
              </a:xfrm>
              <a:custGeom>
                <a:avLst/>
                <a:gdLst/>
                <a:ahLst/>
                <a:cxnLst/>
                <a:rect l="l" t="t" r="r" b="b"/>
                <a:pathLst>
                  <a:path w="7239000" h="9525">
                    <a:moveTo>
                      <a:pt x="0" y="0"/>
                    </a:moveTo>
                    <a:lnTo>
                      <a:pt x="7239000" y="0"/>
                    </a:lnTo>
                  </a:path>
                </a:pathLst>
              </a:custGeom>
              <a:noFill/>
              <a:ln w="19050">
                <a:solidFill>
                  <a:schemeClr val="accent4"/>
                </a:solidFill>
                <a:custDash>
                  <a:ds d="300000" sp="300000"/>
                </a:custDash>
              </a:ln>
            </p:spPr>
          </p:sp>
          <p:sp>
            <p:nvSpPr>
              <p:cNvPr id="18" name="TextBox 18"/>
              <p:cNvSpPr txBox="1"/>
              <p:nvPr/>
            </p:nvSpPr>
            <p:spPr>
              <a:xfrm>
                <a:off x="788537" y="5359718"/>
                <a:ext cx="113671"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0</a:t>
                </a:r>
              </a:p>
            </p:txBody>
          </p:sp>
          <p:sp>
            <p:nvSpPr>
              <p:cNvPr id="19" name="TextBox 19"/>
              <p:cNvSpPr txBox="1"/>
              <p:nvPr/>
            </p:nvSpPr>
            <p:spPr>
              <a:xfrm>
                <a:off x="688581" y="450246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40</a:t>
                </a:r>
              </a:p>
            </p:txBody>
          </p:sp>
          <p:sp>
            <p:nvSpPr>
              <p:cNvPr id="20" name="TextBox 20"/>
              <p:cNvSpPr txBox="1"/>
              <p:nvPr/>
            </p:nvSpPr>
            <p:spPr>
              <a:xfrm>
                <a:off x="688581" y="36452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80</a:t>
                </a:r>
              </a:p>
            </p:txBody>
          </p:sp>
          <p:sp>
            <p:nvSpPr>
              <p:cNvPr id="21" name="TextBox 21"/>
              <p:cNvSpPr txBox="1"/>
              <p:nvPr/>
            </p:nvSpPr>
            <p:spPr>
              <a:xfrm>
                <a:off x="588626" y="2787968"/>
                <a:ext cx="313582"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120</a:t>
                </a:r>
              </a:p>
            </p:txBody>
          </p:sp>
          <p:sp>
            <p:nvSpPr>
              <p:cNvPr id="22" name="TextBox 22"/>
              <p:cNvSpPr txBox="1"/>
              <p:nvPr/>
            </p:nvSpPr>
            <p:spPr>
              <a:xfrm>
                <a:off x="588626" y="1930718"/>
                <a:ext cx="313582"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160</a:t>
                </a:r>
              </a:p>
            </p:txBody>
          </p:sp>
          <p:sp>
            <p:nvSpPr>
              <p:cNvPr id="23" name="Rectangle 23"/>
              <p:cNvSpPr/>
              <p:nvPr/>
            </p:nvSpPr>
            <p:spPr>
              <a:xfrm>
                <a:off x="1638300" y="4748212"/>
                <a:ext cx="609600" cy="681038"/>
              </a:xfrm>
              <a:prstGeom prst="rect">
                <a:avLst/>
              </a:prstGeom>
              <a:solidFill>
                <a:schemeClr val="accent5"/>
              </a:solidFill>
              <a:ln>
                <a:noFill/>
              </a:ln>
            </p:spPr>
          </p:sp>
          <p:sp>
            <p:nvSpPr>
              <p:cNvPr id="24" name="Rectangle 24"/>
              <p:cNvSpPr/>
              <p:nvPr/>
            </p:nvSpPr>
            <p:spPr>
              <a:xfrm>
                <a:off x="2324100" y="3678555"/>
                <a:ext cx="609600" cy="1750695"/>
              </a:xfrm>
              <a:prstGeom prst="rect">
                <a:avLst/>
              </a:prstGeom>
              <a:solidFill>
                <a:schemeClr val="dk2"/>
              </a:solidFill>
              <a:ln>
                <a:noFill/>
              </a:ln>
            </p:spPr>
          </p:sp>
          <p:sp>
            <p:nvSpPr>
              <p:cNvPr id="25" name="Rectangle 25"/>
              <p:cNvSpPr/>
              <p:nvPr/>
            </p:nvSpPr>
            <p:spPr>
              <a:xfrm>
                <a:off x="3009900" y="5367338"/>
                <a:ext cx="609600" cy="61912"/>
              </a:xfrm>
              <a:prstGeom prst="rect">
                <a:avLst/>
              </a:prstGeom>
              <a:solidFill>
                <a:schemeClr val="accent2"/>
              </a:solidFill>
              <a:ln>
                <a:noFill/>
              </a:ln>
            </p:spPr>
          </p:sp>
          <p:sp>
            <p:nvSpPr>
              <p:cNvPr id="26" name="TextBox 26"/>
              <p:cNvSpPr txBox="1"/>
              <p:nvPr/>
            </p:nvSpPr>
            <p:spPr>
              <a:xfrm>
                <a:off x="1673859" y="4483418"/>
                <a:ext cx="538482"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31.76</a:t>
                </a:r>
              </a:p>
            </p:txBody>
          </p:sp>
          <p:sp>
            <p:nvSpPr>
              <p:cNvPr id="27" name="TextBox 27"/>
              <p:cNvSpPr txBox="1"/>
              <p:nvPr/>
            </p:nvSpPr>
            <p:spPr>
              <a:xfrm>
                <a:off x="2359659" y="3416618"/>
                <a:ext cx="538482"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81.67</a:t>
                </a:r>
              </a:p>
            </p:txBody>
          </p:sp>
          <p:sp>
            <p:nvSpPr>
              <p:cNvPr id="28" name="TextBox 28"/>
              <p:cNvSpPr txBox="1"/>
              <p:nvPr/>
            </p:nvSpPr>
            <p:spPr>
              <a:xfrm>
                <a:off x="3097936" y="5093018"/>
                <a:ext cx="433528"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2.87</a:t>
                </a:r>
              </a:p>
            </p:txBody>
          </p:sp>
          <p:sp>
            <p:nvSpPr>
              <p:cNvPr id="29" name="TextBox 29"/>
              <p:cNvSpPr txBox="1"/>
              <p:nvPr/>
            </p:nvSpPr>
            <p:spPr>
              <a:xfrm>
                <a:off x="2082089" y="5577840"/>
                <a:ext cx="1093622"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Scrolling</a:t>
                </a:r>
              </a:p>
            </p:txBody>
          </p:sp>
          <p:sp>
            <p:nvSpPr>
              <p:cNvPr id="30" name="Rectangle 30"/>
              <p:cNvSpPr/>
              <p:nvPr/>
            </p:nvSpPr>
            <p:spPr>
              <a:xfrm>
                <a:off x="5467350" y="2059305"/>
                <a:ext cx="609600" cy="3369945"/>
              </a:xfrm>
              <a:prstGeom prst="rect">
                <a:avLst/>
              </a:prstGeom>
              <a:solidFill>
                <a:schemeClr val="accent5"/>
              </a:solidFill>
              <a:ln>
                <a:noFill/>
              </a:ln>
            </p:spPr>
          </p:sp>
          <p:sp>
            <p:nvSpPr>
              <p:cNvPr id="31" name="Rectangle 31"/>
              <p:cNvSpPr/>
              <p:nvPr/>
            </p:nvSpPr>
            <p:spPr>
              <a:xfrm>
                <a:off x="6153150" y="2088832"/>
                <a:ext cx="609600" cy="3340418"/>
              </a:xfrm>
              <a:prstGeom prst="rect">
                <a:avLst/>
              </a:prstGeom>
              <a:solidFill>
                <a:schemeClr val="dk2"/>
              </a:solidFill>
              <a:ln>
                <a:noFill/>
              </a:ln>
            </p:spPr>
          </p:sp>
          <p:sp>
            <p:nvSpPr>
              <p:cNvPr id="32" name="Rectangle 32"/>
              <p:cNvSpPr/>
              <p:nvPr/>
            </p:nvSpPr>
            <p:spPr>
              <a:xfrm>
                <a:off x="6838950" y="5229225"/>
                <a:ext cx="609600" cy="200025"/>
              </a:xfrm>
              <a:prstGeom prst="rect">
                <a:avLst/>
              </a:prstGeom>
              <a:solidFill>
                <a:schemeClr val="accent2"/>
              </a:solidFill>
              <a:ln>
                <a:noFill/>
              </a:ln>
            </p:spPr>
          </p:sp>
          <p:sp>
            <p:nvSpPr>
              <p:cNvPr id="33" name="TextBox 33"/>
              <p:cNvSpPr txBox="1"/>
              <p:nvPr/>
            </p:nvSpPr>
            <p:spPr>
              <a:xfrm>
                <a:off x="5450433" y="1797368"/>
                <a:ext cx="643435"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157.26</a:t>
                </a:r>
              </a:p>
            </p:txBody>
          </p:sp>
          <p:sp>
            <p:nvSpPr>
              <p:cNvPr id="34" name="TextBox 34"/>
              <p:cNvSpPr txBox="1"/>
              <p:nvPr/>
            </p:nvSpPr>
            <p:spPr>
              <a:xfrm>
                <a:off x="6136233" y="2121218"/>
                <a:ext cx="64343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155.87</a:t>
                </a:r>
              </a:p>
            </p:txBody>
          </p:sp>
          <p:sp>
            <p:nvSpPr>
              <p:cNvPr id="35" name="TextBox 35"/>
              <p:cNvSpPr txBox="1"/>
              <p:nvPr/>
            </p:nvSpPr>
            <p:spPr>
              <a:xfrm>
                <a:off x="6926986" y="4959668"/>
                <a:ext cx="433528"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9.35</a:t>
                </a:r>
              </a:p>
            </p:txBody>
          </p:sp>
          <p:sp>
            <p:nvSpPr>
              <p:cNvPr id="36" name="TextBox 36"/>
              <p:cNvSpPr txBox="1"/>
              <p:nvPr/>
            </p:nvSpPr>
            <p:spPr>
              <a:xfrm>
                <a:off x="5681190" y="5577840"/>
                <a:ext cx="155352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Weak border</a:t>
                </a:r>
              </a:p>
            </p:txBody>
          </p:sp>
        </p:grpSp>
      </p:grpSp>
      <p:grpSp>
        <p:nvGrpSpPr>
          <p:cNvPr id="47" name="Group 47"/>
          <p:cNvGrpSpPr/>
          <p:nvPr/>
        </p:nvGrpSpPr>
        <p:grpSpPr>
          <a:xfrm>
            <a:off x="8877300" y="1847850"/>
            <a:ext cx="2781300" cy="3543300"/>
            <a:chOff x="8877300" y="1847850"/>
            <a:chExt cx="2781300" cy="3543300"/>
          </a:xfrm>
        </p:grpSpPr>
        <p:sp>
          <p:nvSpPr>
            <p:cNvPr id="39" name="Rectangle 39"/>
            <p:cNvSpPr/>
            <p:nvPr/>
          </p:nvSpPr>
          <p:spPr>
            <a:xfrm>
              <a:off x="8877300" y="1847850"/>
              <a:ext cx="2781300" cy="1657350"/>
            </a:xfrm>
            <a:prstGeom prst="rect">
              <a:avLst/>
            </a:prstGeom>
            <a:solidFill>
              <a:schemeClr val="lt2"/>
            </a:solidFill>
            <a:ln w="19050">
              <a:solidFill>
                <a:schemeClr val="accent2"/>
              </a:solidFill>
            </a:ln>
          </p:spPr>
        </p:sp>
        <p:sp>
          <p:nvSpPr>
            <p:cNvPr id="40" name="TextBox 40"/>
            <p:cNvSpPr txBox="1"/>
            <p:nvPr/>
          </p:nvSpPr>
          <p:spPr>
            <a:xfrm>
              <a:off x="9134856" y="2053590"/>
              <a:ext cx="133557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SCROLLING</a:t>
              </a:r>
            </a:p>
          </p:txBody>
        </p:sp>
        <p:sp>
          <p:nvSpPr>
            <p:cNvPr id="41" name="TextBox 41"/>
            <p:cNvSpPr txBox="1"/>
            <p:nvPr/>
          </p:nvSpPr>
          <p:spPr>
            <a:xfrm>
              <a:off x="9124950" y="2415540"/>
              <a:ext cx="2480645" cy="933450"/>
            </a:xfrm>
            <a:prstGeom prst="rect">
              <a:avLst/>
            </a:prstGeom>
            <a:noFill/>
            <a:ln>
              <a:noFill/>
            </a:ln>
          </p:spPr>
          <p:txBody>
            <a:bodyPr wrap="none" lIns="0" tIns="0" rIns="0" bIns="0" anchor="t" anchorCtr="0">
              <a:spAutoFit/>
            </a:bodyPr>
            <a:lstStyle/>
            <a:p>
              <a:pPr algn="l"/>
              <a:r>
                <a:rPr lang="en-US" sz="4800" b="1" dirty="0">
                  <a:solidFill>
                    <a:schemeClr val="accent1"/>
                  </a:solidFill>
                  <a:latin typeface="+mn-lt"/>
                  <a:ea typeface="+mn-ea"/>
                  <a:cs typeface="+mn-cs"/>
                </a:rPr>
                <a:t>2.87 px</a:t>
              </a:r>
            </a:p>
          </p:txBody>
        </p:sp>
        <p:sp>
          <p:nvSpPr>
            <p:cNvPr id="42" name="TextBox 42"/>
            <p:cNvSpPr txBox="1"/>
            <p:nvPr/>
          </p:nvSpPr>
          <p:spPr>
            <a:xfrm>
              <a:off x="9134856" y="3063240"/>
              <a:ext cx="1968932"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vs 31.76 / 81.67</a:t>
              </a:r>
            </a:p>
          </p:txBody>
        </p:sp>
        <p:sp>
          <p:nvSpPr>
            <p:cNvPr id="43" name="Rectangle 43"/>
            <p:cNvSpPr/>
            <p:nvPr/>
          </p:nvSpPr>
          <p:spPr>
            <a:xfrm>
              <a:off x="8877300" y="3733800"/>
              <a:ext cx="2781300" cy="1657350"/>
            </a:xfrm>
            <a:prstGeom prst="rect">
              <a:avLst/>
            </a:prstGeom>
            <a:solidFill>
              <a:schemeClr val="lt1"/>
            </a:solidFill>
            <a:ln w="19050">
              <a:solidFill>
                <a:schemeClr val="accent2"/>
              </a:solidFill>
            </a:ln>
          </p:spPr>
        </p:sp>
        <p:sp>
          <p:nvSpPr>
            <p:cNvPr id="44" name="TextBox 44"/>
            <p:cNvSpPr txBox="1"/>
            <p:nvPr/>
          </p:nvSpPr>
          <p:spPr>
            <a:xfrm>
              <a:off x="9134856" y="3939540"/>
              <a:ext cx="1685056"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WEAK BORDER</a:t>
              </a:r>
            </a:p>
          </p:txBody>
        </p:sp>
        <p:sp>
          <p:nvSpPr>
            <p:cNvPr id="45" name="TextBox 45"/>
            <p:cNvSpPr txBox="1"/>
            <p:nvPr/>
          </p:nvSpPr>
          <p:spPr>
            <a:xfrm>
              <a:off x="9124950" y="4301490"/>
              <a:ext cx="2480645" cy="933450"/>
            </a:xfrm>
            <a:prstGeom prst="rect">
              <a:avLst/>
            </a:prstGeom>
            <a:noFill/>
            <a:ln>
              <a:noFill/>
            </a:ln>
          </p:spPr>
          <p:txBody>
            <a:bodyPr wrap="none" lIns="0" tIns="0" rIns="0" bIns="0" anchor="t" anchorCtr="0">
              <a:spAutoFit/>
            </a:bodyPr>
            <a:lstStyle/>
            <a:p>
              <a:pPr algn="l"/>
              <a:r>
                <a:rPr lang="en-US" sz="4800" b="1" dirty="0">
                  <a:solidFill>
                    <a:schemeClr val="accent1"/>
                  </a:solidFill>
                  <a:latin typeface="+mn-lt"/>
                  <a:ea typeface="+mn-ea"/>
                  <a:cs typeface="+mn-cs"/>
                </a:rPr>
                <a:t>9.35 px</a:t>
              </a:r>
            </a:p>
          </p:txBody>
        </p:sp>
        <p:sp>
          <p:nvSpPr>
            <p:cNvPr id="46" name="TextBox 46"/>
            <p:cNvSpPr txBox="1"/>
            <p:nvPr/>
          </p:nvSpPr>
          <p:spPr>
            <a:xfrm>
              <a:off x="9134856" y="4949190"/>
              <a:ext cx="2235479"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vs 157.26 / 155.87</a:t>
              </a:r>
            </a:p>
          </p:txBody>
        </p:sp>
      </p:grpSp>
      <p:grpSp>
        <p:nvGrpSpPr>
          <p:cNvPr id="50" name="Group 50"/>
          <p:cNvGrpSpPr/>
          <p:nvPr/>
        </p:nvGrpSpPr>
        <p:grpSpPr>
          <a:xfrm>
            <a:off x="526542" y="6350318"/>
            <a:ext cx="11138916" cy="264033"/>
            <a:chOff x="526542" y="6350318"/>
            <a:chExt cx="11138916" cy="264033"/>
          </a:xfrm>
        </p:grpSpPr>
        <p:sp>
          <p:nvSpPr>
            <p:cNvPr id="48" name="TextBox 48"/>
            <p:cNvSpPr txBox="1"/>
            <p:nvPr/>
          </p:nvSpPr>
          <p:spPr>
            <a:xfrm>
              <a:off x="526542" y="6350318"/>
              <a:ext cx="525597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CATEGORY-LEVEL RMSE · SAME ANNOTATED EVALUATION SET</a:t>
              </a:r>
            </a:p>
          </p:txBody>
        </p:sp>
        <p:sp>
          <p:nvSpPr>
            <p:cNvPr id="49" name="TextBox 49"/>
            <p:cNvSpPr txBox="1"/>
            <p:nvPr/>
          </p:nvSpPr>
          <p:spPr>
            <a:xfrm>
              <a:off x="11451831" y="63503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4350" y="191452"/>
            <a:ext cx="12536093" cy="1246633"/>
            <a:chOff x="514350" y="191452"/>
            <a:chExt cx="12536093" cy="1246633"/>
          </a:xfrm>
        </p:grpSpPr>
        <p:sp>
          <p:nvSpPr>
            <p:cNvPr id="2" name="TextBox 2"/>
            <p:cNvSpPr txBox="1"/>
            <p:nvPr/>
          </p:nvSpPr>
          <p:spPr>
            <a:xfrm>
              <a:off x="514350" y="191452"/>
              <a:ext cx="12536093"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Qualitative results preserve content motion</a:t>
              </a:r>
            </a:p>
          </p:txBody>
        </p:sp>
        <p:sp>
          <p:nvSpPr>
            <p:cNvPr id="3" name="TextBox 3"/>
            <p:cNvSpPr txBox="1"/>
            <p:nvPr/>
          </p:nvSpPr>
          <p:spPr>
            <a:xfrm>
              <a:off x="517398" y="822008"/>
              <a:ext cx="10932835" cy="616077"/>
            </a:xfrm>
            <a:prstGeom prst="rect">
              <a:avLst/>
            </a:prstGeom>
            <a:noFill/>
            <a:ln>
              <a:noFill/>
            </a:ln>
          </p:spPr>
          <p:txBody>
            <a:bodyPr wrap="none" lIns="0" tIns="0" rIns="0" bIns="0" anchor="t" anchorCtr="0">
              <a:spAutoFit/>
            </a:bodyPr>
            <a:lstStyle/>
            <a:p>
              <a:pPr algn="l"/>
              <a:r>
                <a:rPr lang="en-US" sz="3150" b="1" dirty="0">
                  <a:solidFill>
                    <a:schemeClr val="dk2"/>
                  </a:solidFill>
                  <a:latin typeface="+mn-lt"/>
                  <a:ea typeface="+mn-ea"/>
                  <a:cs typeface="+mn-cs"/>
                </a:rPr>
                <a:t>Hard scenes still expose degraded border evidence</a:t>
              </a:r>
            </a:p>
          </p:txBody>
        </p:sp>
      </p:grpSp>
      <p:grpSp>
        <p:nvGrpSpPr>
          <p:cNvPr id="7" name="Group 7"/>
          <p:cNvGrpSpPr/>
          <p:nvPr/>
        </p:nvGrpSpPr>
        <p:grpSpPr>
          <a:xfrm>
            <a:off x="533400" y="1466850"/>
            <a:ext cx="4495800" cy="4772025"/>
            <a:chOff x="533400" y="1466850"/>
            <a:chExt cx="4495800" cy="4772025"/>
          </a:xfrm>
        </p:grpSpPr>
        <p:sp>
          <p:nvSpPr>
            <p:cNvPr id="5" name="Rectangle 5"/>
            <p:cNvSpPr/>
            <p:nvPr/>
          </p:nvSpPr>
          <p:spPr>
            <a:xfrm>
              <a:off x="533400" y="1466850"/>
              <a:ext cx="4495800" cy="4772025"/>
            </a:xfrm>
            <a:prstGeom prst="rect">
              <a:avLst/>
            </a:prstGeom>
            <a:solidFill>
              <a:schemeClr val="lt1"/>
            </a:solidFill>
            <a:ln w="19050">
              <a:solidFill>
                <a:schemeClr val="accent4"/>
              </a:solidFill>
            </a:ln>
          </p:spPr>
        </p:sp>
        <p:pic>
          <p:nvPicPr>
            <p:cNvPr id="6" name="Image 6"/>
            <p:cNvPicPr>
              <a:picLocks noChangeAspect="1"/>
            </p:cNvPicPr>
            <p:nvPr/>
          </p:nvPicPr>
          <p:blipFill>
            <a:blip r:embed="rId2"/>
            <a:stretch>
              <a:fillRect/>
            </a:stretch>
          </p:blipFill>
          <p:spPr>
            <a:xfrm>
              <a:off x="533400" y="1466850"/>
              <a:ext cx="4495800" cy="4772025"/>
            </a:xfrm>
            <a:prstGeom prst="rect">
              <a:avLst/>
            </a:prstGeom>
          </p:spPr>
        </p:pic>
      </p:grpSp>
      <p:grpSp>
        <p:nvGrpSpPr>
          <p:cNvPr id="13" name="Group 13"/>
          <p:cNvGrpSpPr/>
          <p:nvPr/>
        </p:nvGrpSpPr>
        <p:grpSpPr>
          <a:xfrm>
            <a:off x="5448300" y="1466850"/>
            <a:ext cx="8015395" cy="1757934"/>
            <a:chOff x="5448300" y="1466850"/>
            <a:chExt cx="8015395" cy="1757934"/>
          </a:xfrm>
        </p:grpSpPr>
        <p:sp>
          <p:nvSpPr>
            <p:cNvPr id="8" name="Rectangle 8"/>
            <p:cNvSpPr/>
            <p:nvPr/>
          </p:nvSpPr>
          <p:spPr>
            <a:xfrm>
              <a:off x="5448300" y="1466850"/>
              <a:ext cx="6210300" cy="1752600"/>
            </a:xfrm>
            <a:prstGeom prst="rect">
              <a:avLst/>
            </a:prstGeom>
            <a:solidFill>
              <a:schemeClr val="lt2"/>
            </a:solidFill>
            <a:ln w="19050">
              <a:solidFill>
                <a:schemeClr val="accent2"/>
              </a:solidFill>
            </a:ln>
          </p:spPr>
        </p:sp>
        <p:sp>
          <p:nvSpPr>
            <p:cNvPr id="9" name="TextBox 9"/>
            <p:cNvSpPr txBox="1"/>
            <p:nvPr/>
          </p:nvSpPr>
          <p:spPr>
            <a:xfrm>
              <a:off x="5743956" y="1691640"/>
              <a:ext cx="4454042"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ACROSS THE FIVE SCENE CATEGORIES</a:t>
              </a:r>
            </a:p>
          </p:txBody>
        </p:sp>
        <p:sp>
          <p:nvSpPr>
            <p:cNvPr id="10" name="TextBox 10"/>
            <p:cNvSpPr txBox="1"/>
            <p:nvPr/>
          </p:nvSpPr>
          <p:spPr>
            <a:xfrm>
              <a:off x="5739384" y="2070735"/>
              <a:ext cx="7520180"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The normalized view follows the display,</a:t>
              </a:r>
            </a:p>
          </p:txBody>
        </p:sp>
        <p:sp>
          <p:nvSpPr>
            <p:cNvPr id="11" name="TextBox 11"/>
            <p:cNvSpPr txBox="1"/>
            <p:nvPr/>
          </p:nvSpPr>
          <p:spPr>
            <a:xfrm>
              <a:off x="5739384" y="2470785"/>
              <a:ext cx="6171960"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not the moving content inside it.</a:t>
              </a:r>
            </a:p>
          </p:txBody>
        </p:sp>
        <p:sp>
          <p:nvSpPr>
            <p:cNvPr id="12" name="TextBox 12"/>
            <p:cNvSpPr txBox="1"/>
            <p:nvPr/>
          </p:nvSpPr>
          <p:spPr>
            <a:xfrm>
              <a:off x="5743956" y="2872740"/>
              <a:ext cx="7719739"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This is the qualitative signature of a physical-border reference.</a:t>
              </a:r>
            </a:p>
          </p:txBody>
        </p:sp>
      </p:grpSp>
      <p:grpSp>
        <p:nvGrpSpPr>
          <p:cNvPr id="19" name="Group 19"/>
          <p:cNvGrpSpPr/>
          <p:nvPr/>
        </p:nvGrpSpPr>
        <p:grpSpPr>
          <a:xfrm>
            <a:off x="5448300" y="3486150"/>
            <a:ext cx="2990850" cy="2133600"/>
            <a:chOff x="5448300" y="3486150"/>
            <a:chExt cx="2990850" cy="2133600"/>
          </a:xfrm>
        </p:grpSpPr>
        <p:sp>
          <p:nvSpPr>
            <p:cNvPr id="14" name="Rectangle 14"/>
            <p:cNvSpPr/>
            <p:nvPr/>
          </p:nvSpPr>
          <p:spPr>
            <a:xfrm>
              <a:off x="5448300" y="3486150"/>
              <a:ext cx="2990850" cy="2133600"/>
            </a:xfrm>
            <a:prstGeom prst="rect">
              <a:avLst/>
            </a:prstGeom>
            <a:solidFill>
              <a:schemeClr val="lt1"/>
            </a:solidFill>
            <a:ln w="19050">
              <a:solidFill>
                <a:schemeClr val="accent4"/>
              </a:solidFill>
            </a:ln>
          </p:spPr>
        </p:sp>
        <p:sp>
          <p:nvSpPr>
            <p:cNvPr id="15" name="TextBox 15"/>
            <p:cNvSpPr txBox="1"/>
            <p:nvPr/>
          </p:nvSpPr>
          <p:spPr>
            <a:xfrm>
              <a:off x="5705856" y="3691890"/>
              <a:ext cx="2303374" cy="352044"/>
            </a:xfrm>
            <a:prstGeom prst="rect">
              <a:avLst/>
            </a:prstGeom>
            <a:noFill/>
            <a:ln>
              <a:noFill/>
            </a:ln>
          </p:spPr>
          <p:txBody>
            <a:bodyPr wrap="none" lIns="0" tIns="0" rIns="0" bIns="0" anchor="t" anchorCtr="0">
              <a:spAutoFit/>
            </a:bodyPr>
            <a:lstStyle/>
            <a:p>
              <a:pPr algn="l"/>
              <a:r>
                <a:rPr lang="en-US" sz="1800" b="1" dirty="0">
                  <a:solidFill>
                    <a:schemeClr val="dk2"/>
                  </a:solidFill>
                  <a:latin typeface="+mn-lt"/>
                  <a:ea typeface="+mn-ea"/>
                  <a:cs typeface="+mn-cs"/>
                </a:rPr>
                <a:t>CHALLENGE RMSE ↓</a:t>
              </a:r>
            </a:p>
          </p:txBody>
        </p:sp>
        <p:sp>
          <p:nvSpPr>
            <p:cNvPr id="16" name="TextBox 16"/>
            <p:cNvSpPr txBox="1"/>
            <p:nvPr/>
          </p:nvSpPr>
          <p:spPr>
            <a:xfrm>
              <a:off x="5695950" y="4015740"/>
              <a:ext cx="1903933"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10.70</a:t>
              </a:r>
            </a:p>
          </p:txBody>
        </p:sp>
        <p:sp>
          <p:nvSpPr>
            <p:cNvPr id="17" name="TextBox 17"/>
            <p:cNvSpPr txBox="1"/>
            <p:nvPr/>
          </p:nvSpPr>
          <p:spPr>
            <a:xfrm>
              <a:off x="5705856" y="4720590"/>
              <a:ext cx="200558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Frame-wise 9.62</a:t>
              </a:r>
            </a:p>
          </p:txBody>
        </p:sp>
        <p:sp>
          <p:nvSpPr>
            <p:cNvPr id="18" name="TextBox 18"/>
            <p:cNvSpPr txBox="1"/>
            <p:nvPr/>
          </p:nvSpPr>
          <p:spPr>
            <a:xfrm>
              <a:off x="5705856" y="5063490"/>
              <a:ext cx="2222532"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Optical flow 24.90</a:t>
              </a:r>
            </a:p>
          </p:txBody>
        </p:sp>
      </p:grpSp>
      <p:grpSp>
        <p:nvGrpSpPr>
          <p:cNvPr id="25" name="Group 25"/>
          <p:cNvGrpSpPr/>
          <p:nvPr/>
        </p:nvGrpSpPr>
        <p:grpSpPr>
          <a:xfrm>
            <a:off x="8667750" y="3486150"/>
            <a:ext cx="3165805" cy="2133600"/>
            <a:chOff x="8667750" y="3486150"/>
            <a:chExt cx="3165805" cy="2133600"/>
          </a:xfrm>
        </p:grpSpPr>
        <p:sp>
          <p:nvSpPr>
            <p:cNvPr id="20" name="Rectangle 20"/>
            <p:cNvSpPr/>
            <p:nvPr/>
          </p:nvSpPr>
          <p:spPr>
            <a:xfrm>
              <a:off x="8667750" y="3486150"/>
              <a:ext cx="2990850" cy="2133600"/>
            </a:xfrm>
            <a:prstGeom prst="rect">
              <a:avLst/>
            </a:prstGeom>
            <a:solidFill>
              <a:schemeClr val="lt1"/>
            </a:solidFill>
            <a:ln w="19050">
              <a:solidFill>
                <a:schemeClr val="accent3"/>
              </a:solidFill>
            </a:ln>
          </p:spPr>
        </p:sp>
        <p:sp>
          <p:nvSpPr>
            <p:cNvPr id="21" name="TextBox 21"/>
            <p:cNvSpPr txBox="1"/>
            <p:nvPr/>
          </p:nvSpPr>
          <p:spPr>
            <a:xfrm>
              <a:off x="8925306" y="3691890"/>
              <a:ext cx="2908249"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CHALLENGE VARIATION ↓</a:t>
              </a:r>
            </a:p>
          </p:txBody>
        </p:sp>
        <p:sp>
          <p:nvSpPr>
            <p:cNvPr id="22" name="TextBox 22"/>
            <p:cNvSpPr txBox="1"/>
            <p:nvPr/>
          </p:nvSpPr>
          <p:spPr>
            <a:xfrm>
              <a:off x="8915400" y="4015740"/>
              <a:ext cx="1530767"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3.74</a:t>
              </a:r>
            </a:p>
          </p:txBody>
        </p:sp>
        <p:sp>
          <p:nvSpPr>
            <p:cNvPr id="23" name="TextBox 23"/>
            <p:cNvSpPr txBox="1"/>
            <p:nvPr/>
          </p:nvSpPr>
          <p:spPr>
            <a:xfrm>
              <a:off x="8925306" y="4720590"/>
              <a:ext cx="200558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Frame-wise 5.19</a:t>
              </a:r>
            </a:p>
          </p:txBody>
        </p:sp>
        <p:sp>
          <p:nvSpPr>
            <p:cNvPr id="24" name="TextBox 24"/>
            <p:cNvSpPr txBox="1"/>
            <p:nvPr/>
          </p:nvSpPr>
          <p:spPr>
            <a:xfrm>
              <a:off x="8925306" y="5063490"/>
              <a:ext cx="2088573"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Optical flow 8.56</a:t>
              </a:r>
            </a:p>
          </p:txBody>
        </p:sp>
      </p:grpSp>
      <p:grpSp>
        <p:nvGrpSpPr>
          <p:cNvPr id="28" name="Group 28"/>
          <p:cNvGrpSpPr/>
          <p:nvPr/>
        </p:nvGrpSpPr>
        <p:grpSpPr>
          <a:xfrm>
            <a:off x="5439156" y="5905500"/>
            <a:ext cx="10140371" cy="481584"/>
            <a:chOff x="5439156" y="5905500"/>
            <a:chExt cx="10140371" cy="481584"/>
          </a:xfrm>
        </p:grpSpPr>
        <p:sp>
          <p:nvSpPr>
            <p:cNvPr id="26" name="Line 26"/>
            <p:cNvSpPr/>
            <p:nvPr/>
          </p:nvSpPr>
          <p:spPr>
            <a:xfrm>
              <a:off x="5448300" y="5905500"/>
              <a:ext cx="6210300" cy="9525"/>
            </a:xfrm>
            <a:custGeom>
              <a:avLst/>
              <a:gdLst/>
              <a:ahLst/>
              <a:cxnLst/>
              <a:rect l="l" t="t" r="r" b="b"/>
              <a:pathLst>
                <a:path w="6210300" h="9525">
                  <a:moveTo>
                    <a:pt x="0" y="0"/>
                  </a:moveTo>
                  <a:lnTo>
                    <a:pt x="6210300" y="0"/>
                  </a:lnTo>
                </a:path>
              </a:pathLst>
            </a:custGeom>
            <a:noFill/>
            <a:ln w="19050">
              <a:solidFill>
                <a:schemeClr val="accent1"/>
              </a:solidFill>
            </a:ln>
          </p:spPr>
        </p:sp>
        <p:sp>
          <p:nvSpPr>
            <p:cNvPr id="27" name="TextBox 27"/>
            <p:cNvSpPr txBox="1"/>
            <p:nvPr/>
          </p:nvSpPr>
          <p:spPr>
            <a:xfrm>
              <a:off x="5439156" y="6035040"/>
              <a:ext cx="1014037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On hard clips, accuracy remains competitive while temporal stability stays best.</a:t>
              </a:r>
            </a:p>
          </p:txBody>
        </p:sp>
      </p:grpSp>
      <p:grpSp>
        <p:nvGrpSpPr>
          <p:cNvPr id="31" name="Group 31"/>
          <p:cNvGrpSpPr/>
          <p:nvPr/>
        </p:nvGrpSpPr>
        <p:grpSpPr>
          <a:xfrm>
            <a:off x="526542" y="6426518"/>
            <a:ext cx="11138916" cy="264033"/>
            <a:chOff x="526542" y="6426518"/>
            <a:chExt cx="11138916" cy="264033"/>
          </a:xfrm>
        </p:grpSpPr>
        <p:sp>
          <p:nvSpPr>
            <p:cNvPr id="29" name="TextBox 29"/>
            <p:cNvSpPr txBox="1"/>
            <p:nvPr/>
          </p:nvSpPr>
          <p:spPr>
            <a:xfrm>
              <a:off x="526542" y="6426518"/>
              <a:ext cx="620649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QUALITATIVE GRID · INPUT / FRAME-WISE / OPTICAL FLOW / PROPOSED</a:t>
              </a:r>
            </a:p>
          </p:txBody>
        </p:sp>
        <p:sp>
          <p:nvSpPr>
            <p:cNvPr id="30" name="TextBox 30"/>
            <p:cNvSpPr txBox="1"/>
            <p:nvPr/>
          </p:nvSpPr>
          <p:spPr>
            <a:xfrm>
              <a:off x="11451831" y="64265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4350" y="191452"/>
            <a:ext cx="11505533" cy="1323975"/>
            <a:chOff x="514350" y="191452"/>
            <a:chExt cx="11505533" cy="1323975"/>
          </a:xfrm>
        </p:grpSpPr>
        <p:sp>
          <p:nvSpPr>
            <p:cNvPr id="2" name="TextBox 2"/>
            <p:cNvSpPr txBox="1"/>
            <p:nvPr/>
          </p:nvSpPr>
          <p:spPr>
            <a:xfrm>
              <a:off x="514350" y="191452"/>
              <a:ext cx="11505533"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Trajectory smoothing is the only ablation</a:t>
              </a:r>
            </a:p>
          </p:txBody>
        </p:sp>
        <p:sp>
          <p:nvSpPr>
            <p:cNvPr id="3" name="TextBox 3"/>
            <p:cNvSpPr txBox="1"/>
            <p:nvPr/>
          </p:nvSpPr>
          <p:spPr>
            <a:xfrm>
              <a:off x="514350" y="724852"/>
              <a:ext cx="8510679"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that directly changes this clip</a:t>
              </a:r>
            </a:p>
          </p:txBody>
        </p:sp>
      </p:grpSp>
      <p:grpSp>
        <p:nvGrpSpPr>
          <p:cNvPr id="47" name="Group 47"/>
          <p:cNvGrpSpPr/>
          <p:nvPr/>
        </p:nvGrpSpPr>
        <p:grpSpPr>
          <a:xfrm>
            <a:off x="533400" y="1504950"/>
            <a:ext cx="11125200" cy="3686175"/>
            <a:chOff x="533400" y="1504950"/>
            <a:chExt cx="11125200" cy="3686175"/>
          </a:xfrm>
        </p:grpSpPr>
        <p:sp>
          <p:nvSpPr>
            <p:cNvPr id="5" name="Rectangle 5"/>
            <p:cNvSpPr/>
            <p:nvPr/>
          </p:nvSpPr>
          <p:spPr>
            <a:xfrm>
              <a:off x="533400" y="1504950"/>
              <a:ext cx="11125200" cy="3686175"/>
            </a:xfrm>
            <a:prstGeom prst="rect">
              <a:avLst/>
            </a:prstGeom>
            <a:solidFill>
              <a:schemeClr val="lt1"/>
            </a:solidFill>
            <a:ln w="19050">
              <a:solidFill>
                <a:schemeClr val="accent4"/>
              </a:solidFill>
            </a:ln>
          </p:spPr>
        </p:sp>
        <p:sp>
          <p:nvSpPr>
            <p:cNvPr id="6" name="Rectangle 6"/>
            <p:cNvSpPr/>
            <p:nvPr/>
          </p:nvSpPr>
          <p:spPr>
            <a:xfrm>
              <a:off x="533400" y="1504950"/>
              <a:ext cx="11125200" cy="590550"/>
            </a:xfrm>
            <a:prstGeom prst="rect">
              <a:avLst/>
            </a:prstGeom>
            <a:solidFill>
              <a:schemeClr val="accent1"/>
            </a:solidFill>
            <a:ln>
              <a:noFill/>
            </a:ln>
          </p:spPr>
        </p:sp>
        <p:sp>
          <p:nvSpPr>
            <p:cNvPr id="7" name="Rectangle 7"/>
            <p:cNvSpPr/>
            <p:nvPr/>
          </p:nvSpPr>
          <p:spPr>
            <a:xfrm>
              <a:off x="533400" y="2095500"/>
              <a:ext cx="11125200" cy="619125"/>
            </a:xfrm>
            <a:prstGeom prst="rect">
              <a:avLst/>
            </a:prstGeom>
            <a:solidFill>
              <a:schemeClr val="lt2"/>
            </a:solidFill>
            <a:ln>
              <a:noFill/>
            </a:ln>
          </p:spPr>
        </p:sp>
        <p:sp>
          <p:nvSpPr>
            <p:cNvPr id="8" name="Line 8"/>
            <p:cNvSpPr/>
            <p:nvPr/>
          </p:nvSpPr>
          <p:spPr>
            <a:xfrm>
              <a:off x="3200400" y="1504950"/>
              <a:ext cx="9525" cy="3686175"/>
            </a:xfrm>
            <a:custGeom>
              <a:avLst/>
              <a:gdLst/>
              <a:ahLst/>
              <a:cxnLst/>
              <a:rect l="l" t="t" r="r" b="b"/>
              <a:pathLst>
                <a:path w="9525" h="3686175">
                  <a:moveTo>
                    <a:pt x="0" y="0"/>
                  </a:moveTo>
                  <a:lnTo>
                    <a:pt x="0" y="3686175"/>
                  </a:lnTo>
                </a:path>
              </a:pathLst>
            </a:custGeom>
            <a:noFill/>
            <a:ln w="19050">
              <a:solidFill>
                <a:schemeClr val="accent4"/>
              </a:solidFill>
            </a:ln>
          </p:spPr>
        </p:sp>
        <p:sp>
          <p:nvSpPr>
            <p:cNvPr id="9" name="Line 9"/>
            <p:cNvSpPr/>
            <p:nvPr/>
          </p:nvSpPr>
          <p:spPr>
            <a:xfrm>
              <a:off x="6915150" y="1504950"/>
              <a:ext cx="9525" cy="3686175"/>
            </a:xfrm>
            <a:custGeom>
              <a:avLst/>
              <a:gdLst/>
              <a:ahLst/>
              <a:cxnLst/>
              <a:rect l="l" t="t" r="r" b="b"/>
              <a:pathLst>
                <a:path w="9525" h="3686175">
                  <a:moveTo>
                    <a:pt x="0" y="0"/>
                  </a:moveTo>
                  <a:lnTo>
                    <a:pt x="0" y="3686175"/>
                  </a:lnTo>
                </a:path>
              </a:pathLst>
            </a:custGeom>
            <a:noFill/>
            <a:ln w="19050">
              <a:solidFill>
                <a:schemeClr val="accent4"/>
              </a:solidFill>
            </a:ln>
          </p:spPr>
        </p:sp>
        <p:sp>
          <p:nvSpPr>
            <p:cNvPr id="10" name="Line 10"/>
            <p:cNvSpPr/>
            <p:nvPr/>
          </p:nvSpPr>
          <p:spPr>
            <a:xfrm>
              <a:off x="8439150" y="1504950"/>
              <a:ext cx="9525" cy="3686175"/>
            </a:xfrm>
            <a:custGeom>
              <a:avLst/>
              <a:gdLst/>
              <a:ahLst/>
              <a:cxnLst/>
              <a:rect l="l" t="t" r="r" b="b"/>
              <a:pathLst>
                <a:path w="9525" h="3686175">
                  <a:moveTo>
                    <a:pt x="0" y="0"/>
                  </a:moveTo>
                  <a:lnTo>
                    <a:pt x="0" y="3686175"/>
                  </a:lnTo>
                </a:path>
              </a:pathLst>
            </a:custGeom>
            <a:noFill/>
            <a:ln w="19050">
              <a:solidFill>
                <a:schemeClr val="accent4"/>
              </a:solidFill>
            </a:ln>
          </p:spPr>
        </p:sp>
        <p:sp>
          <p:nvSpPr>
            <p:cNvPr id="11" name="Line 11"/>
            <p:cNvSpPr/>
            <p:nvPr/>
          </p:nvSpPr>
          <p:spPr>
            <a:xfrm>
              <a:off x="9963150" y="1504950"/>
              <a:ext cx="9525" cy="3686175"/>
            </a:xfrm>
            <a:custGeom>
              <a:avLst/>
              <a:gdLst/>
              <a:ahLst/>
              <a:cxnLst/>
              <a:rect l="l" t="t" r="r" b="b"/>
              <a:pathLst>
                <a:path w="9525" h="3686175">
                  <a:moveTo>
                    <a:pt x="0" y="0"/>
                  </a:moveTo>
                  <a:lnTo>
                    <a:pt x="0" y="3686175"/>
                  </a:lnTo>
                </a:path>
              </a:pathLst>
            </a:custGeom>
            <a:noFill/>
            <a:ln w="19050">
              <a:solidFill>
                <a:schemeClr val="accent4"/>
              </a:solidFill>
            </a:ln>
          </p:spPr>
        </p:sp>
        <p:sp>
          <p:nvSpPr>
            <p:cNvPr id="12" name="Line 12"/>
            <p:cNvSpPr/>
            <p:nvPr/>
          </p:nvSpPr>
          <p:spPr>
            <a:xfrm>
              <a:off x="533400" y="2095500"/>
              <a:ext cx="11125200" cy="9525"/>
            </a:xfrm>
            <a:custGeom>
              <a:avLst/>
              <a:gdLst/>
              <a:ahLst/>
              <a:cxnLst/>
              <a:rect l="l" t="t" r="r" b="b"/>
              <a:pathLst>
                <a:path w="11125200" h="9525">
                  <a:moveTo>
                    <a:pt x="0" y="0"/>
                  </a:moveTo>
                  <a:lnTo>
                    <a:pt x="11125200" y="0"/>
                  </a:lnTo>
                </a:path>
              </a:pathLst>
            </a:custGeom>
            <a:noFill/>
            <a:ln w="19050">
              <a:solidFill>
                <a:schemeClr val="accent4"/>
              </a:solidFill>
            </a:ln>
          </p:spPr>
        </p:sp>
        <p:sp>
          <p:nvSpPr>
            <p:cNvPr id="13" name="Line 13"/>
            <p:cNvSpPr/>
            <p:nvPr/>
          </p:nvSpPr>
          <p:spPr>
            <a:xfrm>
              <a:off x="533400" y="2714625"/>
              <a:ext cx="11125200" cy="9525"/>
            </a:xfrm>
            <a:custGeom>
              <a:avLst/>
              <a:gdLst/>
              <a:ahLst/>
              <a:cxnLst/>
              <a:rect l="l" t="t" r="r" b="b"/>
              <a:pathLst>
                <a:path w="11125200" h="9525">
                  <a:moveTo>
                    <a:pt x="0" y="0"/>
                  </a:moveTo>
                  <a:lnTo>
                    <a:pt x="11125200" y="0"/>
                  </a:lnTo>
                </a:path>
              </a:pathLst>
            </a:custGeom>
            <a:noFill/>
            <a:ln w="19050">
              <a:solidFill>
                <a:schemeClr val="accent4"/>
              </a:solidFill>
            </a:ln>
          </p:spPr>
        </p:sp>
        <p:sp>
          <p:nvSpPr>
            <p:cNvPr id="14" name="Line 14"/>
            <p:cNvSpPr/>
            <p:nvPr/>
          </p:nvSpPr>
          <p:spPr>
            <a:xfrm>
              <a:off x="533400" y="3333750"/>
              <a:ext cx="11125200" cy="9525"/>
            </a:xfrm>
            <a:custGeom>
              <a:avLst/>
              <a:gdLst/>
              <a:ahLst/>
              <a:cxnLst/>
              <a:rect l="l" t="t" r="r" b="b"/>
              <a:pathLst>
                <a:path w="11125200" h="9525">
                  <a:moveTo>
                    <a:pt x="0" y="0"/>
                  </a:moveTo>
                  <a:lnTo>
                    <a:pt x="11125200" y="0"/>
                  </a:lnTo>
                </a:path>
              </a:pathLst>
            </a:custGeom>
            <a:noFill/>
            <a:ln w="19050">
              <a:solidFill>
                <a:schemeClr val="accent4"/>
              </a:solidFill>
            </a:ln>
          </p:spPr>
        </p:sp>
        <p:sp>
          <p:nvSpPr>
            <p:cNvPr id="15" name="Line 15"/>
            <p:cNvSpPr/>
            <p:nvPr/>
          </p:nvSpPr>
          <p:spPr>
            <a:xfrm>
              <a:off x="533400" y="3952875"/>
              <a:ext cx="11125200" cy="9525"/>
            </a:xfrm>
            <a:custGeom>
              <a:avLst/>
              <a:gdLst/>
              <a:ahLst/>
              <a:cxnLst/>
              <a:rect l="l" t="t" r="r" b="b"/>
              <a:pathLst>
                <a:path w="11125200" h="9525">
                  <a:moveTo>
                    <a:pt x="0" y="0"/>
                  </a:moveTo>
                  <a:lnTo>
                    <a:pt x="11125200" y="0"/>
                  </a:lnTo>
                </a:path>
              </a:pathLst>
            </a:custGeom>
            <a:noFill/>
            <a:ln w="19050">
              <a:solidFill>
                <a:schemeClr val="accent4"/>
              </a:solidFill>
            </a:ln>
          </p:spPr>
        </p:sp>
        <p:sp>
          <p:nvSpPr>
            <p:cNvPr id="16" name="Line 16"/>
            <p:cNvSpPr/>
            <p:nvPr/>
          </p:nvSpPr>
          <p:spPr>
            <a:xfrm>
              <a:off x="533400" y="4572000"/>
              <a:ext cx="11125200" cy="9525"/>
            </a:xfrm>
            <a:custGeom>
              <a:avLst/>
              <a:gdLst/>
              <a:ahLst/>
              <a:cxnLst/>
              <a:rect l="l" t="t" r="r" b="b"/>
              <a:pathLst>
                <a:path w="11125200" h="9525">
                  <a:moveTo>
                    <a:pt x="0" y="0"/>
                  </a:moveTo>
                  <a:lnTo>
                    <a:pt x="11125200" y="0"/>
                  </a:lnTo>
                </a:path>
              </a:pathLst>
            </a:custGeom>
            <a:noFill/>
            <a:ln w="19050">
              <a:solidFill>
                <a:schemeClr val="accent4"/>
              </a:solidFill>
            </a:ln>
          </p:spPr>
        </p:sp>
        <p:sp>
          <p:nvSpPr>
            <p:cNvPr id="17" name="TextBox 17"/>
            <p:cNvSpPr txBox="1"/>
            <p:nvPr/>
          </p:nvSpPr>
          <p:spPr>
            <a:xfrm>
              <a:off x="714756" y="1691640"/>
              <a:ext cx="986089"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VARIANT</a:t>
              </a:r>
            </a:p>
          </p:txBody>
        </p:sp>
        <p:sp>
          <p:nvSpPr>
            <p:cNvPr id="18" name="TextBox 18"/>
            <p:cNvSpPr txBox="1"/>
            <p:nvPr/>
          </p:nvSpPr>
          <p:spPr>
            <a:xfrm>
              <a:off x="3381756" y="1691640"/>
              <a:ext cx="905439"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CHANGE</a:t>
              </a:r>
            </a:p>
          </p:txBody>
        </p:sp>
        <p:sp>
          <p:nvSpPr>
            <p:cNvPr id="19" name="TextBox 19"/>
            <p:cNvSpPr txBox="1"/>
            <p:nvPr/>
          </p:nvSpPr>
          <p:spPr>
            <a:xfrm>
              <a:off x="7365797" y="1691640"/>
              <a:ext cx="891997" cy="352044"/>
            </a:xfrm>
            <a:prstGeom prst="rect">
              <a:avLst/>
            </a:prstGeom>
            <a:noFill/>
            <a:ln>
              <a:noFill/>
            </a:ln>
          </p:spPr>
          <p:txBody>
            <a:bodyPr wrap="none" lIns="0" tIns="0" rIns="0" bIns="0" anchor="t" anchorCtr="0">
              <a:spAutoFit/>
            </a:bodyPr>
            <a:lstStyle/>
            <a:p>
              <a:pPr algn="r"/>
              <a:r>
                <a:rPr lang="en-US" sz="1800" b="1" dirty="0">
                  <a:solidFill>
                    <a:srgbClr val="FFFFFF"/>
                  </a:solidFill>
                  <a:latin typeface="+mn-lt"/>
                  <a:ea typeface="+mn-ea"/>
                  <a:cs typeface="+mn-cs"/>
                </a:rPr>
                <a:t>RMSE ↓</a:t>
              </a:r>
            </a:p>
          </p:txBody>
        </p:sp>
        <p:sp>
          <p:nvSpPr>
            <p:cNvPr id="20" name="TextBox 20"/>
            <p:cNvSpPr txBox="1"/>
            <p:nvPr/>
          </p:nvSpPr>
          <p:spPr>
            <a:xfrm>
              <a:off x="9169432" y="1691640"/>
              <a:ext cx="612362" cy="352044"/>
            </a:xfrm>
            <a:prstGeom prst="rect">
              <a:avLst/>
            </a:prstGeom>
            <a:noFill/>
            <a:ln>
              <a:noFill/>
            </a:ln>
          </p:spPr>
          <p:txBody>
            <a:bodyPr wrap="none" lIns="0" tIns="0" rIns="0" bIns="0" anchor="t" anchorCtr="0">
              <a:spAutoFit/>
            </a:bodyPr>
            <a:lstStyle/>
            <a:p>
              <a:pPr algn="r"/>
              <a:r>
                <a:rPr lang="en-US" sz="1800" b="1" dirty="0">
                  <a:solidFill>
                    <a:srgbClr val="FFFFFF"/>
                  </a:solidFill>
                  <a:latin typeface="+mn-lt"/>
                  <a:ea typeface="+mn-ea"/>
                  <a:cs typeface="+mn-cs"/>
                </a:rPr>
                <a:t>IoU ↑</a:t>
              </a:r>
            </a:p>
          </p:txBody>
        </p:sp>
        <p:sp>
          <p:nvSpPr>
            <p:cNvPr id="21" name="TextBox 21"/>
            <p:cNvSpPr txBox="1"/>
            <p:nvPr/>
          </p:nvSpPr>
          <p:spPr>
            <a:xfrm>
              <a:off x="9980371" y="1691640"/>
              <a:ext cx="1496873" cy="352044"/>
            </a:xfrm>
            <a:prstGeom prst="rect">
              <a:avLst/>
            </a:prstGeom>
            <a:noFill/>
            <a:ln>
              <a:noFill/>
            </a:ln>
          </p:spPr>
          <p:txBody>
            <a:bodyPr wrap="none" lIns="0" tIns="0" rIns="0" bIns="0" anchor="t" anchorCtr="0">
              <a:spAutoFit/>
            </a:bodyPr>
            <a:lstStyle/>
            <a:p>
              <a:pPr algn="r"/>
              <a:r>
                <a:rPr lang="en-US" sz="1800" b="1" dirty="0">
                  <a:solidFill>
                    <a:srgbClr val="FFFFFF"/>
                  </a:solidFill>
                  <a:latin typeface="+mn-lt"/>
                  <a:ea typeface="+mn-ea"/>
                  <a:cs typeface="+mn-cs"/>
                </a:rPr>
                <a:t>VARIATION ↓</a:t>
              </a:r>
            </a:p>
          </p:txBody>
        </p:sp>
        <p:sp>
          <p:nvSpPr>
            <p:cNvPr id="22" name="TextBox 22"/>
            <p:cNvSpPr txBox="1"/>
            <p:nvPr/>
          </p:nvSpPr>
          <p:spPr>
            <a:xfrm>
              <a:off x="714756" y="2291715"/>
              <a:ext cx="2502711"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Full method: Profile</a:t>
              </a:r>
            </a:p>
          </p:txBody>
        </p:sp>
        <p:sp>
          <p:nvSpPr>
            <p:cNvPr id="23" name="TextBox 23"/>
            <p:cNvSpPr txBox="1"/>
            <p:nvPr/>
          </p:nvSpPr>
          <p:spPr>
            <a:xfrm>
              <a:off x="3381756" y="2291715"/>
              <a:ext cx="199810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Keep all modules</a:t>
              </a:r>
            </a:p>
          </p:txBody>
        </p:sp>
        <p:sp>
          <p:nvSpPr>
            <p:cNvPr id="24" name="TextBox 24"/>
            <p:cNvSpPr txBox="1"/>
            <p:nvPr/>
          </p:nvSpPr>
          <p:spPr>
            <a:xfrm>
              <a:off x="7539819" y="2291715"/>
              <a:ext cx="717975" cy="352044"/>
            </a:xfrm>
            <a:prstGeom prst="rect">
              <a:avLst/>
            </a:prstGeom>
            <a:noFill/>
            <a:ln>
              <a:noFill/>
            </a:ln>
          </p:spPr>
          <p:txBody>
            <a:bodyPr wrap="none" lIns="0" tIns="0" rIns="0" bIns="0" anchor="t" anchorCtr="0">
              <a:spAutoFit/>
            </a:bodyPr>
            <a:lstStyle/>
            <a:p>
              <a:pPr algn="r"/>
              <a:r>
                <a:rPr lang="en-US" sz="1800" b="1" dirty="0">
                  <a:solidFill>
                    <a:schemeClr val="accent1"/>
                  </a:solidFill>
                  <a:latin typeface="+mn-lt"/>
                  <a:ea typeface="+mn-ea"/>
                  <a:cs typeface="+mn-cs"/>
                </a:rPr>
                <a:t>3.253</a:t>
              </a:r>
            </a:p>
          </p:txBody>
        </p:sp>
        <p:sp>
          <p:nvSpPr>
            <p:cNvPr id="25" name="TextBox 25"/>
            <p:cNvSpPr txBox="1"/>
            <p:nvPr/>
          </p:nvSpPr>
          <p:spPr>
            <a:xfrm>
              <a:off x="8644006" y="2291715"/>
              <a:ext cx="1137788" cy="352044"/>
            </a:xfrm>
            <a:prstGeom prst="rect">
              <a:avLst/>
            </a:prstGeom>
            <a:noFill/>
            <a:ln>
              <a:noFill/>
            </a:ln>
          </p:spPr>
          <p:txBody>
            <a:bodyPr wrap="none" lIns="0" tIns="0" rIns="0" bIns="0" anchor="t" anchorCtr="0">
              <a:spAutoFit/>
            </a:bodyPr>
            <a:lstStyle/>
            <a:p>
              <a:pPr algn="r"/>
              <a:r>
                <a:rPr lang="en-US" sz="1800" b="1" dirty="0">
                  <a:solidFill>
                    <a:schemeClr val="accent1"/>
                  </a:solidFill>
                  <a:latin typeface="+mn-lt"/>
                  <a:ea typeface="+mn-ea"/>
                  <a:cs typeface="+mn-cs"/>
                </a:rPr>
                <a:t>0.996038</a:t>
              </a:r>
            </a:p>
          </p:txBody>
        </p:sp>
        <p:sp>
          <p:nvSpPr>
            <p:cNvPr id="26" name="TextBox 26"/>
            <p:cNvSpPr txBox="1"/>
            <p:nvPr/>
          </p:nvSpPr>
          <p:spPr>
            <a:xfrm>
              <a:off x="10759269" y="2291715"/>
              <a:ext cx="717975" cy="352044"/>
            </a:xfrm>
            <a:prstGeom prst="rect">
              <a:avLst/>
            </a:prstGeom>
            <a:noFill/>
            <a:ln>
              <a:noFill/>
            </a:ln>
          </p:spPr>
          <p:txBody>
            <a:bodyPr wrap="none" lIns="0" tIns="0" rIns="0" bIns="0" anchor="t" anchorCtr="0">
              <a:spAutoFit/>
            </a:bodyPr>
            <a:lstStyle/>
            <a:p>
              <a:pPr algn="r"/>
              <a:r>
                <a:rPr lang="en-US" sz="1800" b="1" dirty="0">
                  <a:solidFill>
                    <a:schemeClr val="accent2"/>
                  </a:solidFill>
                  <a:latin typeface="+mn-lt"/>
                  <a:ea typeface="+mn-ea"/>
                  <a:cs typeface="+mn-cs"/>
                </a:rPr>
                <a:t>0.752</a:t>
              </a:r>
            </a:p>
          </p:txBody>
        </p:sp>
        <p:sp>
          <p:nvSpPr>
            <p:cNvPr id="27" name="TextBox 27"/>
            <p:cNvSpPr txBox="1"/>
            <p:nvPr/>
          </p:nvSpPr>
          <p:spPr>
            <a:xfrm>
              <a:off x="714756" y="2910840"/>
              <a:ext cx="289747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No trajectory smoothing</a:t>
              </a:r>
            </a:p>
          </p:txBody>
        </p:sp>
        <p:sp>
          <p:nvSpPr>
            <p:cNvPr id="28" name="TextBox 28"/>
            <p:cNvSpPr txBox="1"/>
            <p:nvPr/>
          </p:nvSpPr>
          <p:spPr>
            <a:xfrm>
              <a:off x="3381756" y="2910840"/>
              <a:ext cx="297000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Remove trajectory filter</a:t>
              </a:r>
            </a:p>
          </p:txBody>
        </p:sp>
        <p:sp>
          <p:nvSpPr>
            <p:cNvPr id="29" name="TextBox 29"/>
            <p:cNvSpPr txBox="1"/>
            <p:nvPr/>
          </p:nvSpPr>
          <p:spPr>
            <a:xfrm>
              <a:off x="7573137" y="2910840"/>
              <a:ext cx="684657"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2.932</a:t>
              </a:r>
            </a:p>
          </p:txBody>
        </p:sp>
        <p:sp>
          <p:nvSpPr>
            <p:cNvPr id="30" name="TextBox 30"/>
            <p:cNvSpPr txBox="1"/>
            <p:nvPr/>
          </p:nvSpPr>
          <p:spPr>
            <a:xfrm>
              <a:off x="8697316" y="2910840"/>
              <a:ext cx="1084478"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0.996585</a:t>
              </a:r>
            </a:p>
          </p:txBody>
        </p:sp>
        <p:sp>
          <p:nvSpPr>
            <p:cNvPr id="31" name="TextBox 31"/>
            <p:cNvSpPr txBox="1"/>
            <p:nvPr/>
          </p:nvSpPr>
          <p:spPr>
            <a:xfrm>
              <a:off x="10759269" y="2910840"/>
              <a:ext cx="717975" cy="352044"/>
            </a:xfrm>
            <a:prstGeom prst="rect">
              <a:avLst/>
            </a:prstGeom>
            <a:noFill/>
            <a:ln>
              <a:noFill/>
            </a:ln>
          </p:spPr>
          <p:txBody>
            <a:bodyPr wrap="none" lIns="0" tIns="0" rIns="0" bIns="0" anchor="t" anchorCtr="0">
              <a:spAutoFit/>
            </a:bodyPr>
            <a:lstStyle/>
            <a:p>
              <a:pPr algn="r"/>
              <a:r>
                <a:rPr lang="en-US" sz="1800" b="1" dirty="0">
                  <a:solidFill>
                    <a:srgbClr val="D14343"/>
                  </a:solidFill>
                  <a:latin typeface="+mn-lt"/>
                  <a:ea typeface="+mn-ea"/>
                  <a:cs typeface="+mn-cs"/>
                </a:rPr>
                <a:t>1.430</a:t>
              </a:r>
            </a:p>
          </p:txBody>
        </p:sp>
        <p:sp>
          <p:nvSpPr>
            <p:cNvPr id="32" name="TextBox 32"/>
            <p:cNvSpPr txBox="1"/>
            <p:nvPr/>
          </p:nvSpPr>
          <p:spPr>
            <a:xfrm>
              <a:off x="714756" y="3529965"/>
              <a:ext cx="1931278"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No LK diagnostic</a:t>
              </a:r>
            </a:p>
          </p:txBody>
        </p:sp>
        <p:sp>
          <p:nvSpPr>
            <p:cNvPr id="33" name="TextBox 33"/>
            <p:cNvSpPr txBox="1"/>
            <p:nvPr/>
          </p:nvSpPr>
          <p:spPr>
            <a:xfrm>
              <a:off x="3381756" y="3529965"/>
              <a:ext cx="345452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Disable internal motion check</a:t>
              </a:r>
            </a:p>
          </p:txBody>
        </p:sp>
        <p:sp>
          <p:nvSpPr>
            <p:cNvPr id="34" name="TextBox 34"/>
            <p:cNvSpPr txBox="1"/>
            <p:nvPr/>
          </p:nvSpPr>
          <p:spPr>
            <a:xfrm>
              <a:off x="7573137" y="3529965"/>
              <a:ext cx="684657"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3.253</a:t>
              </a:r>
            </a:p>
          </p:txBody>
        </p:sp>
        <p:sp>
          <p:nvSpPr>
            <p:cNvPr id="35" name="TextBox 35"/>
            <p:cNvSpPr txBox="1"/>
            <p:nvPr/>
          </p:nvSpPr>
          <p:spPr>
            <a:xfrm>
              <a:off x="8697316" y="3529965"/>
              <a:ext cx="1084478"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0.996038</a:t>
              </a:r>
            </a:p>
          </p:txBody>
        </p:sp>
        <p:sp>
          <p:nvSpPr>
            <p:cNvPr id="36" name="TextBox 36"/>
            <p:cNvSpPr txBox="1"/>
            <p:nvPr/>
          </p:nvSpPr>
          <p:spPr>
            <a:xfrm>
              <a:off x="10792587" y="3529965"/>
              <a:ext cx="684657"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0.752</a:t>
              </a:r>
            </a:p>
          </p:txBody>
        </p:sp>
        <p:sp>
          <p:nvSpPr>
            <p:cNvPr id="37" name="TextBox 37"/>
            <p:cNvSpPr txBox="1"/>
            <p:nvPr/>
          </p:nvSpPr>
          <p:spPr>
            <a:xfrm>
              <a:off x="714756" y="4149090"/>
              <a:ext cx="303073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No automatic redetection</a:t>
              </a:r>
            </a:p>
          </p:txBody>
        </p:sp>
        <p:sp>
          <p:nvSpPr>
            <p:cNvPr id="38" name="TextBox 38"/>
            <p:cNvSpPr txBox="1"/>
            <p:nvPr/>
          </p:nvSpPr>
          <p:spPr>
            <a:xfrm>
              <a:off x="3381756" y="4149090"/>
              <a:ext cx="323654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Disable automatic recovery</a:t>
              </a:r>
            </a:p>
          </p:txBody>
        </p:sp>
        <p:sp>
          <p:nvSpPr>
            <p:cNvPr id="39" name="TextBox 39"/>
            <p:cNvSpPr txBox="1"/>
            <p:nvPr/>
          </p:nvSpPr>
          <p:spPr>
            <a:xfrm>
              <a:off x="7573137" y="4149090"/>
              <a:ext cx="684657"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3.253</a:t>
              </a:r>
            </a:p>
          </p:txBody>
        </p:sp>
        <p:sp>
          <p:nvSpPr>
            <p:cNvPr id="40" name="TextBox 40"/>
            <p:cNvSpPr txBox="1"/>
            <p:nvPr/>
          </p:nvSpPr>
          <p:spPr>
            <a:xfrm>
              <a:off x="8697316" y="4149090"/>
              <a:ext cx="1084478"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0.996038</a:t>
              </a:r>
            </a:p>
          </p:txBody>
        </p:sp>
        <p:sp>
          <p:nvSpPr>
            <p:cNvPr id="41" name="TextBox 41"/>
            <p:cNvSpPr txBox="1"/>
            <p:nvPr/>
          </p:nvSpPr>
          <p:spPr>
            <a:xfrm>
              <a:off x="10792587" y="4149090"/>
              <a:ext cx="684657"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0.752</a:t>
              </a:r>
            </a:p>
          </p:txBody>
        </p:sp>
        <p:sp>
          <p:nvSpPr>
            <p:cNvPr id="42" name="TextBox 42"/>
            <p:cNvSpPr txBox="1"/>
            <p:nvPr/>
          </p:nvSpPr>
          <p:spPr>
            <a:xfrm>
              <a:off x="714756" y="4768215"/>
              <a:ext cx="203764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Loose edge gates</a:t>
              </a:r>
            </a:p>
          </p:txBody>
        </p:sp>
        <p:sp>
          <p:nvSpPr>
            <p:cNvPr id="43" name="TextBox 43"/>
            <p:cNvSpPr txBox="1"/>
            <p:nvPr/>
          </p:nvSpPr>
          <p:spPr>
            <a:xfrm>
              <a:off x="3381756" y="4768215"/>
              <a:ext cx="390318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Relax edge geometry constraints</a:t>
              </a:r>
            </a:p>
          </p:txBody>
        </p:sp>
        <p:sp>
          <p:nvSpPr>
            <p:cNvPr id="44" name="TextBox 44"/>
            <p:cNvSpPr txBox="1"/>
            <p:nvPr/>
          </p:nvSpPr>
          <p:spPr>
            <a:xfrm>
              <a:off x="7573137" y="4768215"/>
              <a:ext cx="684657"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3.253</a:t>
              </a:r>
            </a:p>
          </p:txBody>
        </p:sp>
        <p:sp>
          <p:nvSpPr>
            <p:cNvPr id="45" name="TextBox 45"/>
            <p:cNvSpPr txBox="1"/>
            <p:nvPr/>
          </p:nvSpPr>
          <p:spPr>
            <a:xfrm>
              <a:off x="8697316" y="4768215"/>
              <a:ext cx="1084478"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0.996038</a:t>
              </a:r>
            </a:p>
          </p:txBody>
        </p:sp>
        <p:sp>
          <p:nvSpPr>
            <p:cNvPr id="46" name="TextBox 46"/>
            <p:cNvSpPr txBox="1"/>
            <p:nvPr/>
          </p:nvSpPr>
          <p:spPr>
            <a:xfrm>
              <a:off x="10792587" y="4768215"/>
              <a:ext cx="684657"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0.752</a:t>
              </a:r>
            </a:p>
          </p:txBody>
        </p:sp>
      </p:grpSp>
      <p:grpSp>
        <p:nvGrpSpPr>
          <p:cNvPr id="52" name="Group 52"/>
          <p:cNvGrpSpPr/>
          <p:nvPr/>
        </p:nvGrpSpPr>
        <p:grpSpPr>
          <a:xfrm>
            <a:off x="533400" y="5505450"/>
            <a:ext cx="12625273" cy="746951"/>
            <a:chOff x="533400" y="5505450"/>
            <a:chExt cx="12625273" cy="746951"/>
          </a:xfrm>
        </p:grpSpPr>
        <p:sp>
          <p:nvSpPr>
            <p:cNvPr id="48" name="Rectangle 48"/>
            <p:cNvSpPr/>
            <p:nvPr/>
          </p:nvSpPr>
          <p:spPr>
            <a:xfrm>
              <a:off x="533400" y="5505450"/>
              <a:ext cx="11125200" cy="742950"/>
            </a:xfrm>
            <a:prstGeom prst="rect">
              <a:avLst/>
            </a:prstGeom>
            <a:solidFill>
              <a:schemeClr val="lt2"/>
            </a:solidFill>
            <a:ln w="19050">
              <a:solidFill>
                <a:schemeClr val="accent2"/>
              </a:solidFill>
            </a:ln>
          </p:spPr>
        </p:sp>
        <p:sp>
          <p:nvSpPr>
            <p:cNvPr id="49" name="TextBox 49"/>
            <p:cNvSpPr txBox="1"/>
            <p:nvPr/>
          </p:nvSpPr>
          <p:spPr>
            <a:xfrm>
              <a:off x="787908" y="5570220"/>
              <a:ext cx="8212981"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Smoothing cuts frame-to-frame variation by 47%</a:t>
              </a:r>
            </a:p>
          </p:txBody>
        </p:sp>
        <p:sp>
          <p:nvSpPr>
            <p:cNvPr id="50" name="TextBox 50"/>
            <p:cNvSpPr txBox="1"/>
            <p:nvPr/>
          </p:nvSpPr>
          <p:spPr>
            <a:xfrm>
              <a:off x="6791706" y="5634990"/>
              <a:ext cx="636696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1.430 → 0.752, with only a small geometry trade-off.</a:t>
              </a:r>
            </a:p>
          </p:txBody>
        </p:sp>
        <p:sp>
          <p:nvSpPr>
            <p:cNvPr id="51" name="TextBox 51"/>
            <p:cNvSpPr txBox="1"/>
            <p:nvPr/>
          </p:nvSpPr>
          <p:spPr>
            <a:xfrm>
              <a:off x="793242" y="5988368"/>
              <a:ext cx="779800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Identical rows indicate inactive branches on this sequence; the next slide explains why.</a:t>
              </a:r>
            </a:p>
          </p:txBody>
        </p:sp>
      </p:grpSp>
      <p:sp>
        <p:nvSpPr>
          <p:cNvPr id="53" name="TextBox 53"/>
          <p:cNvSpPr txBox="1"/>
          <p:nvPr/>
        </p:nvSpPr>
        <p:spPr>
          <a:xfrm>
            <a:off x="11451831" y="64265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4350" y="191452"/>
            <a:ext cx="16028891" cy="1246633"/>
            <a:chOff x="514350" y="191452"/>
            <a:chExt cx="16028891" cy="1246633"/>
          </a:xfrm>
        </p:grpSpPr>
        <p:sp>
          <p:nvSpPr>
            <p:cNvPr id="2" name="TextBox 2"/>
            <p:cNvSpPr txBox="1"/>
            <p:nvPr/>
          </p:nvSpPr>
          <p:spPr>
            <a:xfrm>
              <a:off x="514350" y="191452"/>
              <a:ext cx="16028891"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Identical metrics do not make the safety modules useless</a:t>
              </a:r>
            </a:p>
          </p:txBody>
        </p:sp>
        <p:sp>
          <p:nvSpPr>
            <p:cNvPr id="3" name="TextBox 3"/>
            <p:cNvSpPr txBox="1"/>
            <p:nvPr/>
          </p:nvSpPr>
          <p:spPr>
            <a:xfrm>
              <a:off x="517398" y="822008"/>
              <a:ext cx="13760253" cy="616077"/>
            </a:xfrm>
            <a:prstGeom prst="rect">
              <a:avLst/>
            </a:prstGeom>
            <a:noFill/>
            <a:ln>
              <a:noFill/>
            </a:ln>
          </p:spPr>
          <p:txBody>
            <a:bodyPr wrap="none" lIns="0" tIns="0" rIns="0" bIns="0" anchor="t" anchorCtr="0">
              <a:spAutoFit/>
            </a:bodyPr>
            <a:lstStyle/>
            <a:p>
              <a:pPr algn="l"/>
              <a:r>
                <a:rPr lang="en-US" sz="3150" b="1" dirty="0">
                  <a:solidFill>
                    <a:schemeClr val="dk2"/>
                  </a:solidFill>
                  <a:latin typeface="+mn-lt"/>
                  <a:ea typeface="+mn-ea"/>
                  <a:cs typeface="+mn-cs"/>
                </a:rPr>
                <a:t>Their conditional branches were not triggered on this sequence</a:t>
              </a:r>
            </a:p>
          </p:txBody>
        </p:sp>
      </p:grpSp>
      <p:grpSp>
        <p:nvGrpSpPr>
          <p:cNvPr id="18" name="Group 18"/>
          <p:cNvGrpSpPr/>
          <p:nvPr/>
        </p:nvGrpSpPr>
        <p:grpSpPr>
          <a:xfrm>
            <a:off x="533400" y="1562100"/>
            <a:ext cx="4699320" cy="4282440"/>
            <a:chOff x="533400" y="1562100"/>
            <a:chExt cx="4699320" cy="4282440"/>
          </a:xfrm>
        </p:grpSpPr>
        <p:sp>
          <p:nvSpPr>
            <p:cNvPr id="5" name="Rectangle 5"/>
            <p:cNvSpPr/>
            <p:nvPr/>
          </p:nvSpPr>
          <p:spPr>
            <a:xfrm>
              <a:off x="533400" y="1562100"/>
              <a:ext cx="3371850" cy="4248150"/>
            </a:xfrm>
            <a:prstGeom prst="rect">
              <a:avLst/>
            </a:prstGeom>
            <a:solidFill>
              <a:schemeClr val="lt2"/>
            </a:solidFill>
            <a:ln w="19050">
              <a:solidFill>
                <a:schemeClr val="accent4"/>
              </a:solidFill>
            </a:ln>
          </p:spPr>
        </p:sp>
        <p:sp>
          <p:nvSpPr>
            <p:cNvPr id="6" name="TextBox 6"/>
            <p:cNvSpPr txBox="1"/>
            <p:nvPr/>
          </p:nvSpPr>
          <p:spPr>
            <a:xfrm>
              <a:off x="790956" y="1767840"/>
              <a:ext cx="3432475"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WHAT THE RUN ACTUALLY DID</a:t>
              </a:r>
            </a:p>
          </p:txBody>
        </p:sp>
        <p:sp>
          <p:nvSpPr>
            <p:cNvPr id="7" name="TextBox 7"/>
            <p:cNvSpPr txBox="1"/>
            <p:nvPr/>
          </p:nvSpPr>
          <p:spPr>
            <a:xfrm>
              <a:off x="781050" y="2282190"/>
              <a:ext cx="411267" cy="933450"/>
            </a:xfrm>
            <a:prstGeom prst="rect">
              <a:avLst/>
            </a:prstGeom>
            <a:noFill/>
            <a:ln>
              <a:noFill/>
            </a:ln>
          </p:spPr>
          <p:txBody>
            <a:bodyPr wrap="none" lIns="0" tIns="0" rIns="0" bIns="0" anchor="t" anchorCtr="0">
              <a:spAutoFit/>
            </a:bodyPr>
            <a:lstStyle/>
            <a:p>
              <a:pPr algn="l"/>
              <a:r>
                <a:rPr lang="en-US" sz="4800" b="1" dirty="0">
                  <a:solidFill>
                    <a:schemeClr val="accent1"/>
                  </a:solidFill>
                  <a:latin typeface="+mn-lt"/>
                  <a:ea typeface="+mn-ea"/>
                  <a:cs typeface="+mn-cs"/>
                </a:rPr>
                <a:t>1</a:t>
              </a:r>
            </a:p>
          </p:txBody>
        </p:sp>
        <p:sp>
          <p:nvSpPr>
            <p:cNvPr id="8" name="TextBox 8"/>
            <p:cNvSpPr txBox="1"/>
            <p:nvPr/>
          </p:nvSpPr>
          <p:spPr>
            <a:xfrm>
              <a:off x="1588008" y="2484120"/>
              <a:ext cx="2093763"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initial frame</a:t>
              </a:r>
            </a:p>
          </p:txBody>
        </p:sp>
        <p:sp>
          <p:nvSpPr>
            <p:cNvPr id="9" name="TextBox 9"/>
            <p:cNvSpPr txBox="1"/>
            <p:nvPr/>
          </p:nvSpPr>
          <p:spPr>
            <a:xfrm>
              <a:off x="1591056" y="2853690"/>
              <a:ext cx="2332406"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initial quadrilateral</a:t>
              </a:r>
            </a:p>
          </p:txBody>
        </p:sp>
        <p:sp>
          <p:nvSpPr>
            <p:cNvPr id="10" name="Line 10"/>
            <p:cNvSpPr/>
            <p:nvPr/>
          </p:nvSpPr>
          <p:spPr>
            <a:xfrm>
              <a:off x="800100" y="3295650"/>
              <a:ext cx="2838450" cy="9525"/>
            </a:xfrm>
            <a:custGeom>
              <a:avLst/>
              <a:gdLst/>
              <a:ahLst/>
              <a:cxnLst/>
              <a:rect l="l" t="t" r="r" b="b"/>
              <a:pathLst>
                <a:path w="2838450" h="9525">
                  <a:moveTo>
                    <a:pt x="0" y="0"/>
                  </a:moveTo>
                  <a:lnTo>
                    <a:pt x="2838450" y="0"/>
                  </a:lnTo>
                </a:path>
              </a:pathLst>
            </a:custGeom>
            <a:noFill/>
            <a:ln w="19050">
              <a:solidFill>
                <a:schemeClr val="accent4"/>
              </a:solidFill>
            </a:ln>
          </p:spPr>
        </p:sp>
        <p:sp>
          <p:nvSpPr>
            <p:cNvPr id="11" name="TextBox 11"/>
            <p:cNvSpPr txBox="1"/>
            <p:nvPr/>
          </p:nvSpPr>
          <p:spPr>
            <a:xfrm>
              <a:off x="781050" y="3596640"/>
              <a:ext cx="1157600"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298</a:t>
              </a:r>
            </a:p>
          </p:txBody>
        </p:sp>
        <p:sp>
          <p:nvSpPr>
            <p:cNvPr id="12" name="TextBox 12"/>
            <p:cNvSpPr txBox="1"/>
            <p:nvPr/>
          </p:nvSpPr>
          <p:spPr>
            <a:xfrm>
              <a:off x="2235708" y="3798570"/>
              <a:ext cx="2178573"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edge accepts</a:t>
              </a:r>
            </a:p>
          </p:txBody>
        </p:sp>
        <p:sp>
          <p:nvSpPr>
            <p:cNvPr id="13" name="TextBox 13"/>
            <p:cNvSpPr txBox="1"/>
            <p:nvPr/>
          </p:nvSpPr>
          <p:spPr>
            <a:xfrm>
              <a:off x="2238756" y="4168140"/>
              <a:ext cx="299396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Profile succeeds directly</a:t>
              </a:r>
            </a:p>
          </p:txBody>
        </p:sp>
        <p:sp>
          <p:nvSpPr>
            <p:cNvPr id="14" name="Line 14"/>
            <p:cNvSpPr/>
            <p:nvPr/>
          </p:nvSpPr>
          <p:spPr>
            <a:xfrm>
              <a:off x="800100" y="4610100"/>
              <a:ext cx="2838450" cy="9525"/>
            </a:xfrm>
            <a:custGeom>
              <a:avLst/>
              <a:gdLst/>
              <a:ahLst/>
              <a:cxnLst/>
              <a:rect l="l" t="t" r="r" b="b"/>
              <a:pathLst>
                <a:path w="2838450" h="9525">
                  <a:moveTo>
                    <a:pt x="0" y="0"/>
                  </a:moveTo>
                  <a:lnTo>
                    <a:pt x="2838450" y="0"/>
                  </a:lnTo>
                </a:path>
              </a:pathLst>
            </a:custGeom>
            <a:noFill/>
            <a:ln w="19050">
              <a:solidFill>
                <a:schemeClr val="accent4"/>
              </a:solidFill>
            </a:ln>
          </p:spPr>
        </p:sp>
        <p:sp>
          <p:nvSpPr>
            <p:cNvPr id="15" name="TextBox 15"/>
            <p:cNvSpPr txBox="1"/>
            <p:nvPr/>
          </p:nvSpPr>
          <p:spPr>
            <a:xfrm>
              <a:off x="781050" y="4911090"/>
              <a:ext cx="411267" cy="933450"/>
            </a:xfrm>
            <a:prstGeom prst="rect">
              <a:avLst/>
            </a:prstGeom>
            <a:noFill/>
            <a:ln>
              <a:noFill/>
            </a:ln>
          </p:spPr>
          <p:txBody>
            <a:bodyPr wrap="none" lIns="0" tIns="0" rIns="0" bIns="0" anchor="t" anchorCtr="0">
              <a:spAutoFit/>
            </a:bodyPr>
            <a:lstStyle/>
            <a:p>
              <a:pPr algn="l"/>
              <a:r>
                <a:rPr lang="en-US" sz="4800" b="1" dirty="0">
                  <a:solidFill>
                    <a:schemeClr val="accent3"/>
                  </a:solidFill>
                  <a:latin typeface="+mn-lt"/>
                  <a:ea typeface="+mn-ea"/>
                  <a:cs typeface="+mn-cs"/>
                </a:rPr>
                <a:t>0</a:t>
              </a:r>
            </a:p>
          </p:txBody>
        </p:sp>
        <p:sp>
          <p:nvSpPr>
            <p:cNvPr id="16" name="TextBox 16"/>
            <p:cNvSpPr txBox="1"/>
            <p:nvPr/>
          </p:nvSpPr>
          <p:spPr>
            <a:xfrm>
              <a:off x="1588008" y="5113020"/>
              <a:ext cx="197502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held frames</a:t>
              </a:r>
            </a:p>
          </p:txBody>
        </p:sp>
        <p:sp>
          <p:nvSpPr>
            <p:cNvPr id="17" name="TextBox 17"/>
            <p:cNvSpPr txBox="1"/>
            <p:nvPr/>
          </p:nvSpPr>
          <p:spPr>
            <a:xfrm>
              <a:off x="1591056" y="5482590"/>
              <a:ext cx="2635301"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no recovery path used</a:t>
              </a:r>
            </a:p>
          </p:txBody>
        </p:sp>
      </p:grpSp>
      <p:grpSp>
        <p:nvGrpSpPr>
          <p:cNvPr id="36" name="Group 36"/>
          <p:cNvGrpSpPr/>
          <p:nvPr/>
        </p:nvGrpSpPr>
        <p:grpSpPr>
          <a:xfrm>
            <a:off x="4219575" y="1771650"/>
            <a:ext cx="10246067" cy="3714750"/>
            <a:chOff x="4219575" y="1771650"/>
            <a:chExt cx="10246067" cy="3714750"/>
          </a:xfrm>
        </p:grpSpPr>
        <p:sp>
          <p:nvSpPr>
            <p:cNvPr id="19" name="Line 19"/>
            <p:cNvSpPr/>
            <p:nvPr/>
          </p:nvSpPr>
          <p:spPr>
            <a:xfrm>
              <a:off x="4305300" y="1771650"/>
              <a:ext cx="9525" cy="3714750"/>
            </a:xfrm>
            <a:custGeom>
              <a:avLst/>
              <a:gdLst/>
              <a:ahLst/>
              <a:cxnLst/>
              <a:rect l="l" t="t" r="r" b="b"/>
              <a:pathLst>
                <a:path w="9525" h="3714750">
                  <a:moveTo>
                    <a:pt x="0" y="0"/>
                  </a:moveTo>
                  <a:lnTo>
                    <a:pt x="0" y="3714750"/>
                  </a:lnTo>
                </a:path>
              </a:pathLst>
            </a:custGeom>
            <a:noFill/>
            <a:ln w="28575">
              <a:solidFill>
                <a:schemeClr val="accent4"/>
              </a:solidFill>
            </a:ln>
          </p:spPr>
        </p:sp>
        <p:sp>
          <p:nvSpPr>
            <p:cNvPr id="20" name="Ellipse 20"/>
            <p:cNvSpPr/>
            <p:nvPr/>
          </p:nvSpPr>
          <p:spPr>
            <a:xfrm>
              <a:off x="4219575" y="2047875"/>
              <a:ext cx="171450" cy="171450"/>
            </a:xfrm>
            <a:prstGeom prst="ellipse">
              <a:avLst/>
            </a:prstGeom>
            <a:solidFill>
              <a:schemeClr val="accent2"/>
            </a:solidFill>
            <a:ln>
              <a:noFill/>
            </a:ln>
          </p:spPr>
        </p:sp>
        <p:sp>
          <p:nvSpPr>
            <p:cNvPr id="21" name="Freeform 21"/>
            <p:cNvSpPr/>
            <p:nvPr/>
          </p:nvSpPr>
          <p:spPr>
            <a:xfrm>
              <a:off x="4648200" y="1943100"/>
              <a:ext cx="342900" cy="304800"/>
            </a:xfrm>
            <a:custGeom>
              <a:avLst/>
              <a:gdLst/>
              <a:ahLst/>
              <a:cxnLst/>
              <a:rect l="l" t="t" r="r" b="b"/>
              <a:pathLst>
                <a:path w="342900" h="304800">
                  <a:moveTo>
                    <a:pt x="0" y="152400"/>
                  </a:moveTo>
                  <a:lnTo>
                    <a:pt x="76200" y="152400"/>
                  </a:lnTo>
                  <a:lnTo>
                    <a:pt x="133350" y="304800"/>
                  </a:lnTo>
                  <a:lnTo>
                    <a:pt x="209550" y="0"/>
                  </a:lnTo>
                  <a:lnTo>
                    <a:pt x="266700" y="152400"/>
                  </a:lnTo>
                  <a:lnTo>
                    <a:pt x="342900" y="152400"/>
                  </a:lnTo>
                </a:path>
              </a:pathLst>
            </a:custGeom>
            <a:noFill/>
            <a:ln w="38100">
              <a:solidFill>
                <a:schemeClr val="accent2"/>
              </a:solidFill>
            </a:ln>
          </p:spPr>
        </p:sp>
        <p:sp>
          <p:nvSpPr>
            <p:cNvPr id="22" name="TextBox 22"/>
            <p:cNvSpPr txBox="1"/>
            <p:nvPr/>
          </p:nvSpPr>
          <p:spPr>
            <a:xfrm>
              <a:off x="5263134" y="1842135"/>
              <a:ext cx="4821509"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LK consistency diagnostic</a:t>
              </a:r>
            </a:p>
          </p:txBody>
        </p:sp>
        <p:sp>
          <p:nvSpPr>
            <p:cNvPr id="23" name="TextBox 23"/>
            <p:cNvSpPr txBox="1"/>
            <p:nvPr/>
          </p:nvSpPr>
          <p:spPr>
            <a:xfrm>
              <a:off x="5267706" y="2282190"/>
              <a:ext cx="8689396"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No decisive border–motion conflict → removing it does not change output.</a:t>
              </a:r>
            </a:p>
          </p:txBody>
        </p:sp>
        <p:sp>
          <p:nvSpPr>
            <p:cNvPr id="24" name="Line 24"/>
            <p:cNvSpPr/>
            <p:nvPr/>
          </p:nvSpPr>
          <p:spPr>
            <a:xfrm>
              <a:off x="4591050" y="2762250"/>
              <a:ext cx="7067550" cy="9525"/>
            </a:xfrm>
            <a:custGeom>
              <a:avLst/>
              <a:gdLst/>
              <a:ahLst/>
              <a:cxnLst/>
              <a:rect l="l" t="t" r="r" b="b"/>
              <a:pathLst>
                <a:path w="7067550" h="9525">
                  <a:moveTo>
                    <a:pt x="0" y="0"/>
                  </a:moveTo>
                  <a:lnTo>
                    <a:pt x="7067550" y="0"/>
                  </a:lnTo>
                </a:path>
              </a:pathLst>
            </a:custGeom>
            <a:noFill/>
            <a:ln w="19050">
              <a:solidFill>
                <a:schemeClr val="accent4"/>
              </a:solidFill>
            </a:ln>
          </p:spPr>
        </p:sp>
        <p:sp>
          <p:nvSpPr>
            <p:cNvPr id="25" name="Ellipse 25"/>
            <p:cNvSpPr/>
            <p:nvPr/>
          </p:nvSpPr>
          <p:spPr>
            <a:xfrm>
              <a:off x="4219575" y="3267075"/>
              <a:ext cx="171450" cy="171450"/>
            </a:xfrm>
            <a:prstGeom prst="ellipse">
              <a:avLst/>
            </a:prstGeom>
            <a:solidFill>
              <a:schemeClr val="accent3"/>
            </a:solidFill>
            <a:ln>
              <a:noFill/>
            </a:ln>
          </p:spPr>
        </p:sp>
        <p:grpSp>
          <p:nvGrpSpPr>
            <p:cNvPr id="28" name="Group 28"/>
            <p:cNvGrpSpPr/>
            <p:nvPr/>
          </p:nvGrpSpPr>
          <p:grpSpPr>
            <a:xfrm>
              <a:off x="4667250" y="3154950"/>
              <a:ext cx="304800" cy="319500"/>
              <a:chOff x="4667250" y="3154950"/>
              <a:chExt cx="304800" cy="319500"/>
            </a:xfrm>
          </p:grpSpPr>
          <p:sp>
            <p:nvSpPr>
              <p:cNvPr id="26" name="Freeform 26"/>
              <p:cNvSpPr/>
              <p:nvPr/>
            </p:nvSpPr>
            <p:spPr>
              <a:xfrm>
                <a:off x="4667250" y="3154950"/>
                <a:ext cx="304800" cy="140700"/>
              </a:xfrm>
              <a:custGeom>
                <a:avLst/>
                <a:gdLst/>
                <a:ahLst/>
                <a:cxnLst/>
                <a:rect l="l" t="t" r="r" b="b"/>
                <a:pathLst>
                  <a:path w="304800" h="140700">
                    <a:moveTo>
                      <a:pt x="304800" y="140700"/>
                    </a:moveTo>
                    <a:cubicBezTo>
                      <a:pt x="295223" y="71787"/>
                      <a:pt x="240713" y="17807"/>
                      <a:pt x="171710" y="8904"/>
                    </a:cubicBezTo>
                    <a:cubicBezTo>
                      <a:pt x="102708" y="0"/>
                      <a:pt x="36281" y="38375"/>
                      <a:pt x="9525" y="102600"/>
                    </a:cubicBezTo>
                    <a:moveTo>
                      <a:pt x="0" y="26400"/>
                    </a:moveTo>
                    <a:lnTo>
                      <a:pt x="0" y="102600"/>
                    </a:lnTo>
                    <a:lnTo>
                      <a:pt x="76200" y="102600"/>
                    </a:lnTo>
                  </a:path>
                </a:pathLst>
              </a:custGeom>
              <a:noFill/>
              <a:ln w="38100">
                <a:solidFill>
                  <a:schemeClr val="accent3"/>
                </a:solidFill>
              </a:ln>
            </p:spPr>
          </p:sp>
          <p:sp>
            <p:nvSpPr>
              <p:cNvPr id="27" name="Freeform 27"/>
              <p:cNvSpPr/>
              <p:nvPr/>
            </p:nvSpPr>
            <p:spPr>
              <a:xfrm>
                <a:off x="4667250" y="3333750"/>
                <a:ext cx="304800" cy="140700"/>
              </a:xfrm>
              <a:custGeom>
                <a:avLst/>
                <a:gdLst/>
                <a:ahLst/>
                <a:cxnLst/>
                <a:rect l="l" t="t" r="r" b="b"/>
                <a:pathLst>
                  <a:path w="304800" h="140700">
                    <a:moveTo>
                      <a:pt x="0" y="0"/>
                    </a:moveTo>
                    <a:cubicBezTo>
                      <a:pt x="9577" y="68913"/>
                      <a:pt x="64087" y="122893"/>
                      <a:pt x="133090" y="131796"/>
                    </a:cubicBezTo>
                    <a:cubicBezTo>
                      <a:pt x="202092" y="140700"/>
                      <a:pt x="268519" y="102325"/>
                      <a:pt x="295275" y="38100"/>
                    </a:cubicBezTo>
                    <a:moveTo>
                      <a:pt x="304800" y="114300"/>
                    </a:moveTo>
                    <a:lnTo>
                      <a:pt x="304800" y="38100"/>
                    </a:lnTo>
                    <a:lnTo>
                      <a:pt x="228600" y="38100"/>
                    </a:lnTo>
                  </a:path>
                </a:pathLst>
              </a:custGeom>
              <a:noFill/>
              <a:ln w="38100">
                <a:solidFill>
                  <a:schemeClr val="accent3"/>
                </a:solidFill>
              </a:ln>
            </p:spPr>
          </p:sp>
        </p:grpSp>
        <p:sp>
          <p:nvSpPr>
            <p:cNvPr id="29" name="TextBox 29"/>
            <p:cNvSpPr txBox="1"/>
            <p:nvPr/>
          </p:nvSpPr>
          <p:spPr>
            <a:xfrm>
              <a:off x="5263134" y="3061335"/>
              <a:ext cx="4237438"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Automatic redetection</a:t>
              </a:r>
            </a:p>
          </p:txBody>
        </p:sp>
        <p:sp>
          <p:nvSpPr>
            <p:cNvPr id="30" name="TextBox 30"/>
            <p:cNvSpPr txBox="1"/>
            <p:nvPr/>
          </p:nvSpPr>
          <p:spPr>
            <a:xfrm>
              <a:off x="5267706" y="3501390"/>
              <a:ext cx="870138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The accepted edge observation never failed → redetection was not called.</a:t>
              </a:r>
            </a:p>
          </p:txBody>
        </p:sp>
        <p:sp>
          <p:nvSpPr>
            <p:cNvPr id="31" name="Line 31"/>
            <p:cNvSpPr/>
            <p:nvPr/>
          </p:nvSpPr>
          <p:spPr>
            <a:xfrm>
              <a:off x="4591050" y="3981450"/>
              <a:ext cx="7067550" cy="9525"/>
            </a:xfrm>
            <a:custGeom>
              <a:avLst/>
              <a:gdLst/>
              <a:ahLst/>
              <a:cxnLst/>
              <a:rect l="l" t="t" r="r" b="b"/>
              <a:pathLst>
                <a:path w="7067550" h="9525">
                  <a:moveTo>
                    <a:pt x="0" y="0"/>
                  </a:moveTo>
                  <a:lnTo>
                    <a:pt x="7067550" y="0"/>
                  </a:lnTo>
                </a:path>
              </a:pathLst>
            </a:custGeom>
            <a:noFill/>
            <a:ln w="19050">
              <a:solidFill>
                <a:schemeClr val="accent4"/>
              </a:solidFill>
            </a:ln>
          </p:spPr>
        </p:sp>
        <p:sp>
          <p:nvSpPr>
            <p:cNvPr id="32" name="Ellipse 32"/>
            <p:cNvSpPr/>
            <p:nvPr/>
          </p:nvSpPr>
          <p:spPr>
            <a:xfrm>
              <a:off x="4219575" y="4486275"/>
              <a:ext cx="171450" cy="171450"/>
            </a:xfrm>
            <a:prstGeom prst="ellipse">
              <a:avLst/>
            </a:prstGeom>
            <a:solidFill>
              <a:schemeClr val="dk2"/>
            </a:solidFill>
            <a:ln>
              <a:noFill/>
            </a:ln>
          </p:spPr>
        </p:sp>
        <p:sp>
          <p:nvSpPr>
            <p:cNvPr id="33" name="Freeform 33"/>
            <p:cNvSpPr/>
            <p:nvPr/>
          </p:nvSpPr>
          <p:spPr>
            <a:xfrm>
              <a:off x="4667250" y="4381500"/>
              <a:ext cx="304800" cy="323850"/>
            </a:xfrm>
            <a:custGeom>
              <a:avLst/>
              <a:gdLst/>
              <a:ahLst/>
              <a:cxnLst/>
              <a:rect l="l" t="t" r="r" b="b"/>
              <a:pathLst>
                <a:path w="304800" h="323850">
                  <a:moveTo>
                    <a:pt x="0" y="0"/>
                  </a:moveTo>
                  <a:lnTo>
                    <a:pt x="304800" y="0"/>
                  </a:lnTo>
                  <a:lnTo>
                    <a:pt x="304800" y="41377"/>
                  </a:lnTo>
                  <a:cubicBezTo>
                    <a:pt x="304798" y="51481"/>
                    <a:pt x="300782" y="61170"/>
                    <a:pt x="293637" y="68313"/>
                  </a:cubicBezTo>
                  <a:lnTo>
                    <a:pt x="209550" y="152400"/>
                  </a:lnTo>
                  <a:lnTo>
                    <a:pt x="209550" y="285750"/>
                  </a:lnTo>
                  <a:lnTo>
                    <a:pt x="95250" y="323850"/>
                  </a:lnTo>
                  <a:lnTo>
                    <a:pt x="95250" y="161925"/>
                  </a:lnTo>
                  <a:lnTo>
                    <a:pt x="9906" y="68047"/>
                  </a:lnTo>
                  <a:cubicBezTo>
                    <a:pt x="3533" y="61035"/>
                    <a:pt x="1" y="51900"/>
                    <a:pt x="0" y="42424"/>
                  </a:cubicBezTo>
                  <a:lnTo>
                    <a:pt x="0" y="0"/>
                  </a:lnTo>
                </a:path>
              </a:pathLst>
            </a:custGeom>
            <a:noFill/>
            <a:ln w="38100">
              <a:solidFill>
                <a:schemeClr val="dk2"/>
              </a:solidFill>
            </a:ln>
          </p:spPr>
        </p:sp>
        <p:sp>
          <p:nvSpPr>
            <p:cNvPr id="34" name="TextBox 34"/>
            <p:cNvSpPr txBox="1"/>
            <p:nvPr/>
          </p:nvSpPr>
          <p:spPr>
            <a:xfrm>
              <a:off x="5263134" y="4280535"/>
              <a:ext cx="2043684"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Edge gates</a:t>
              </a:r>
            </a:p>
          </p:txBody>
        </p:sp>
        <p:sp>
          <p:nvSpPr>
            <p:cNvPr id="35" name="TextBox 35"/>
            <p:cNvSpPr txBox="1"/>
            <p:nvPr/>
          </p:nvSpPr>
          <p:spPr>
            <a:xfrm>
              <a:off x="5267706" y="4720590"/>
              <a:ext cx="9197936"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All candidates already passed the original gates → relaxing them adds nothing.</a:t>
              </a:r>
            </a:p>
          </p:txBody>
        </p:sp>
      </p:grpSp>
      <p:grpSp>
        <p:nvGrpSpPr>
          <p:cNvPr id="40" name="Group 40"/>
          <p:cNvGrpSpPr/>
          <p:nvPr/>
        </p:nvGrpSpPr>
        <p:grpSpPr>
          <a:xfrm>
            <a:off x="4305300" y="5238750"/>
            <a:ext cx="11213539" cy="876300"/>
            <a:chOff x="4305300" y="5238750"/>
            <a:chExt cx="11213539" cy="876300"/>
          </a:xfrm>
        </p:grpSpPr>
        <p:sp>
          <p:nvSpPr>
            <p:cNvPr id="37" name="Rectangle 37"/>
            <p:cNvSpPr/>
            <p:nvPr/>
          </p:nvSpPr>
          <p:spPr>
            <a:xfrm>
              <a:off x="4305300" y="5238750"/>
              <a:ext cx="7353300" cy="876300"/>
            </a:xfrm>
            <a:prstGeom prst="rect">
              <a:avLst/>
            </a:prstGeom>
            <a:solidFill>
              <a:schemeClr val="lt1"/>
            </a:solidFill>
            <a:ln w="28575">
              <a:solidFill>
                <a:schemeClr val="accent2"/>
              </a:solidFill>
            </a:ln>
          </p:spPr>
        </p:sp>
        <p:sp>
          <p:nvSpPr>
            <p:cNvPr id="38" name="TextBox 38"/>
            <p:cNvSpPr txBox="1"/>
            <p:nvPr/>
          </p:nvSpPr>
          <p:spPr>
            <a:xfrm>
              <a:off x="4559808" y="5322570"/>
              <a:ext cx="10959031"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Ablation measures realized contribution, not latent safety value.</a:t>
              </a:r>
            </a:p>
          </p:txBody>
        </p:sp>
        <p:sp>
          <p:nvSpPr>
            <p:cNvPr id="39" name="TextBox 39"/>
            <p:cNvSpPr txBox="1"/>
            <p:nvPr/>
          </p:nvSpPr>
          <p:spPr>
            <a:xfrm>
              <a:off x="4562856" y="5711190"/>
              <a:ext cx="9440338"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These modules matter when the default border observation becomes unreliable.</a:t>
              </a:r>
            </a:p>
          </p:txBody>
        </p:sp>
      </p:grpSp>
      <p:grpSp>
        <p:nvGrpSpPr>
          <p:cNvPr id="43" name="Group 43"/>
          <p:cNvGrpSpPr/>
          <p:nvPr/>
        </p:nvGrpSpPr>
        <p:grpSpPr>
          <a:xfrm>
            <a:off x="526542" y="6426518"/>
            <a:ext cx="11138916" cy="264033"/>
            <a:chOff x="526542" y="6426518"/>
            <a:chExt cx="11138916" cy="264033"/>
          </a:xfrm>
        </p:grpSpPr>
        <p:sp>
          <p:nvSpPr>
            <p:cNvPr id="41" name="TextBox 41"/>
            <p:cNvSpPr txBox="1"/>
            <p:nvPr/>
          </p:nvSpPr>
          <p:spPr>
            <a:xfrm>
              <a:off x="526542" y="6426518"/>
              <a:ext cx="637931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ABLATION INTERPRETATION · EXECUTION COUNTS EXPLAIN EQUAL METRICS</a:t>
              </a:r>
            </a:p>
          </p:txBody>
        </p:sp>
        <p:sp>
          <p:nvSpPr>
            <p:cNvPr id="42" name="TextBox 42"/>
            <p:cNvSpPr txBox="1"/>
            <p:nvPr/>
          </p:nvSpPr>
          <p:spPr>
            <a:xfrm>
              <a:off x="11451831" y="64265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4350" y="191452"/>
            <a:ext cx="13796385" cy="1323975"/>
            <a:chOff x="514350" y="191452"/>
            <a:chExt cx="13796385" cy="1323975"/>
          </a:xfrm>
        </p:grpSpPr>
        <p:sp>
          <p:nvSpPr>
            <p:cNvPr id="2" name="TextBox 2"/>
            <p:cNvSpPr txBox="1"/>
            <p:nvPr/>
          </p:nvSpPr>
          <p:spPr>
            <a:xfrm>
              <a:off x="514350" y="191452"/>
              <a:ext cx="13796385"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Remaining risk comes from reflection, occlusion,</a:t>
              </a:r>
            </a:p>
          </p:txBody>
        </p:sp>
        <p:sp>
          <p:nvSpPr>
            <p:cNvPr id="3" name="TextBox 3"/>
            <p:cNvSpPr txBox="1"/>
            <p:nvPr/>
          </p:nvSpPr>
          <p:spPr>
            <a:xfrm>
              <a:off x="514350" y="724852"/>
              <a:ext cx="10113599"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and extremely weak border evidence</a:t>
              </a:r>
            </a:p>
          </p:txBody>
        </p:sp>
      </p:grpSp>
      <p:grpSp>
        <p:nvGrpSpPr>
          <p:cNvPr id="44" name="Group 44"/>
          <p:cNvGrpSpPr/>
          <p:nvPr/>
        </p:nvGrpSpPr>
        <p:grpSpPr>
          <a:xfrm>
            <a:off x="533400" y="1638300"/>
            <a:ext cx="11599941" cy="2138934"/>
            <a:chOff x="533400" y="1638300"/>
            <a:chExt cx="11599941" cy="2138934"/>
          </a:xfrm>
        </p:grpSpPr>
        <p:sp>
          <p:nvSpPr>
            <p:cNvPr id="5" name="Line 5"/>
            <p:cNvSpPr/>
            <p:nvPr/>
          </p:nvSpPr>
          <p:spPr>
            <a:xfrm>
              <a:off x="2895600" y="2667000"/>
              <a:ext cx="247650" cy="1"/>
            </a:xfrm>
            <a:prstGeom prst="line">
              <a:avLst/>
            </a:prstGeom>
            <a:noFill/>
            <a:ln w="28575">
              <a:solidFill>
                <a:schemeClr val="dk2"/>
              </a:solidFill>
              <a:tailEnd type="triangle" w="lg" len="lg"/>
            </a:ln>
          </p:spPr>
        </p:sp>
        <p:sp>
          <p:nvSpPr>
            <p:cNvPr id="6" name="Line 6"/>
            <p:cNvSpPr/>
            <p:nvPr/>
          </p:nvSpPr>
          <p:spPr>
            <a:xfrm>
              <a:off x="5581650" y="2667000"/>
              <a:ext cx="247650" cy="1"/>
            </a:xfrm>
            <a:prstGeom prst="line">
              <a:avLst/>
            </a:prstGeom>
            <a:noFill/>
            <a:ln w="28575">
              <a:solidFill>
                <a:schemeClr val="dk2"/>
              </a:solidFill>
              <a:tailEnd type="triangle" w="lg" len="lg"/>
            </a:ln>
          </p:spPr>
        </p:sp>
        <p:sp>
          <p:nvSpPr>
            <p:cNvPr id="7" name="Line 7"/>
            <p:cNvSpPr/>
            <p:nvPr/>
          </p:nvSpPr>
          <p:spPr>
            <a:xfrm>
              <a:off x="8267700" y="2667000"/>
              <a:ext cx="247650" cy="1"/>
            </a:xfrm>
            <a:prstGeom prst="line">
              <a:avLst/>
            </a:prstGeom>
            <a:noFill/>
            <a:ln w="28575">
              <a:solidFill>
                <a:schemeClr val="dk2"/>
              </a:solidFill>
              <a:tailEnd type="triangle" w="lg" len="lg"/>
            </a:ln>
          </p:spPr>
        </p:sp>
        <p:sp>
          <p:nvSpPr>
            <p:cNvPr id="8" name="Rectangle 8"/>
            <p:cNvSpPr/>
            <p:nvPr/>
          </p:nvSpPr>
          <p:spPr>
            <a:xfrm>
              <a:off x="533400" y="1638300"/>
              <a:ext cx="2362200" cy="2057400"/>
            </a:xfrm>
            <a:prstGeom prst="rect">
              <a:avLst/>
            </a:prstGeom>
            <a:solidFill>
              <a:schemeClr val="lt1"/>
            </a:solidFill>
            <a:ln w="19050">
              <a:solidFill>
                <a:srgbClr val="D14343"/>
              </a:solidFill>
            </a:ln>
          </p:spPr>
        </p:sp>
        <p:grpSp>
          <p:nvGrpSpPr>
            <p:cNvPr id="12" name="Group 12"/>
            <p:cNvGrpSpPr/>
            <p:nvPr/>
          </p:nvGrpSpPr>
          <p:grpSpPr>
            <a:xfrm>
              <a:off x="798479" y="1936771"/>
              <a:ext cx="384228" cy="330103"/>
              <a:chOff x="798479" y="1936771"/>
              <a:chExt cx="384228" cy="330103"/>
            </a:xfrm>
          </p:grpSpPr>
          <p:sp>
            <p:nvSpPr>
              <p:cNvPr id="9" name="Freeform 9"/>
              <p:cNvSpPr/>
              <p:nvPr/>
            </p:nvSpPr>
            <p:spPr>
              <a:xfrm>
                <a:off x="990600" y="2057400"/>
                <a:ext cx="9525" cy="76200"/>
              </a:xfrm>
              <a:custGeom>
                <a:avLst/>
                <a:gdLst/>
                <a:ahLst/>
                <a:cxnLst/>
                <a:rect l="l" t="t" r="r" b="b"/>
                <a:pathLst>
                  <a:path w="9525" h="76200">
                    <a:moveTo>
                      <a:pt x="0" y="0"/>
                    </a:moveTo>
                    <a:lnTo>
                      <a:pt x="0" y="76200"/>
                    </a:lnTo>
                  </a:path>
                </a:pathLst>
              </a:custGeom>
              <a:noFill/>
              <a:ln w="38100">
                <a:solidFill>
                  <a:srgbClr val="D14343"/>
                </a:solidFill>
              </a:ln>
            </p:spPr>
          </p:sp>
          <p:sp>
            <p:nvSpPr>
              <p:cNvPr id="10" name="Freeform 10"/>
              <p:cNvSpPr/>
              <p:nvPr/>
            </p:nvSpPr>
            <p:spPr>
              <a:xfrm>
                <a:off x="798479" y="1936771"/>
                <a:ext cx="384228" cy="330103"/>
              </a:xfrm>
              <a:custGeom>
                <a:avLst/>
                <a:gdLst/>
                <a:ahLst/>
                <a:cxnLst/>
                <a:rect l="l" t="t" r="r" b="b"/>
                <a:pathLst>
                  <a:path w="384228" h="330103">
                    <a:moveTo>
                      <a:pt x="160937" y="17587"/>
                    </a:moveTo>
                    <a:lnTo>
                      <a:pt x="6517" y="275410"/>
                    </a:lnTo>
                    <a:cubicBezTo>
                      <a:pt x="40" y="286628"/>
                      <a:pt x="0" y="300440"/>
                      <a:pt x="6413" y="311695"/>
                    </a:cubicBezTo>
                    <a:cubicBezTo>
                      <a:pt x="12827" y="322950"/>
                      <a:pt x="24730" y="329957"/>
                      <a:pt x="37683" y="330103"/>
                    </a:cubicBezTo>
                    <a:lnTo>
                      <a:pt x="346560" y="330103"/>
                    </a:lnTo>
                    <a:cubicBezTo>
                      <a:pt x="359507" y="329953"/>
                      <a:pt x="371404" y="322949"/>
                      <a:pt x="377816" y="311700"/>
                    </a:cubicBezTo>
                    <a:cubicBezTo>
                      <a:pt x="384228" y="300451"/>
                      <a:pt x="384194" y="286646"/>
                      <a:pt x="377726" y="275429"/>
                    </a:cubicBezTo>
                    <a:lnTo>
                      <a:pt x="223306" y="17568"/>
                    </a:lnTo>
                    <a:cubicBezTo>
                      <a:pt x="216699" y="6662"/>
                      <a:pt x="204873" y="0"/>
                      <a:pt x="192121" y="0"/>
                    </a:cubicBezTo>
                    <a:cubicBezTo>
                      <a:pt x="179370" y="0"/>
                      <a:pt x="167544" y="6662"/>
                      <a:pt x="160937" y="17568"/>
                    </a:cubicBezTo>
                  </a:path>
                </a:pathLst>
              </a:custGeom>
              <a:noFill/>
              <a:ln w="38100">
                <a:solidFill>
                  <a:srgbClr val="D14343"/>
                </a:solidFill>
              </a:ln>
            </p:spPr>
          </p:sp>
          <p:sp>
            <p:nvSpPr>
              <p:cNvPr id="11" name="Freeform 11"/>
              <p:cNvSpPr/>
              <p:nvPr/>
            </p:nvSpPr>
            <p:spPr>
              <a:xfrm>
                <a:off x="990600" y="2190750"/>
                <a:ext cx="9525" cy="9525"/>
              </a:xfrm>
              <a:custGeom>
                <a:avLst/>
                <a:gdLst/>
                <a:ahLst/>
                <a:cxnLst/>
                <a:rect l="l" t="t" r="r" b="b"/>
                <a:pathLst>
                  <a:path w="9525" h="9525">
                    <a:moveTo>
                      <a:pt x="0" y="0"/>
                    </a:moveTo>
                    <a:lnTo>
                      <a:pt x="190" y="0"/>
                    </a:lnTo>
                  </a:path>
                </a:pathLst>
              </a:custGeom>
              <a:noFill/>
              <a:ln w="38100">
                <a:solidFill>
                  <a:srgbClr val="D14343"/>
                </a:solidFill>
              </a:ln>
            </p:spPr>
          </p:sp>
        </p:grpSp>
        <p:sp>
          <p:nvSpPr>
            <p:cNvPr id="13" name="TextBox 13"/>
            <p:cNvSpPr txBox="1"/>
            <p:nvPr/>
          </p:nvSpPr>
          <p:spPr>
            <a:xfrm>
              <a:off x="749808" y="2407920"/>
              <a:ext cx="218965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Scene stress</a:t>
              </a:r>
            </a:p>
          </p:txBody>
        </p:sp>
        <p:sp>
          <p:nvSpPr>
            <p:cNvPr id="14" name="TextBox 14"/>
            <p:cNvSpPr txBox="1"/>
            <p:nvPr/>
          </p:nvSpPr>
          <p:spPr>
            <a:xfrm>
              <a:off x="752856" y="2853690"/>
              <a:ext cx="1236726"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Reflection</a:t>
              </a:r>
            </a:p>
          </p:txBody>
        </p:sp>
        <p:sp>
          <p:nvSpPr>
            <p:cNvPr id="15" name="TextBox 15"/>
            <p:cNvSpPr txBox="1"/>
            <p:nvPr/>
          </p:nvSpPr>
          <p:spPr>
            <a:xfrm>
              <a:off x="752856" y="3139440"/>
              <a:ext cx="1152144"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Occlusion</a:t>
              </a:r>
            </a:p>
          </p:txBody>
        </p:sp>
        <p:sp>
          <p:nvSpPr>
            <p:cNvPr id="16" name="TextBox 16"/>
            <p:cNvSpPr txBox="1"/>
            <p:nvPr/>
          </p:nvSpPr>
          <p:spPr>
            <a:xfrm>
              <a:off x="752856" y="3425190"/>
              <a:ext cx="2607069"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Extreme low contrast</a:t>
              </a:r>
            </a:p>
          </p:txBody>
        </p:sp>
        <p:sp>
          <p:nvSpPr>
            <p:cNvPr id="17" name="Rectangle 17"/>
            <p:cNvSpPr/>
            <p:nvPr/>
          </p:nvSpPr>
          <p:spPr>
            <a:xfrm>
              <a:off x="3219450" y="1638300"/>
              <a:ext cx="2362200" cy="2057400"/>
            </a:xfrm>
            <a:prstGeom prst="rect">
              <a:avLst/>
            </a:prstGeom>
            <a:solidFill>
              <a:schemeClr val="lt2"/>
            </a:solidFill>
            <a:ln w="19050">
              <a:solidFill>
                <a:schemeClr val="accent4"/>
              </a:solidFill>
            </a:ln>
          </p:spPr>
        </p:sp>
        <p:grpSp>
          <p:nvGrpSpPr>
            <p:cNvPr id="23" name="Group 23"/>
            <p:cNvGrpSpPr/>
            <p:nvPr/>
          </p:nvGrpSpPr>
          <p:grpSpPr>
            <a:xfrm>
              <a:off x="3524250" y="1962150"/>
              <a:ext cx="304800" cy="304800"/>
              <a:chOff x="3524250" y="1962150"/>
              <a:chExt cx="304800" cy="304800"/>
            </a:xfrm>
          </p:grpSpPr>
          <p:sp>
            <p:nvSpPr>
              <p:cNvPr id="18" name="Freeform 18"/>
              <p:cNvSpPr/>
              <p:nvPr/>
            </p:nvSpPr>
            <p:spPr>
              <a:xfrm>
                <a:off x="3524250" y="1962150"/>
                <a:ext cx="76200" cy="57150"/>
              </a:xfrm>
              <a:custGeom>
                <a:avLst/>
                <a:gdLst/>
                <a:ahLst/>
                <a:cxnLst/>
                <a:rect l="l" t="t" r="r" b="b"/>
                <a:pathLst>
                  <a:path w="76200" h="57150">
                    <a:moveTo>
                      <a:pt x="0" y="57150"/>
                    </a:moveTo>
                    <a:lnTo>
                      <a:pt x="0" y="38100"/>
                    </a:lnTo>
                    <a:cubicBezTo>
                      <a:pt x="0" y="17058"/>
                      <a:pt x="17058" y="0"/>
                      <a:pt x="38100" y="0"/>
                    </a:cubicBezTo>
                    <a:lnTo>
                      <a:pt x="76200" y="0"/>
                    </a:lnTo>
                  </a:path>
                </a:pathLst>
              </a:custGeom>
              <a:noFill/>
              <a:ln w="38100">
                <a:solidFill>
                  <a:schemeClr val="accent2"/>
                </a:solidFill>
              </a:ln>
            </p:spPr>
          </p:sp>
          <p:sp>
            <p:nvSpPr>
              <p:cNvPr id="19" name="Freeform 19"/>
              <p:cNvSpPr/>
              <p:nvPr/>
            </p:nvSpPr>
            <p:spPr>
              <a:xfrm>
                <a:off x="3524250" y="2209800"/>
                <a:ext cx="76200" cy="57150"/>
              </a:xfrm>
              <a:custGeom>
                <a:avLst/>
                <a:gdLst/>
                <a:ahLst/>
                <a:cxnLst/>
                <a:rect l="l" t="t" r="r" b="b"/>
                <a:pathLst>
                  <a:path w="76200" h="57150">
                    <a:moveTo>
                      <a:pt x="0" y="0"/>
                    </a:moveTo>
                    <a:lnTo>
                      <a:pt x="0" y="19050"/>
                    </a:lnTo>
                    <a:cubicBezTo>
                      <a:pt x="0" y="40092"/>
                      <a:pt x="17058" y="57150"/>
                      <a:pt x="38100" y="57150"/>
                    </a:cubicBezTo>
                    <a:lnTo>
                      <a:pt x="76200" y="57150"/>
                    </a:lnTo>
                  </a:path>
                </a:pathLst>
              </a:custGeom>
              <a:noFill/>
              <a:ln w="38100">
                <a:solidFill>
                  <a:schemeClr val="accent2"/>
                </a:solidFill>
              </a:ln>
            </p:spPr>
          </p:sp>
          <p:sp>
            <p:nvSpPr>
              <p:cNvPr id="20" name="Freeform 20"/>
              <p:cNvSpPr/>
              <p:nvPr/>
            </p:nvSpPr>
            <p:spPr>
              <a:xfrm>
                <a:off x="3752850" y="1962150"/>
                <a:ext cx="76200" cy="57150"/>
              </a:xfrm>
              <a:custGeom>
                <a:avLst/>
                <a:gdLst/>
                <a:ahLst/>
                <a:cxnLst/>
                <a:rect l="l" t="t" r="r" b="b"/>
                <a:pathLst>
                  <a:path w="76200" h="57150">
                    <a:moveTo>
                      <a:pt x="0" y="0"/>
                    </a:moveTo>
                    <a:lnTo>
                      <a:pt x="38100" y="0"/>
                    </a:lnTo>
                    <a:cubicBezTo>
                      <a:pt x="59142" y="0"/>
                      <a:pt x="76200" y="17058"/>
                      <a:pt x="76200" y="38100"/>
                    </a:cubicBezTo>
                    <a:lnTo>
                      <a:pt x="76200" y="57150"/>
                    </a:lnTo>
                  </a:path>
                </a:pathLst>
              </a:custGeom>
              <a:noFill/>
              <a:ln w="38100">
                <a:solidFill>
                  <a:schemeClr val="accent2"/>
                </a:solidFill>
              </a:ln>
            </p:spPr>
          </p:sp>
          <p:sp>
            <p:nvSpPr>
              <p:cNvPr id="21" name="Freeform 21"/>
              <p:cNvSpPr/>
              <p:nvPr/>
            </p:nvSpPr>
            <p:spPr>
              <a:xfrm>
                <a:off x="3752850" y="2209800"/>
                <a:ext cx="76200" cy="57150"/>
              </a:xfrm>
              <a:custGeom>
                <a:avLst/>
                <a:gdLst/>
                <a:ahLst/>
                <a:cxnLst/>
                <a:rect l="l" t="t" r="r" b="b"/>
                <a:pathLst>
                  <a:path w="76200" h="57150">
                    <a:moveTo>
                      <a:pt x="0" y="57150"/>
                    </a:moveTo>
                    <a:lnTo>
                      <a:pt x="38100" y="57150"/>
                    </a:lnTo>
                    <a:cubicBezTo>
                      <a:pt x="59142" y="57150"/>
                      <a:pt x="76200" y="40092"/>
                      <a:pt x="76200" y="19050"/>
                    </a:cubicBezTo>
                    <a:lnTo>
                      <a:pt x="76200" y="0"/>
                    </a:lnTo>
                  </a:path>
                </a:pathLst>
              </a:custGeom>
              <a:noFill/>
              <a:ln w="38100">
                <a:solidFill>
                  <a:schemeClr val="accent2"/>
                </a:solidFill>
              </a:ln>
            </p:spPr>
          </p:sp>
          <p:sp>
            <p:nvSpPr>
              <p:cNvPr id="22" name="Freeform 22"/>
              <p:cNvSpPr/>
              <p:nvPr/>
            </p:nvSpPr>
            <p:spPr>
              <a:xfrm>
                <a:off x="3543300" y="2114550"/>
                <a:ext cx="266700" cy="9525"/>
              </a:xfrm>
              <a:custGeom>
                <a:avLst/>
                <a:gdLst/>
                <a:ahLst/>
                <a:cxnLst/>
                <a:rect l="l" t="t" r="r" b="b"/>
                <a:pathLst>
                  <a:path w="266700" h="9525">
                    <a:moveTo>
                      <a:pt x="0" y="0"/>
                    </a:moveTo>
                    <a:lnTo>
                      <a:pt x="266700" y="0"/>
                    </a:lnTo>
                  </a:path>
                </a:pathLst>
              </a:custGeom>
              <a:noFill/>
              <a:ln w="38100">
                <a:solidFill>
                  <a:schemeClr val="accent2"/>
                </a:solidFill>
              </a:ln>
            </p:spPr>
          </p:sp>
        </p:grpSp>
        <p:sp>
          <p:nvSpPr>
            <p:cNvPr id="24" name="TextBox 24"/>
            <p:cNvSpPr txBox="1"/>
            <p:nvPr/>
          </p:nvSpPr>
          <p:spPr>
            <a:xfrm>
              <a:off x="3435858" y="2407920"/>
              <a:ext cx="2833695"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Border ambiguity</a:t>
              </a:r>
            </a:p>
          </p:txBody>
        </p:sp>
        <p:sp>
          <p:nvSpPr>
            <p:cNvPr id="25" name="TextBox 25"/>
            <p:cNvSpPr txBox="1"/>
            <p:nvPr/>
          </p:nvSpPr>
          <p:spPr>
            <a:xfrm>
              <a:off x="3438906" y="2853690"/>
              <a:ext cx="223116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Weak profile peaks</a:t>
              </a:r>
            </a:p>
          </p:txBody>
        </p:sp>
        <p:sp>
          <p:nvSpPr>
            <p:cNvPr id="26" name="TextBox 26"/>
            <p:cNvSpPr txBox="1"/>
            <p:nvPr/>
          </p:nvSpPr>
          <p:spPr>
            <a:xfrm>
              <a:off x="3438906" y="3139440"/>
              <a:ext cx="212173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False line support</a:t>
              </a:r>
            </a:p>
          </p:txBody>
        </p:sp>
        <p:sp>
          <p:nvSpPr>
            <p:cNvPr id="27" name="TextBox 27"/>
            <p:cNvSpPr txBox="1"/>
            <p:nvPr/>
          </p:nvSpPr>
          <p:spPr>
            <a:xfrm>
              <a:off x="3438906" y="3425190"/>
              <a:ext cx="2303643"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Corner uncertainty</a:t>
              </a:r>
            </a:p>
          </p:txBody>
        </p:sp>
        <p:sp>
          <p:nvSpPr>
            <p:cNvPr id="28" name="Rectangle 28"/>
            <p:cNvSpPr/>
            <p:nvPr/>
          </p:nvSpPr>
          <p:spPr>
            <a:xfrm>
              <a:off x="5905500" y="1638300"/>
              <a:ext cx="2362200" cy="2057400"/>
            </a:xfrm>
            <a:prstGeom prst="rect">
              <a:avLst/>
            </a:prstGeom>
            <a:solidFill>
              <a:schemeClr val="lt1"/>
            </a:solidFill>
            <a:ln w="19050">
              <a:solidFill>
                <a:schemeClr val="accent3"/>
              </a:solidFill>
            </a:ln>
          </p:spPr>
        </p:sp>
        <p:grpSp>
          <p:nvGrpSpPr>
            <p:cNvPr id="31" name="Group 31"/>
            <p:cNvGrpSpPr/>
            <p:nvPr/>
          </p:nvGrpSpPr>
          <p:grpSpPr>
            <a:xfrm>
              <a:off x="6165541" y="1943100"/>
              <a:ext cx="372013" cy="342900"/>
              <a:chOff x="6165541" y="1943100"/>
              <a:chExt cx="372013" cy="342900"/>
            </a:xfrm>
          </p:grpSpPr>
          <p:sp>
            <p:nvSpPr>
              <p:cNvPr id="29" name="Freeform 29"/>
              <p:cNvSpPr/>
              <p:nvPr/>
            </p:nvSpPr>
            <p:spPr>
              <a:xfrm>
                <a:off x="6165541" y="1943100"/>
                <a:ext cx="372013" cy="339966"/>
              </a:xfrm>
              <a:custGeom>
                <a:avLst/>
                <a:gdLst/>
                <a:ahLst/>
                <a:cxnLst/>
                <a:rect l="l" t="t" r="r" b="b"/>
                <a:pathLst>
                  <a:path w="372013" h="339966">
                    <a:moveTo>
                      <a:pt x="186872" y="339966"/>
                    </a:moveTo>
                    <a:cubicBezTo>
                      <a:pt x="67532" y="302974"/>
                      <a:pt x="0" y="177021"/>
                      <a:pt x="35234" y="57150"/>
                    </a:cubicBezTo>
                    <a:cubicBezTo>
                      <a:pt x="94585" y="59866"/>
                      <a:pt x="152661" y="39368"/>
                      <a:pt x="197159" y="0"/>
                    </a:cubicBezTo>
                    <a:cubicBezTo>
                      <a:pt x="241657" y="39368"/>
                      <a:pt x="299733" y="59866"/>
                      <a:pt x="359084" y="57150"/>
                    </a:cubicBezTo>
                    <a:cubicBezTo>
                      <a:pt x="372013" y="101139"/>
                      <a:pt x="371415" y="147998"/>
                      <a:pt x="357369" y="191643"/>
                    </a:cubicBezTo>
                  </a:path>
                </a:pathLst>
              </a:custGeom>
              <a:noFill/>
              <a:ln w="38100">
                <a:solidFill>
                  <a:schemeClr val="accent3"/>
                </a:solidFill>
              </a:ln>
            </p:spPr>
          </p:sp>
          <p:sp>
            <p:nvSpPr>
              <p:cNvPr id="30" name="Freeform 30"/>
              <p:cNvSpPr/>
              <p:nvPr/>
            </p:nvSpPr>
            <p:spPr>
              <a:xfrm>
                <a:off x="6419850" y="2209800"/>
                <a:ext cx="114300" cy="76200"/>
              </a:xfrm>
              <a:custGeom>
                <a:avLst/>
                <a:gdLst/>
                <a:ahLst/>
                <a:cxnLst/>
                <a:rect l="l" t="t" r="r" b="b"/>
                <a:pathLst>
                  <a:path w="114300" h="76200">
                    <a:moveTo>
                      <a:pt x="0" y="38100"/>
                    </a:moveTo>
                    <a:lnTo>
                      <a:pt x="38100" y="76200"/>
                    </a:lnTo>
                    <a:lnTo>
                      <a:pt x="114300" y="0"/>
                    </a:lnTo>
                  </a:path>
                </a:pathLst>
              </a:custGeom>
              <a:noFill/>
              <a:ln w="38100">
                <a:solidFill>
                  <a:schemeClr val="accent3"/>
                </a:solidFill>
              </a:ln>
            </p:spPr>
          </p:sp>
        </p:grpSp>
        <p:sp>
          <p:nvSpPr>
            <p:cNvPr id="32" name="TextBox 32"/>
            <p:cNvSpPr txBox="1"/>
            <p:nvPr/>
          </p:nvSpPr>
          <p:spPr>
            <a:xfrm>
              <a:off x="6121908" y="2407920"/>
              <a:ext cx="2019164"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Safety logic</a:t>
              </a:r>
            </a:p>
          </p:txBody>
        </p:sp>
        <p:sp>
          <p:nvSpPr>
            <p:cNvPr id="33" name="TextBox 33"/>
            <p:cNvSpPr txBox="1"/>
            <p:nvPr/>
          </p:nvSpPr>
          <p:spPr>
            <a:xfrm>
              <a:off x="6124956" y="2853690"/>
              <a:ext cx="188007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Geometry gates</a:t>
              </a:r>
            </a:p>
          </p:txBody>
        </p:sp>
        <p:sp>
          <p:nvSpPr>
            <p:cNvPr id="34" name="TextBox 34"/>
            <p:cNvSpPr txBox="1"/>
            <p:nvPr/>
          </p:nvSpPr>
          <p:spPr>
            <a:xfrm>
              <a:off x="6124956" y="3139440"/>
              <a:ext cx="2517648"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LK consistency check</a:t>
              </a:r>
            </a:p>
          </p:txBody>
        </p:sp>
        <p:sp>
          <p:nvSpPr>
            <p:cNvPr id="35" name="TextBox 35"/>
            <p:cNvSpPr txBox="1"/>
            <p:nvPr/>
          </p:nvSpPr>
          <p:spPr>
            <a:xfrm>
              <a:off x="6124956" y="3425190"/>
              <a:ext cx="2315375"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Confidence decision</a:t>
              </a:r>
            </a:p>
          </p:txBody>
        </p:sp>
        <p:sp>
          <p:nvSpPr>
            <p:cNvPr id="36" name="Rectangle 36"/>
            <p:cNvSpPr/>
            <p:nvPr/>
          </p:nvSpPr>
          <p:spPr>
            <a:xfrm>
              <a:off x="8591550" y="1638300"/>
              <a:ext cx="3067050" cy="2057400"/>
            </a:xfrm>
            <a:prstGeom prst="rect">
              <a:avLst/>
            </a:prstGeom>
            <a:solidFill>
              <a:schemeClr val="lt2"/>
            </a:solidFill>
            <a:ln w="19050">
              <a:solidFill>
                <a:schemeClr val="accent2"/>
              </a:solidFill>
            </a:ln>
          </p:spPr>
        </p:sp>
        <p:grpSp>
          <p:nvGrpSpPr>
            <p:cNvPr id="39" name="Group 39"/>
            <p:cNvGrpSpPr/>
            <p:nvPr/>
          </p:nvGrpSpPr>
          <p:grpSpPr>
            <a:xfrm>
              <a:off x="8896350" y="1954800"/>
              <a:ext cx="304800" cy="319500"/>
              <a:chOff x="8896350" y="1954800"/>
              <a:chExt cx="304800" cy="319500"/>
            </a:xfrm>
          </p:grpSpPr>
          <p:sp>
            <p:nvSpPr>
              <p:cNvPr id="37" name="Freeform 37"/>
              <p:cNvSpPr/>
              <p:nvPr/>
            </p:nvSpPr>
            <p:spPr>
              <a:xfrm>
                <a:off x="8896350" y="1954800"/>
                <a:ext cx="304800" cy="140700"/>
              </a:xfrm>
              <a:custGeom>
                <a:avLst/>
                <a:gdLst/>
                <a:ahLst/>
                <a:cxnLst/>
                <a:rect l="l" t="t" r="r" b="b"/>
                <a:pathLst>
                  <a:path w="304800" h="140700">
                    <a:moveTo>
                      <a:pt x="304800" y="140700"/>
                    </a:moveTo>
                    <a:cubicBezTo>
                      <a:pt x="295223" y="71787"/>
                      <a:pt x="240713" y="17807"/>
                      <a:pt x="171710" y="8904"/>
                    </a:cubicBezTo>
                    <a:cubicBezTo>
                      <a:pt x="102708" y="0"/>
                      <a:pt x="36281" y="38375"/>
                      <a:pt x="9525" y="102600"/>
                    </a:cubicBezTo>
                    <a:moveTo>
                      <a:pt x="0" y="26400"/>
                    </a:moveTo>
                    <a:lnTo>
                      <a:pt x="0" y="102600"/>
                    </a:lnTo>
                    <a:lnTo>
                      <a:pt x="76200" y="102600"/>
                    </a:lnTo>
                  </a:path>
                </a:pathLst>
              </a:custGeom>
              <a:noFill/>
              <a:ln w="38100">
                <a:solidFill>
                  <a:schemeClr val="accent2"/>
                </a:solidFill>
              </a:ln>
            </p:spPr>
          </p:sp>
          <p:sp>
            <p:nvSpPr>
              <p:cNvPr id="38" name="Freeform 38"/>
              <p:cNvSpPr/>
              <p:nvPr/>
            </p:nvSpPr>
            <p:spPr>
              <a:xfrm>
                <a:off x="8896350" y="2133600"/>
                <a:ext cx="304800" cy="140700"/>
              </a:xfrm>
              <a:custGeom>
                <a:avLst/>
                <a:gdLst/>
                <a:ahLst/>
                <a:cxnLst/>
                <a:rect l="l" t="t" r="r" b="b"/>
                <a:pathLst>
                  <a:path w="304800" h="140700">
                    <a:moveTo>
                      <a:pt x="0" y="0"/>
                    </a:moveTo>
                    <a:cubicBezTo>
                      <a:pt x="9577" y="68913"/>
                      <a:pt x="64087" y="122893"/>
                      <a:pt x="133090" y="131796"/>
                    </a:cubicBezTo>
                    <a:cubicBezTo>
                      <a:pt x="202092" y="140700"/>
                      <a:pt x="268519" y="102325"/>
                      <a:pt x="295275" y="38100"/>
                    </a:cubicBezTo>
                    <a:moveTo>
                      <a:pt x="304800" y="114300"/>
                    </a:moveTo>
                    <a:lnTo>
                      <a:pt x="304800" y="38100"/>
                    </a:lnTo>
                    <a:lnTo>
                      <a:pt x="228600" y="38100"/>
                    </a:lnTo>
                  </a:path>
                </a:pathLst>
              </a:custGeom>
              <a:noFill/>
              <a:ln w="38100">
                <a:solidFill>
                  <a:schemeClr val="accent2"/>
                </a:solidFill>
              </a:ln>
            </p:spPr>
          </p:sp>
        </p:grpSp>
        <p:sp>
          <p:nvSpPr>
            <p:cNvPr id="40" name="TextBox 40"/>
            <p:cNvSpPr txBox="1"/>
            <p:nvPr/>
          </p:nvSpPr>
          <p:spPr>
            <a:xfrm>
              <a:off x="8807958" y="2407920"/>
              <a:ext cx="3325383"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Controlled response</a:t>
              </a:r>
            </a:p>
          </p:txBody>
        </p:sp>
        <p:sp>
          <p:nvSpPr>
            <p:cNvPr id="41" name="TextBox 41"/>
            <p:cNvSpPr txBox="1"/>
            <p:nvPr/>
          </p:nvSpPr>
          <p:spPr>
            <a:xfrm>
              <a:off x="8811006" y="2853690"/>
              <a:ext cx="286102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Accept a reliable update</a:t>
              </a:r>
            </a:p>
          </p:txBody>
        </p:sp>
        <p:sp>
          <p:nvSpPr>
            <p:cNvPr id="42" name="TextBox 42"/>
            <p:cNvSpPr txBox="1"/>
            <p:nvPr/>
          </p:nvSpPr>
          <p:spPr>
            <a:xfrm>
              <a:off x="8811006" y="3139440"/>
              <a:ext cx="2715608"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Redetect after failure</a:t>
              </a:r>
            </a:p>
          </p:txBody>
        </p:sp>
        <p:sp>
          <p:nvSpPr>
            <p:cNvPr id="43" name="TextBox 43"/>
            <p:cNvSpPr txBox="1"/>
            <p:nvPr/>
          </p:nvSpPr>
          <p:spPr>
            <a:xfrm>
              <a:off x="8811006" y="3425190"/>
              <a:ext cx="3091472"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Otherwise hold last state</a:t>
              </a:r>
            </a:p>
          </p:txBody>
        </p:sp>
      </p:grpSp>
      <p:grpSp>
        <p:nvGrpSpPr>
          <p:cNvPr id="48" name="Group 48"/>
          <p:cNvGrpSpPr/>
          <p:nvPr/>
        </p:nvGrpSpPr>
        <p:grpSpPr>
          <a:xfrm>
            <a:off x="533400" y="3981450"/>
            <a:ext cx="11535945" cy="727901"/>
            <a:chOff x="533400" y="3981450"/>
            <a:chExt cx="11535945" cy="727901"/>
          </a:xfrm>
        </p:grpSpPr>
        <p:sp>
          <p:nvSpPr>
            <p:cNvPr id="45" name="Rectangle 45"/>
            <p:cNvSpPr/>
            <p:nvPr/>
          </p:nvSpPr>
          <p:spPr>
            <a:xfrm>
              <a:off x="533400" y="3981450"/>
              <a:ext cx="11125200" cy="723900"/>
            </a:xfrm>
            <a:prstGeom prst="rect">
              <a:avLst/>
            </a:prstGeom>
            <a:solidFill>
              <a:schemeClr val="lt1"/>
            </a:solidFill>
            <a:ln w="19050">
              <a:solidFill>
                <a:srgbClr val="D14343"/>
              </a:solidFill>
            </a:ln>
          </p:spPr>
        </p:sp>
        <p:sp>
          <p:nvSpPr>
            <p:cNvPr id="46" name="TextBox 46"/>
            <p:cNvSpPr txBox="1"/>
            <p:nvPr/>
          </p:nvSpPr>
          <p:spPr>
            <a:xfrm>
              <a:off x="787908" y="4046220"/>
              <a:ext cx="11281437" cy="469392"/>
            </a:xfrm>
            <a:prstGeom prst="rect">
              <a:avLst/>
            </a:prstGeom>
            <a:noFill/>
            <a:ln>
              <a:noFill/>
            </a:ln>
          </p:spPr>
          <p:txBody>
            <a:bodyPr wrap="none" lIns="0" tIns="0" rIns="0" bIns="0" anchor="t" anchorCtr="0">
              <a:spAutoFit/>
            </a:bodyPr>
            <a:lstStyle/>
            <a:p>
              <a:pPr algn="l"/>
              <a:r>
                <a:rPr lang="en-US" sz="2400" b="1" dirty="0">
                  <a:solidFill>
                    <a:srgbClr val="D14343"/>
                  </a:solidFill>
                  <a:latin typeface="+mn-lt"/>
                  <a:ea typeface="+mn-ea"/>
                  <a:cs typeface="+mn-cs"/>
                </a:rPr>
                <a:t>If the border stays invisible, reliable corners cannot be recovered.</a:t>
              </a:r>
            </a:p>
          </p:txBody>
        </p:sp>
        <p:sp>
          <p:nvSpPr>
            <p:cNvPr id="47" name="TextBox 47"/>
            <p:cNvSpPr txBox="1"/>
            <p:nvPr/>
          </p:nvSpPr>
          <p:spPr>
            <a:xfrm>
              <a:off x="793242" y="4445318"/>
              <a:ext cx="990697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 weak-border aggregate RMSE of 9.35 px is a major gain, but difficult individual clips can still reach 14.39 px.</a:t>
              </a:r>
            </a:p>
          </p:txBody>
        </p:sp>
      </p:grpSp>
      <p:grpSp>
        <p:nvGrpSpPr>
          <p:cNvPr id="57" name="Group 57"/>
          <p:cNvGrpSpPr/>
          <p:nvPr/>
        </p:nvGrpSpPr>
        <p:grpSpPr>
          <a:xfrm>
            <a:off x="521208" y="4968240"/>
            <a:ext cx="12127047" cy="1247394"/>
            <a:chOff x="521208" y="4968240"/>
            <a:chExt cx="12127047" cy="1247394"/>
          </a:xfrm>
        </p:grpSpPr>
        <p:sp>
          <p:nvSpPr>
            <p:cNvPr id="49" name="TextBox 49"/>
            <p:cNvSpPr txBox="1"/>
            <p:nvPr/>
          </p:nvSpPr>
          <p:spPr>
            <a:xfrm>
              <a:off x="524256" y="4968240"/>
              <a:ext cx="2558766"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NEXT IMPROVEMENTS</a:t>
              </a:r>
            </a:p>
          </p:txBody>
        </p:sp>
        <p:sp>
          <p:nvSpPr>
            <p:cNvPr id="50" name="Line 50"/>
            <p:cNvSpPr/>
            <p:nvPr/>
          </p:nvSpPr>
          <p:spPr>
            <a:xfrm>
              <a:off x="533400" y="5334000"/>
              <a:ext cx="11125200" cy="9525"/>
            </a:xfrm>
            <a:custGeom>
              <a:avLst/>
              <a:gdLst/>
              <a:ahLst/>
              <a:cxnLst/>
              <a:rect l="l" t="t" r="r" b="b"/>
              <a:pathLst>
                <a:path w="11125200" h="9525">
                  <a:moveTo>
                    <a:pt x="0" y="0"/>
                  </a:moveTo>
                  <a:lnTo>
                    <a:pt x="11125200" y="0"/>
                  </a:lnTo>
                </a:path>
              </a:pathLst>
            </a:custGeom>
            <a:noFill/>
            <a:ln w="19050">
              <a:solidFill>
                <a:schemeClr val="accent4"/>
              </a:solidFill>
            </a:ln>
          </p:spPr>
        </p:sp>
        <p:sp>
          <p:nvSpPr>
            <p:cNvPr id="51" name="TextBox 51"/>
            <p:cNvSpPr txBox="1"/>
            <p:nvPr/>
          </p:nvSpPr>
          <p:spPr>
            <a:xfrm>
              <a:off x="521208" y="5494020"/>
              <a:ext cx="3715581"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Adaptive profile bands</a:t>
              </a:r>
            </a:p>
          </p:txBody>
        </p:sp>
        <p:sp>
          <p:nvSpPr>
            <p:cNvPr id="52" name="TextBox 52"/>
            <p:cNvSpPr txBox="1"/>
            <p:nvPr/>
          </p:nvSpPr>
          <p:spPr>
            <a:xfrm>
              <a:off x="524256" y="5863590"/>
              <a:ext cx="4157840"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Expand only when evidence weakens</a:t>
              </a:r>
            </a:p>
          </p:txBody>
        </p:sp>
        <p:sp>
          <p:nvSpPr>
            <p:cNvPr id="53" name="TextBox 53"/>
            <p:cNvSpPr txBox="1"/>
            <p:nvPr/>
          </p:nvSpPr>
          <p:spPr>
            <a:xfrm>
              <a:off x="4274058" y="5494020"/>
              <a:ext cx="4123273"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Multi-frame redetection</a:t>
              </a:r>
            </a:p>
          </p:txBody>
        </p:sp>
        <p:sp>
          <p:nvSpPr>
            <p:cNvPr id="54" name="TextBox 54"/>
            <p:cNvSpPr txBox="1"/>
            <p:nvPr/>
          </p:nvSpPr>
          <p:spPr>
            <a:xfrm>
              <a:off x="4277106" y="5863590"/>
              <a:ext cx="3915322"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Aggregate evidence before reset</a:t>
              </a:r>
            </a:p>
          </p:txBody>
        </p:sp>
        <p:sp>
          <p:nvSpPr>
            <p:cNvPr id="55" name="TextBox 55"/>
            <p:cNvSpPr txBox="1"/>
            <p:nvPr/>
          </p:nvSpPr>
          <p:spPr>
            <a:xfrm>
              <a:off x="8026908" y="5494020"/>
              <a:ext cx="4225320"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Confidence-aware output</a:t>
              </a:r>
            </a:p>
          </p:txBody>
        </p:sp>
        <p:sp>
          <p:nvSpPr>
            <p:cNvPr id="56" name="TextBox 56"/>
            <p:cNvSpPr txBox="1"/>
            <p:nvPr/>
          </p:nvSpPr>
          <p:spPr>
            <a:xfrm>
              <a:off x="8029956" y="5863590"/>
              <a:ext cx="4618299"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Expose uncertainty to downstream use</a:t>
              </a:r>
            </a:p>
          </p:txBody>
        </p:sp>
      </p:grpSp>
      <p:grpSp>
        <p:nvGrpSpPr>
          <p:cNvPr id="60" name="Group 60"/>
          <p:cNvGrpSpPr/>
          <p:nvPr/>
        </p:nvGrpSpPr>
        <p:grpSpPr>
          <a:xfrm>
            <a:off x="526542" y="6426518"/>
            <a:ext cx="11138916" cy="264033"/>
            <a:chOff x="526542" y="6426518"/>
            <a:chExt cx="11138916" cy="264033"/>
          </a:xfrm>
        </p:grpSpPr>
        <p:sp>
          <p:nvSpPr>
            <p:cNvPr id="58" name="TextBox 58"/>
            <p:cNvSpPr txBox="1"/>
            <p:nvPr/>
          </p:nvSpPr>
          <p:spPr>
            <a:xfrm>
              <a:off x="526542" y="6426518"/>
              <a:ext cx="356616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LIMITATIONS · IMPROVEMENT PRIORITIES</a:t>
              </a:r>
            </a:p>
          </p:txBody>
        </p:sp>
        <p:sp>
          <p:nvSpPr>
            <p:cNvPr id="59" name="TextBox 59"/>
            <p:cNvSpPr txBox="1"/>
            <p:nvPr/>
          </p:nvSpPr>
          <p:spPr>
            <a:xfrm>
              <a:off x="11451831" y="64265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7734300" y="838200"/>
            <a:ext cx="3962400" cy="5467350"/>
            <a:chOff x="7734300" y="838200"/>
            <a:chExt cx="3962400" cy="5467350"/>
          </a:xfrm>
        </p:grpSpPr>
        <p:sp>
          <p:nvSpPr>
            <p:cNvPr id="2" name="Polygon 2"/>
            <p:cNvSpPr/>
            <p:nvPr/>
          </p:nvSpPr>
          <p:spPr>
            <a:xfrm>
              <a:off x="7810500" y="914400"/>
              <a:ext cx="3810000" cy="5314950"/>
            </a:xfrm>
            <a:custGeom>
              <a:avLst/>
              <a:gdLst/>
              <a:ahLst/>
              <a:cxnLst/>
              <a:rect l="l" t="t" r="r" b="b"/>
              <a:pathLst>
                <a:path w="3810000" h="5314950">
                  <a:moveTo>
                    <a:pt x="0" y="285750"/>
                  </a:moveTo>
                  <a:lnTo>
                    <a:pt x="3524250" y="0"/>
                  </a:lnTo>
                  <a:lnTo>
                    <a:pt x="3810000" y="5048250"/>
                  </a:lnTo>
                  <a:lnTo>
                    <a:pt x="285750" y="5314950"/>
                  </a:lnTo>
                  <a:close/>
                </a:path>
              </a:pathLst>
            </a:custGeom>
            <a:solidFill>
              <a:schemeClr val="lt2"/>
            </a:solidFill>
            <a:ln w="38100">
              <a:solidFill>
                <a:schemeClr val="accent2"/>
              </a:solidFill>
            </a:ln>
          </p:spPr>
        </p:sp>
        <p:sp>
          <p:nvSpPr>
            <p:cNvPr id="3" name="Ellipse 3"/>
            <p:cNvSpPr/>
            <p:nvPr/>
          </p:nvSpPr>
          <p:spPr>
            <a:xfrm>
              <a:off x="7734300" y="1123950"/>
              <a:ext cx="152400" cy="152400"/>
            </a:xfrm>
            <a:prstGeom prst="ellipse">
              <a:avLst/>
            </a:prstGeom>
            <a:solidFill>
              <a:schemeClr val="accent2"/>
            </a:solidFill>
            <a:ln>
              <a:noFill/>
            </a:ln>
          </p:spPr>
        </p:sp>
        <p:sp>
          <p:nvSpPr>
            <p:cNvPr id="4" name="Ellipse 4"/>
            <p:cNvSpPr/>
            <p:nvPr/>
          </p:nvSpPr>
          <p:spPr>
            <a:xfrm>
              <a:off x="11258550" y="838200"/>
              <a:ext cx="152400" cy="152400"/>
            </a:xfrm>
            <a:prstGeom prst="ellipse">
              <a:avLst/>
            </a:prstGeom>
            <a:solidFill>
              <a:schemeClr val="accent2"/>
            </a:solidFill>
            <a:ln>
              <a:noFill/>
            </a:ln>
          </p:spPr>
        </p:sp>
        <p:sp>
          <p:nvSpPr>
            <p:cNvPr id="5" name="Ellipse 5"/>
            <p:cNvSpPr/>
            <p:nvPr/>
          </p:nvSpPr>
          <p:spPr>
            <a:xfrm>
              <a:off x="11544300" y="5886450"/>
              <a:ext cx="152400" cy="152400"/>
            </a:xfrm>
            <a:prstGeom prst="ellipse">
              <a:avLst/>
            </a:prstGeom>
            <a:solidFill>
              <a:schemeClr val="accent2"/>
            </a:solidFill>
            <a:ln>
              <a:noFill/>
            </a:ln>
          </p:spPr>
        </p:sp>
        <p:sp>
          <p:nvSpPr>
            <p:cNvPr id="6" name="Ellipse 6"/>
            <p:cNvSpPr/>
            <p:nvPr/>
          </p:nvSpPr>
          <p:spPr>
            <a:xfrm>
              <a:off x="8020050" y="6153150"/>
              <a:ext cx="152400" cy="152400"/>
            </a:xfrm>
            <a:prstGeom prst="ellipse">
              <a:avLst/>
            </a:prstGeom>
            <a:solidFill>
              <a:schemeClr val="accent2"/>
            </a:solidFill>
            <a:ln>
              <a:noFill/>
            </a:ln>
          </p:spPr>
        </p:sp>
      </p:grpSp>
      <p:grpSp>
        <p:nvGrpSpPr>
          <p:cNvPr id="11" name="Group 11"/>
          <p:cNvGrpSpPr/>
          <p:nvPr/>
        </p:nvGrpSpPr>
        <p:grpSpPr>
          <a:xfrm>
            <a:off x="514350" y="381952"/>
            <a:ext cx="13538418" cy="1265683"/>
            <a:chOff x="514350" y="381952"/>
            <a:chExt cx="13538418" cy="1265683"/>
          </a:xfrm>
        </p:grpSpPr>
        <p:sp>
          <p:nvSpPr>
            <p:cNvPr id="8" name="TextBox 8"/>
            <p:cNvSpPr txBox="1"/>
            <p:nvPr/>
          </p:nvSpPr>
          <p:spPr>
            <a:xfrm>
              <a:off x="514350" y="381952"/>
              <a:ext cx="13538418"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The physical border should drive the homography</a:t>
              </a:r>
            </a:p>
          </p:txBody>
        </p:sp>
        <p:sp>
          <p:nvSpPr>
            <p:cNvPr id="9" name="TextBox 9"/>
            <p:cNvSpPr txBox="1"/>
            <p:nvPr/>
          </p:nvSpPr>
          <p:spPr>
            <a:xfrm>
              <a:off x="517398" y="1031558"/>
              <a:ext cx="9462829" cy="616077"/>
            </a:xfrm>
            <a:prstGeom prst="rect">
              <a:avLst/>
            </a:prstGeom>
            <a:noFill/>
            <a:ln>
              <a:noFill/>
            </a:ln>
          </p:spPr>
          <p:txBody>
            <a:bodyPr wrap="none" lIns="0" tIns="0" rIns="0" bIns="0" anchor="t" anchorCtr="0">
              <a:spAutoFit/>
            </a:bodyPr>
            <a:lstStyle/>
            <a:p>
              <a:pPr algn="l"/>
              <a:r>
                <a:rPr lang="en-US" sz="3150" b="1" dirty="0">
                  <a:solidFill>
                    <a:schemeClr val="dk2"/>
                  </a:solidFill>
                  <a:latin typeface="+mn-lt"/>
                  <a:ea typeface="+mn-ea"/>
                  <a:cs typeface="+mn-cs"/>
                </a:rPr>
                <a:t>Internal flow should only diagnose conflicts</a:t>
              </a:r>
            </a:p>
          </p:txBody>
        </p:sp>
        <p:sp>
          <p:nvSpPr>
            <p:cNvPr id="10" name="Line 10"/>
            <p:cNvSpPr/>
            <p:nvPr/>
          </p:nvSpPr>
          <p:spPr>
            <a:xfrm>
              <a:off x="533400" y="1600200"/>
              <a:ext cx="6953250" cy="9525"/>
            </a:xfrm>
            <a:custGeom>
              <a:avLst/>
              <a:gdLst/>
              <a:ahLst/>
              <a:cxnLst/>
              <a:rect l="l" t="t" r="r" b="b"/>
              <a:pathLst>
                <a:path w="6953250" h="9525">
                  <a:moveTo>
                    <a:pt x="0" y="0"/>
                  </a:moveTo>
                  <a:lnTo>
                    <a:pt x="6953250" y="0"/>
                  </a:lnTo>
                </a:path>
              </a:pathLst>
            </a:custGeom>
            <a:noFill/>
            <a:ln w="19050">
              <a:solidFill>
                <a:schemeClr val="accent1"/>
              </a:solidFill>
            </a:ln>
          </p:spPr>
        </p:sp>
      </p:grpSp>
      <p:grpSp>
        <p:nvGrpSpPr>
          <p:cNvPr id="26" name="Group 26"/>
          <p:cNvGrpSpPr/>
          <p:nvPr/>
        </p:nvGrpSpPr>
        <p:grpSpPr>
          <a:xfrm>
            <a:off x="590550" y="1861185"/>
            <a:ext cx="8251373" cy="3173349"/>
            <a:chOff x="590550" y="1861185"/>
            <a:chExt cx="8251373" cy="3173349"/>
          </a:xfrm>
        </p:grpSpPr>
        <p:sp>
          <p:nvSpPr>
            <p:cNvPr id="12" name="Ellipse 12"/>
            <p:cNvSpPr/>
            <p:nvPr/>
          </p:nvSpPr>
          <p:spPr>
            <a:xfrm>
              <a:off x="590550" y="2038350"/>
              <a:ext cx="342900" cy="342900"/>
            </a:xfrm>
            <a:prstGeom prst="ellipse">
              <a:avLst/>
            </a:prstGeom>
            <a:solidFill>
              <a:schemeClr val="accent2"/>
            </a:solidFill>
            <a:ln>
              <a:noFill/>
            </a:ln>
          </p:spPr>
        </p:sp>
        <p:sp>
          <p:nvSpPr>
            <p:cNvPr id="13" name="TextBox 13"/>
            <p:cNvSpPr txBox="1"/>
            <p:nvPr/>
          </p:nvSpPr>
          <p:spPr>
            <a:xfrm>
              <a:off x="682887" y="210121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1</a:t>
              </a:r>
            </a:p>
          </p:txBody>
        </p:sp>
        <p:sp>
          <p:nvSpPr>
            <p:cNvPr id="14" name="TextBox 14"/>
            <p:cNvSpPr txBox="1"/>
            <p:nvPr/>
          </p:nvSpPr>
          <p:spPr>
            <a:xfrm>
              <a:off x="1129284" y="1861185"/>
              <a:ext cx="4294847"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A border-first pipeline</a:t>
              </a:r>
            </a:p>
          </p:txBody>
        </p:sp>
        <p:sp>
          <p:nvSpPr>
            <p:cNvPr id="15" name="TextBox 15"/>
            <p:cNvSpPr txBox="1"/>
            <p:nvPr/>
          </p:nvSpPr>
          <p:spPr>
            <a:xfrm>
              <a:off x="1133856" y="2320290"/>
              <a:ext cx="770806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Local profiles → robust lines → validated corners → smooth output</a:t>
              </a:r>
            </a:p>
          </p:txBody>
        </p:sp>
        <p:sp>
          <p:nvSpPr>
            <p:cNvPr id="16" name="Line 16"/>
            <p:cNvSpPr/>
            <p:nvPr/>
          </p:nvSpPr>
          <p:spPr>
            <a:xfrm>
              <a:off x="1143000" y="2781300"/>
              <a:ext cx="6076950" cy="9525"/>
            </a:xfrm>
            <a:custGeom>
              <a:avLst/>
              <a:gdLst/>
              <a:ahLst/>
              <a:cxnLst/>
              <a:rect l="l" t="t" r="r" b="b"/>
              <a:pathLst>
                <a:path w="6076950" h="9525">
                  <a:moveTo>
                    <a:pt x="0" y="0"/>
                  </a:moveTo>
                  <a:lnTo>
                    <a:pt x="6076950" y="0"/>
                  </a:lnTo>
                </a:path>
              </a:pathLst>
            </a:custGeom>
            <a:noFill/>
            <a:ln w="19050">
              <a:solidFill>
                <a:schemeClr val="accent4"/>
              </a:solidFill>
            </a:ln>
          </p:spPr>
        </p:sp>
        <p:sp>
          <p:nvSpPr>
            <p:cNvPr id="17" name="Ellipse 17"/>
            <p:cNvSpPr/>
            <p:nvPr/>
          </p:nvSpPr>
          <p:spPr>
            <a:xfrm>
              <a:off x="590550" y="3219450"/>
              <a:ext cx="342900" cy="342900"/>
            </a:xfrm>
            <a:prstGeom prst="ellipse">
              <a:avLst/>
            </a:prstGeom>
            <a:solidFill>
              <a:schemeClr val="accent3"/>
            </a:solidFill>
            <a:ln>
              <a:noFill/>
            </a:ln>
          </p:spPr>
        </p:sp>
        <p:sp>
          <p:nvSpPr>
            <p:cNvPr id="18" name="TextBox 18"/>
            <p:cNvSpPr txBox="1"/>
            <p:nvPr/>
          </p:nvSpPr>
          <p:spPr>
            <a:xfrm>
              <a:off x="682887" y="328231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2</a:t>
              </a:r>
            </a:p>
          </p:txBody>
        </p:sp>
        <p:sp>
          <p:nvSpPr>
            <p:cNvPr id="19" name="TextBox 19"/>
            <p:cNvSpPr txBox="1"/>
            <p:nvPr/>
          </p:nvSpPr>
          <p:spPr>
            <a:xfrm>
              <a:off x="1129284" y="3042285"/>
              <a:ext cx="4047334"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A clean aggregate win</a:t>
              </a:r>
            </a:p>
          </p:txBody>
        </p:sp>
        <p:sp>
          <p:nvSpPr>
            <p:cNvPr id="20" name="TextBox 20"/>
            <p:cNvSpPr txBox="1"/>
            <p:nvPr/>
          </p:nvSpPr>
          <p:spPr>
            <a:xfrm>
              <a:off x="1133856" y="3501390"/>
              <a:ext cx="7188970"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Best RMSE, IoU, and temporal stability on the annotated set</a:t>
              </a:r>
            </a:p>
          </p:txBody>
        </p:sp>
        <p:sp>
          <p:nvSpPr>
            <p:cNvPr id="21" name="Line 21"/>
            <p:cNvSpPr/>
            <p:nvPr/>
          </p:nvSpPr>
          <p:spPr>
            <a:xfrm>
              <a:off x="1143000" y="3962400"/>
              <a:ext cx="6076950" cy="9525"/>
            </a:xfrm>
            <a:custGeom>
              <a:avLst/>
              <a:gdLst/>
              <a:ahLst/>
              <a:cxnLst/>
              <a:rect l="l" t="t" r="r" b="b"/>
              <a:pathLst>
                <a:path w="6076950" h="9525">
                  <a:moveTo>
                    <a:pt x="0" y="0"/>
                  </a:moveTo>
                  <a:lnTo>
                    <a:pt x="6076950" y="0"/>
                  </a:lnTo>
                </a:path>
              </a:pathLst>
            </a:custGeom>
            <a:noFill/>
            <a:ln w="19050">
              <a:solidFill>
                <a:schemeClr val="accent4"/>
              </a:solidFill>
            </a:ln>
          </p:spPr>
        </p:sp>
        <p:sp>
          <p:nvSpPr>
            <p:cNvPr id="22" name="Ellipse 22"/>
            <p:cNvSpPr/>
            <p:nvPr/>
          </p:nvSpPr>
          <p:spPr>
            <a:xfrm>
              <a:off x="590550" y="4400550"/>
              <a:ext cx="342900" cy="342900"/>
            </a:xfrm>
            <a:prstGeom prst="ellipse">
              <a:avLst/>
            </a:prstGeom>
            <a:solidFill>
              <a:schemeClr val="accent1"/>
            </a:solidFill>
            <a:ln>
              <a:noFill/>
            </a:ln>
          </p:spPr>
        </p:sp>
        <p:sp>
          <p:nvSpPr>
            <p:cNvPr id="23" name="TextBox 23"/>
            <p:cNvSpPr txBox="1"/>
            <p:nvPr/>
          </p:nvSpPr>
          <p:spPr>
            <a:xfrm>
              <a:off x="682887" y="446341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3</a:t>
              </a:r>
            </a:p>
          </p:txBody>
        </p:sp>
        <p:sp>
          <p:nvSpPr>
            <p:cNvPr id="24" name="TextBox 24"/>
            <p:cNvSpPr txBox="1"/>
            <p:nvPr/>
          </p:nvSpPr>
          <p:spPr>
            <a:xfrm>
              <a:off x="1129284" y="4223385"/>
              <a:ext cx="5516476"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Robust where baselines break</a:t>
              </a:r>
            </a:p>
          </p:txBody>
        </p:sp>
        <p:sp>
          <p:nvSpPr>
            <p:cNvPr id="25" name="TextBox 25"/>
            <p:cNvSpPr txBox="1"/>
            <p:nvPr/>
          </p:nvSpPr>
          <p:spPr>
            <a:xfrm>
              <a:off x="1133856" y="4682490"/>
              <a:ext cx="7162116"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Especially under scrolling content and weak physical borders</a:t>
              </a:r>
            </a:p>
          </p:txBody>
        </p:sp>
      </p:grpSp>
      <p:grpSp>
        <p:nvGrpSpPr>
          <p:cNvPr id="35" name="Group 35"/>
          <p:cNvGrpSpPr/>
          <p:nvPr/>
        </p:nvGrpSpPr>
        <p:grpSpPr>
          <a:xfrm>
            <a:off x="8439150" y="1577340"/>
            <a:ext cx="3238530" cy="3857244"/>
            <a:chOff x="8439150" y="1577340"/>
            <a:chExt cx="3238530" cy="3857244"/>
          </a:xfrm>
        </p:grpSpPr>
        <p:sp>
          <p:nvSpPr>
            <p:cNvPr id="27" name="TextBox 27"/>
            <p:cNvSpPr txBox="1"/>
            <p:nvPr/>
          </p:nvSpPr>
          <p:spPr>
            <a:xfrm>
              <a:off x="8439150" y="1577340"/>
              <a:ext cx="2480645"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3.87 px</a:t>
              </a:r>
            </a:p>
          </p:txBody>
        </p:sp>
        <p:sp>
          <p:nvSpPr>
            <p:cNvPr id="28" name="TextBox 28"/>
            <p:cNvSpPr txBox="1"/>
            <p:nvPr/>
          </p:nvSpPr>
          <p:spPr>
            <a:xfrm>
              <a:off x="8487156" y="2225040"/>
              <a:ext cx="191356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CORNER RMSE ↓</a:t>
              </a:r>
            </a:p>
          </p:txBody>
        </p:sp>
        <p:sp>
          <p:nvSpPr>
            <p:cNvPr id="29" name="Line 29"/>
            <p:cNvSpPr/>
            <p:nvPr/>
          </p:nvSpPr>
          <p:spPr>
            <a:xfrm>
              <a:off x="8458200" y="2724150"/>
              <a:ext cx="2667000" cy="9525"/>
            </a:xfrm>
            <a:custGeom>
              <a:avLst/>
              <a:gdLst/>
              <a:ahLst/>
              <a:cxnLst/>
              <a:rect l="l" t="t" r="r" b="b"/>
              <a:pathLst>
                <a:path w="2667000" h="9525">
                  <a:moveTo>
                    <a:pt x="0" y="0"/>
                  </a:moveTo>
                  <a:lnTo>
                    <a:pt x="2667000" y="0"/>
                  </a:lnTo>
                </a:path>
              </a:pathLst>
            </a:custGeom>
            <a:noFill/>
            <a:ln w="19050">
              <a:solidFill>
                <a:schemeClr val="accent4"/>
              </a:solidFill>
            </a:ln>
          </p:spPr>
        </p:sp>
        <p:sp>
          <p:nvSpPr>
            <p:cNvPr id="30" name="TextBox 30"/>
            <p:cNvSpPr txBox="1"/>
            <p:nvPr/>
          </p:nvSpPr>
          <p:spPr>
            <a:xfrm>
              <a:off x="8439150" y="3006090"/>
              <a:ext cx="1903933"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0.996</a:t>
              </a:r>
            </a:p>
          </p:txBody>
        </p:sp>
        <p:sp>
          <p:nvSpPr>
            <p:cNvPr id="31" name="TextBox 31"/>
            <p:cNvSpPr txBox="1"/>
            <p:nvPr/>
          </p:nvSpPr>
          <p:spPr>
            <a:xfrm>
              <a:off x="8487156" y="3653790"/>
              <a:ext cx="260384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QUADRILATERAL IoU ↑</a:t>
              </a:r>
            </a:p>
          </p:txBody>
        </p:sp>
        <p:sp>
          <p:nvSpPr>
            <p:cNvPr id="32" name="Line 32"/>
            <p:cNvSpPr/>
            <p:nvPr/>
          </p:nvSpPr>
          <p:spPr>
            <a:xfrm>
              <a:off x="8458200" y="4152900"/>
              <a:ext cx="2667000" cy="9525"/>
            </a:xfrm>
            <a:custGeom>
              <a:avLst/>
              <a:gdLst/>
              <a:ahLst/>
              <a:cxnLst/>
              <a:rect l="l" t="t" r="r" b="b"/>
              <a:pathLst>
                <a:path w="2667000" h="9525">
                  <a:moveTo>
                    <a:pt x="0" y="0"/>
                  </a:moveTo>
                  <a:lnTo>
                    <a:pt x="2667000" y="0"/>
                  </a:lnTo>
                </a:path>
              </a:pathLst>
            </a:custGeom>
            <a:noFill/>
            <a:ln w="19050">
              <a:solidFill>
                <a:schemeClr val="accent4"/>
              </a:solidFill>
            </a:ln>
          </p:spPr>
        </p:sp>
        <p:sp>
          <p:nvSpPr>
            <p:cNvPr id="33" name="TextBox 33"/>
            <p:cNvSpPr txBox="1"/>
            <p:nvPr/>
          </p:nvSpPr>
          <p:spPr>
            <a:xfrm>
              <a:off x="8439150" y="4434840"/>
              <a:ext cx="1530767"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2.45</a:t>
              </a:r>
            </a:p>
          </p:txBody>
        </p:sp>
        <p:sp>
          <p:nvSpPr>
            <p:cNvPr id="34" name="TextBox 34"/>
            <p:cNvSpPr txBox="1"/>
            <p:nvPr/>
          </p:nvSpPr>
          <p:spPr>
            <a:xfrm>
              <a:off x="8487156" y="5082540"/>
              <a:ext cx="319052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TRANSLATION VARIATION ↓</a:t>
              </a:r>
            </a:p>
          </p:txBody>
        </p:sp>
      </p:grpSp>
      <p:grpSp>
        <p:nvGrpSpPr>
          <p:cNvPr id="38" name="Group 38"/>
          <p:cNvGrpSpPr/>
          <p:nvPr/>
        </p:nvGrpSpPr>
        <p:grpSpPr>
          <a:xfrm>
            <a:off x="517398" y="5565458"/>
            <a:ext cx="10844360" cy="935926"/>
            <a:chOff x="517398" y="5565458"/>
            <a:chExt cx="10844360" cy="935926"/>
          </a:xfrm>
        </p:grpSpPr>
        <p:sp>
          <p:nvSpPr>
            <p:cNvPr id="36" name="TextBox 36"/>
            <p:cNvSpPr txBox="1"/>
            <p:nvPr/>
          </p:nvSpPr>
          <p:spPr>
            <a:xfrm>
              <a:off x="517398" y="5565458"/>
              <a:ext cx="10844360"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Track the display, not the pixels moving inside it.</a:t>
              </a:r>
            </a:p>
          </p:txBody>
        </p:sp>
        <p:sp>
          <p:nvSpPr>
            <p:cNvPr id="37" name="TextBox 37"/>
            <p:cNvSpPr txBox="1"/>
            <p:nvPr/>
          </p:nvSpPr>
          <p:spPr>
            <a:xfrm>
              <a:off x="524256" y="6149340"/>
              <a:ext cx="2640532"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Thank you · Questions</a:t>
              </a:r>
            </a:p>
          </p:txBody>
        </p:sp>
      </p:grpSp>
      <p:sp>
        <p:nvSpPr>
          <p:cNvPr id="39" name="TextBox 39"/>
          <p:cNvSpPr txBox="1"/>
          <p:nvPr/>
        </p:nvSpPr>
        <p:spPr>
          <a:xfrm>
            <a:off x="11451831" y="6426518"/>
            <a:ext cx="213627" cy="264033"/>
          </a:xfrm>
          <a:prstGeom prst="rect">
            <a:avLst/>
          </a:prstGeom>
          <a:noFill/>
          <a:ln>
            <a:noFill/>
          </a:ln>
        </p:spPr>
        <p:txBody>
          <a:bodyPr wrap="none" lIns="0" tIns="0" rIns="0" bIns="0" anchor="t" anchorCtr="0">
            <a:spAutoFit/>
          </a:bodyPr>
          <a:lstStyle/>
          <a:p>
            <a:pPr algn="r"/>
            <a:r>
              <a:rPr lang="en-US" sz="1350" dirty="0">
                <a:solidFill>
                  <a:schemeClr val="dk2"/>
                </a:solidFill>
                <a:latin typeface="+mn-lt"/>
                <a:ea typeface="+mn-ea"/>
                <a:cs typeface="+mn-cs"/>
              </a:rPr>
              <a:t>13</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creen_normalize_report">
  <a:themeElements>
    <a:clrScheme name="screen_normalize_report">
      <a:dk1>
        <a:srgbClr val="1F2937"/>
      </a:dk1>
      <a:lt1>
        <a:srgbClr val="FFFFFF"/>
      </a:lt1>
      <a:dk2>
        <a:srgbClr val="5B6472"/>
      </a:dk2>
      <a:lt2>
        <a:srgbClr val="EFF4F8"/>
      </a:lt2>
      <a:accent1>
        <a:srgbClr val="111827"/>
      </a:accent1>
      <a:accent2>
        <a:srgbClr val="0066FF"/>
      </a:accent2>
      <a:accent3>
        <a:srgbClr val="14B8A6"/>
      </a:accent3>
      <a:accent4>
        <a:srgbClr val="CFD8E3"/>
      </a:accent4>
      <a:accent5>
        <a:srgbClr val="9AA4B2"/>
      </a:accent5>
      <a:accent6>
        <a:srgbClr val="5B6472"/>
      </a:accent6>
      <a:hlink>
        <a:srgbClr val="0066FF"/>
      </a:hlink>
      <a:folHlink>
        <a:srgbClr val="14B8A6"/>
      </a:folHlink>
    </a:clrScheme>
    <a:fontScheme name="screen_normalize_repor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creen_normalize_repor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creen_normalize_report">
  <a:themeElements>
    <a:clrScheme name="screen_normalize_report">
      <a:dk1>
        <a:srgbClr val="1F2937"/>
      </a:dk1>
      <a:lt1>
        <a:srgbClr val="FFFFFF"/>
      </a:lt1>
      <a:dk2>
        <a:srgbClr val="5B6472"/>
      </a:dk2>
      <a:lt2>
        <a:srgbClr val="EFF4F8"/>
      </a:lt2>
      <a:accent1>
        <a:srgbClr val="111827"/>
      </a:accent1>
      <a:accent2>
        <a:srgbClr val="0066FF"/>
      </a:accent2>
      <a:accent3>
        <a:srgbClr val="14B8A6"/>
      </a:accent3>
      <a:accent4>
        <a:srgbClr val="CFD8E3"/>
      </a:accent4>
      <a:accent5>
        <a:srgbClr val="9AA4B2"/>
      </a:accent5>
      <a:accent6>
        <a:srgbClr val="5B6472"/>
      </a:accent6>
      <a:hlink>
        <a:srgbClr val="0066FF"/>
      </a:hlink>
      <a:folHlink>
        <a:srgbClr val="14B8A6"/>
      </a:folHlink>
    </a:clrScheme>
    <a:fontScheme name="screen_normalize_repor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creen_normalize_repor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2026-07-14T13:18:43Z</dcterms:created>
  <dcterms:modified xsi:type="dcterms:W3CDTF">2026-07-14T13:18:43Z</dcterms:modified>
  <cp:category/>
  <cp:contentStatus/>
</cp:coreProperties>
</file>