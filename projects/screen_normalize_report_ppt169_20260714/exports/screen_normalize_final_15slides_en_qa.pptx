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15 seconds] This project addresses the geometric front end of captured-screen video. Our core claim is simple: the physical screen boundary should drive the homography, while internal content motion should remain independent.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seconds] A handheld recording mixes two different sources of motion. The camera changes the physical screen geometry, while the displayed page or video can move independently. The task is to remove camera-induced plane changes without suppressing genuine content motion.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seconds] The project stops at geometry. It produces the stable screen region required by later OCR, restoration, or demoiréing. The paper contributes a border-driven pipeline, a reproducible five-condition evaluation, and evidence that the design is especially useful under scrolling and weak boundaries.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seconds] The comparison methods differ mainly in what they trust. Frame-wise detection trusts each image independently. Optical flow trusts interior texture over time. Our method trusts the physical screen border and uses interior flow only to flag a content-motion conflict. This distinction is most visible on a scrolling page.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seconds] Starting from initial corners, the previous quadrilateral predicts local search bands. Physical edge evidence produces four fitted lines and their intersections. LK consistency, gating, fallback, smoothing, and warping complete the pipeline, but the boundary remains the main geometry cue.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35 seconds] Each side is recovered locally around its predicted position. Profiles are sampled along inward normals, strong nearby gradients are selected, and four robust lines are intersected. A candidate is accepted only when all sides are usable and the quadrilateral is valid and plausible. Missing evidence triggers redetection; only a second failure carries forward the last valid plane.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seconds] The collection contains fifty clips and 14,985 frames across five conditions. Ten clips, two per condition, form the annotated evaluation split. Every method shares the same initialization, output canvas, annotations, encoder, and metric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seconds] Geometry metrics test position and shape, trajectory metrics test temporal change, and signal diagnostics test whether the warped result preserves the captured screen structure. The signal panel is explicitly diagnostic: it does not claim demoiréing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35 seconds] Across ten clip-level summaries, the proposed method reaches 3.87-pixel corner RMSE, 0.996 IoU, and 2.45 pixels per frame of translation variation. Geometry and temporal stability improve together, so the result is not created by simply freezing the trajectory.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seconds] Scrolling creates the strongest content-motion conflict: optical-flow RMSE rises to 81.67 pixels, while the proposed method reaches 2.87. Weak borders also show a large gain, with 9.35 pixels versus more than 155 for both comparison methods. Challenging scenes remain the main limitation.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seconds] Seven of ten clips remain below five-pixel RMSE and all ten remain below fifteen. The evaluated run contains zero held frames, so the stability is not produced by refusing updates. The higher-error clips are concentrated in weak-border and challenging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seconds] Qualitative outputs match the metrics. On scrolling content, the border-guided result preserves the physical screen instead of following the page. In the weak-border example, it also maintains the full screen extent where independent detection can shift the crop.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seconds] On the representative scrolling clip, the proposed output has higher local-structure similarity: SSIM 0.890, gradient similarity 0.930, and Edge F1 0.952. Frequency similarity and energy ratios also remain close to the annotation-warped reference. These are preservation diagnostics, not demoiréing results.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35 seconds] The ablation separates the roles of the modules. Removing smoothing nearly doubles translation variation, so filtering mainly adds stability. Removing physical-border evidence raises RMSE from 3.253 to 76.114 because optical flow follows scrolling content. Profile observations are the default: LSD is close but slower, while Hough clearly degrades geometry on this clip.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seconds] The method remains limited by weak or occluded boundaries and by sparse annotations. The direct next steps are multi-cue boundary models, per-edge confidence, and stronger recovery. The final result is 3.87-pixel RMSE, 0.996 IoU, and 2.45 pixels per frame of translation variation.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21792" y="420624"/>
            <a:ext cx="6217920" cy="274320"/>
          </a:xfrm>
          <a:prstGeom prst="rect">
            <a:avLst/>
          </a:prstGeom>
          <a:noFill/>
        </p:spPr>
        <p:txBody>
          <a:bodyPr wrap="square" lIns="0" rIns="0" tIns="0" bIns="0" anchor="t">
            <a:spAutoFit/>
          </a:bodyPr>
          <a:lstStyle/>
          <a:p>
            <a:pPr algn="l">
              <a:lnSpc>
                <a:spcPct val="108000"/>
              </a:lnSpc>
              <a:spcBef>
                <a:spcPts val="0"/>
              </a:spcBef>
              <a:spcAft>
                <a:spcPts val="0"/>
              </a:spcAft>
            </a:pPr>
            <a:r>
              <a:rPr sz="1300" b="1" i="0">
                <a:solidFill>
                  <a:srgbClr val="1F57C4"/>
                </a:solidFill>
                <a:latin typeface="Aptos"/>
                <a:ea typeface="Aptos"/>
              </a:rPr>
              <a:t>ECE4512 FINAL PROJECT · 2026</a:t>
            </a:r>
          </a:p>
        </p:txBody>
      </p:sp>
      <p:sp>
        <p:nvSpPr>
          <p:cNvPr id="3" name="TextBox 2"/>
          <p:cNvSpPr txBox="1"/>
          <p:nvPr/>
        </p:nvSpPr>
        <p:spPr>
          <a:xfrm>
            <a:off x="621792" y="859536"/>
            <a:ext cx="6446520" cy="1325880"/>
          </a:xfrm>
          <a:prstGeom prst="rect">
            <a:avLst/>
          </a:prstGeom>
          <a:noFill/>
        </p:spPr>
        <p:txBody>
          <a:bodyPr wrap="square" lIns="0" rIns="0" tIns="0" bIns="0" anchor="t">
            <a:spAutoFit/>
          </a:bodyPr>
          <a:lstStyle/>
          <a:p>
            <a:pPr algn="l">
              <a:lnSpc>
                <a:spcPct val="102000"/>
              </a:lnSpc>
              <a:spcBef>
                <a:spcPts val="0"/>
              </a:spcBef>
              <a:spcAft>
                <a:spcPts val="0"/>
              </a:spcAft>
            </a:pPr>
            <a:r>
              <a:rPr sz="2950" b="1" i="0">
                <a:solidFill>
                  <a:srgbClr val="1A1A1A"/>
                </a:solidFill>
                <a:latin typeface="Aptos"/>
                <a:ea typeface="Aptos"/>
              </a:rPr>
              <a:t>Border-Guided Screen-Plane</a:t>
            </a:r>
          </a:p>
          <a:p>
            <a:pPr algn="l">
              <a:lnSpc>
                <a:spcPct val="102000"/>
              </a:lnSpc>
              <a:spcBef>
                <a:spcPts val="0"/>
              </a:spcBef>
              <a:spcAft>
                <a:spcPts val="0"/>
              </a:spcAft>
            </a:pPr>
            <a:r>
              <a:rPr sz="2950" b="1" i="0">
                <a:solidFill>
                  <a:srgbClr val="1A1A1A"/>
                </a:solidFill>
                <a:latin typeface="Aptos"/>
                <a:ea typeface="Aptos"/>
              </a:rPr>
              <a:t>Normalization for Captured-Screen Videos</a:t>
            </a:r>
          </a:p>
        </p:txBody>
      </p:sp>
      <p:sp>
        <p:nvSpPr>
          <p:cNvPr id="4" name="TextBox 3"/>
          <p:cNvSpPr txBox="1"/>
          <p:nvPr/>
        </p:nvSpPr>
        <p:spPr>
          <a:xfrm>
            <a:off x="640080" y="2304288"/>
            <a:ext cx="6236208" cy="384048"/>
          </a:xfrm>
          <a:prstGeom prst="rect">
            <a:avLst/>
          </a:prstGeom>
          <a:noFill/>
        </p:spPr>
        <p:txBody>
          <a:bodyPr wrap="square" lIns="0" rIns="0" tIns="0" bIns="0" anchor="t">
            <a:spAutoFit/>
          </a:bodyPr>
          <a:lstStyle/>
          <a:p>
            <a:pPr algn="l">
              <a:lnSpc>
                <a:spcPct val="108000"/>
              </a:lnSpc>
              <a:spcBef>
                <a:spcPts val="0"/>
              </a:spcBef>
              <a:spcAft>
                <a:spcPts val="0"/>
              </a:spcAft>
            </a:pPr>
            <a:r>
              <a:rPr sz="1600" b="0" i="1">
                <a:solidFill>
                  <a:srgbClr val="555B66"/>
                </a:solidFill>
                <a:latin typeface="Aptos"/>
                <a:ea typeface="Aptos"/>
              </a:rPr>
              <a:t>Physical screen boundaries—not internal content—drive the homography</a:t>
            </a:r>
          </a:p>
        </p:txBody>
      </p:sp>
      <p:sp>
        <p:nvSpPr>
          <p:cNvPr id="5" name="TextBox 4"/>
          <p:cNvSpPr txBox="1"/>
          <p:nvPr/>
        </p:nvSpPr>
        <p:spPr>
          <a:xfrm>
            <a:off x="640080" y="2779776"/>
            <a:ext cx="6217920" cy="274320"/>
          </a:xfrm>
          <a:prstGeom prst="rect">
            <a:avLst/>
          </a:prstGeom>
          <a:noFill/>
        </p:spPr>
        <p:txBody>
          <a:bodyPr wrap="square" lIns="0" rIns="0" tIns="0" bIns="0" anchor="t">
            <a:spAutoFit/>
          </a:bodyPr>
          <a:lstStyle/>
          <a:p>
            <a:pPr algn="l">
              <a:spcBef>
                <a:spcPts val="0"/>
              </a:spcBef>
              <a:spcAft>
                <a:spcPts val="0"/>
              </a:spcAft>
            </a:pPr>
            <a:r>
              <a:rPr sz="1280" b="1" i="0">
                <a:solidFill>
                  <a:srgbClr val="1A1A1A"/>
                </a:solidFill>
                <a:latin typeface="Aptos"/>
                <a:ea typeface="Aptos"/>
              </a:rPr>
              <a:t>Rongshuo Wen</a:t>
            </a:r>
            <a:r>
              <a:rPr sz="1280" b="0" i="0">
                <a:solidFill>
                  <a:srgbClr val="555B66"/>
                </a:solidFill>
                <a:latin typeface="Aptos"/>
                <a:ea typeface="Aptos"/>
              </a:rPr>
              <a:t>  124020369     </a:t>
            </a:r>
            <a:r>
              <a:rPr sz="1280" b="1" i="0">
                <a:solidFill>
                  <a:srgbClr val="1A1A1A"/>
                </a:solidFill>
                <a:latin typeface="Aptos"/>
                <a:ea typeface="Aptos"/>
              </a:rPr>
              <a:t>Bihua Wen</a:t>
            </a:r>
            <a:r>
              <a:rPr sz="1280" b="0" i="0">
                <a:solidFill>
                  <a:srgbClr val="555B66"/>
                </a:solidFill>
                <a:latin typeface="Aptos"/>
                <a:ea typeface="Aptos"/>
              </a:rPr>
              <a:t>  124090670</a:t>
            </a:r>
          </a:p>
        </p:txBody>
      </p:sp>
      <p:sp>
        <p:nvSpPr>
          <p:cNvPr id="6" name="TextBox 5"/>
          <p:cNvSpPr txBox="1"/>
          <p:nvPr/>
        </p:nvSpPr>
        <p:spPr>
          <a:xfrm>
            <a:off x="640080" y="3099816"/>
            <a:ext cx="6217920" cy="274320"/>
          </a:xfrm>
          <a:prstGeom prst="rect">
            <a:avLst/>
          </a:prstGeom>
          <a:noFill/>
        </p:spPr>
        <p:txBody>
          <a:bodyPr wrap="square" lIns="0" rIns="0" tIns="0" bIns="0" anchor="t">
            <a:spAutoFit/>
          </a:bodyPr>
          <a:lstStyle/>
          <a:p>
            <a:pPr algn="l">
              <a:spcBef>
                <a:spcPts val="0"/>
              </a:spcBef>
              <a:spcAft>
                <a:spcPts val="0"/>
              </a:spcAft>
            </a:pPr>
            <a:r>
              <a:rPr sz="1280" b="1" i="0">
                <a:solidFill>
                  <a:srgbClr val="1A1A1A"/>
                </a:solidFill>
                <a:latin typeface="Aptos"/>
                <a:ea typeface="Aptos"/>
              </a:rPr>
              <a:t>Mingrui Liu</a:t>
            </a:r>
            <a:r>
              <a:rPr sz="1280" b="0" i="0">
                <a:solidFill>
                  <a:srgbClr val="555B66"/>
                </a:solidFill>
                <a:latin typeface="Aptos"/>
                <a:ea typeface="Aptos"/>
              </a:rPr>
              <a:t>  124090375</a:t>
            </a:r>
          </a:p>
        </p:txBody>
      </p:sp>
      <p:sp>
        <p:nvSpPr>
          <p:cNvPr id="7" name="Rounded Rectangle 6"/>
          <p:cNvSpPr/>
          <p:nvPr/>
        </p:nvSpPr>
        <p:spPr>
          <a:xfrm>
            <a:off x="621792" y="3657600"/>
            <a:ext cx="6281928" cy="1709928"/>
          </a:xfrm>
          <a:prstGeom prst="roundRect">
            <a:avLst>
              <a:gd name="adj" fmla="val 8000"/>
            </a:avLst>
          </a:prstGeom>
          <a:solidFill>
            <a:srgbClr val="E8EFFB"/>
          </a:solidFill>
          <a:ln w="10160">
            <a:solidFill>
              <a:srgbClr val="E8EF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3895344"/>
            <a:ext cx="1234440" cy="274320"/>
          </a:xfrm>
          <a:prstGeom prst="rect">
            <a:avLst/>
          </a:prstGeom>
          <a:noFill/>
        </p:spPr>
        <p:txBody>
          <a:bodyPr wrap="square" lIns="0" rIns="0" tIns="0" bIns="0" anchor="t">
            <a:spAutoFit/>
          </a:bodyPr>
          <a:lstStyle/>
          <a:p>
            <a:pPr algn="l">
              <a:lnSpc>
                <a:spcPct val="108000"/>
              </a:lnSpc>
              <a:spcBef>
                <a:spcPts val="0"/>
              </a:spcBef>
              <a:spcAft>
                <a:spcPts val="0"/>
              </a:spcAft>
            </a:pPr>
            <a:r>
              <a:rPr sz="1500" b="1" i="0">
                <a:solidFill>
                  <a:srgbClr val="1F57C4"/>
                </a:solidFill>
                <a:latin typeface="Aptos"/>
                <a:ea typeface="Aptos"/>
              </a:rPr>
              <a:t>Core claim</a:t>
            </a:r>
          </a:p>
        </p:txBody>
      </p:sp>
      <p:sp>
        <p:nvSpPr>
          <p:cNvPr id="9" name="TextBox 8"/>
          <p:cNvSpPr txBox="1"/>
          <p:nvPr/>
        </p:nvSpPr>
        <p:spPr>
          <a:xfrm>
            <a:off x="877824" y="4315968"/>
            <a:ext cx="5733288" cy="658368"/>
          </a:xfrm>
          <a:prstGeom prst="rect">
            <a:avLst/>
          </a:prstGeom>
          <a:noFill/>
        </p:spPr>
        <p:txBody>
          <a:bodyPr wrap="square" lIns="0" rIns="0" tIns="0" bIns="0" anchor="t">
            <a:spAutoFit/>
          </a:bodyPr>
          <a:lstStyle/>
          <a:p>
            <a:pPr algn="l">
              <a:lnSpc>
                <a:spcPct val="110000"/>
              </a:lnSpc>
              <a:spcBef>
                <a:spcPts val="0"/>
              </a:spcBef>
              <a:spcAft>
                <a:spcPts val="0"/>
              </a:spcAft>
            </a:pPr>
            <a:r>
              <a:rPr sz="1700" b="1" i="0">
                <a:solidFill>
                  <a:srgbClr val="1A1A1A"/>
                </a:solidFill>
                <a:latin typeface="Aptos"/>
                <a:ea typeface="Aptos"/>
              </a:rPr>
              <a:t>Separating physical-border motion from displayed-content motion improves both geometric accuracy and temporal stability.</a:t>
            </a:r>
          </a:p>
        </p:txBody>
      </p:sp>
      <p:sp>
        <p:nvSpPr>
          <p:cNvPr id="10" name="Rounded Rectangle 9"/>
          <p:cNvSpPr/>
          <p:nvPr/>
        </p:nvSpPr>
        <p:spPr>
          <a:xfrm>
            <a:off x="7251192" y="1216152"/>
            <a:ext cx="4370832" cy="1938528"/>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ure_01_pipeline.png"/>
          <p:cNvPicPr>
            <a:picLocks noChangeAspect="1"/>
          </p:cNvPicPr>
          <p:nvPr/>
        </p:nvPicPr>
        <p:blipFill>
          <a:blip r:embed="rId2"/>
          <a:stretch>
            <a:fillRect/>
          </a:stretch>
        </p:blipFill>
        <p:spPr>
          <a:xfrm>
            <a:off x="7360920" y="1444326"/>
            <a:ext cx="4151376" cy="1445602"/>
          </a:xfrm>
          <a:prstGeom prst="rect">
            <a:avLst/>
          </a:prstGeom>
        </p:spPr>
      </p:pic>
      <p:sp>
        <p:nvSpPr>
          <p:cNvPr id="12" name="Rounded Rectangle 11"/>
          <p:cNvSpPr/>
          <p:nvPr/>
        </p:nvSpPr>
        <p:spPr>
          <a:xfrm>
            <a:off x="7251192" y="3410712"/>
            <a:ext cx="4370832" cy="1956816"/>
          </a:xfrm>
          <a:prstGeom prst="roundRect">
            <a:avLst>
              <a:gd name="adj" fmla="val 8000"/>
            </a:avLst>
          </a:prstGeom>
          <a:solidFill>
            <a:srgbClr val="1A1A1A"/>
          </a:solidFill>
          <a:ln w="1016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nnotated_dataset_mosaic.jpg"/>
          <p:cNvPicPr>
            <a:picLocks noChangeAspect="1"/>
          </p:cNvPicPr>
          <p:nvPr/>
        </p:nvPicPr>
        <p:blipFill>
          <a:blip r:embed="rId3"/>
          <a:srcRect b="48000"/>
          <a:stretch>
            <a:fillRect/>
          </a:stretch>
        </p:blipFill>
        <p:spPr>
          <a:xfrm>
            <a:off x="7360920" y="3520440"/>
            <a:ext cx="4151376" cy="1737360"/>
          </a:xfrm>
          <a:prstGeom prst="rect">
            <a:avLst/>
          </a:prstGeom>
        </p:spPr>
      </p:pic>
      <p:cxnSp>
        <p:nvCxnSpPr>
          <p:cNvPr id="14" name="Connector 13"/>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16" name="TextBox 15"/>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Figure 1; dataset mosaic</a:t>
            </a:r>
          </a:p>
        </p:txBody>
      </p:sp>
      <p:sp>
        <p:nvSpPr>
          <p:cNvPr id="17" name="TextBox 16"/>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PROBLEM</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950" b="1" i="0">
                <a:solidFill>
                  <a:srgbClr val="1A1A1A"/>
                </a:solidFill>
                <a:latin typeface="Aptos"/>
                <a:ea typeface="Aptos"/>
              </a:rPr>
              <a:t>A Handheld Camera and the Display Do Not Share One Motion</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Introduction</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2</a:t>
            </a:r>
          </a:p>
        </p:txBody>
      </p:sp>
      <p:sp>
        <p:nvSpPr>
          <p:cNvPr id="9" name="Rounded Rectangle 8"/>
          <p:cNvSpPr/>
          <p:nvPr/>
        </p:nvSpPr>
        <p:spPr>
          <a:xfrm>
            <a:off x="603504" y="1417320"/>
            <a:ext cx="5330952" cy="3218688"/>
          </a:xfrm>
          <a:prstGeom prst="roundRect">
            <a:avLst>
              <a:gd name="adj" fmla="val 8000"/>
            </a:avLst>
          </a:prstGeom>
          <a:solidFill>
            <a:srgbClr val="FCEDEA"/>
          </a:solidFill>
          <a:ln w="1016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700784"/>
            <a:ext cx="3200400" cy="292608"/>
          </a:xfrm>
          <a:prstGeom prst="rect">
            <a:avLst/>
          </a:prstGeom>
          <a:noFill/>
        </p:spPr>
        <p:txBody>
          <a:bodyPr wrap="square" lIns="0" rIns="0" tIns="0" bIns="0" anchor="t">
            <a:spAutoFit/>
          </a:bodyPr>
          <a:lstStyle/>
          <a:p>
            <a:pPr algn="l">
              <a:lnSpc>
                <a:spcPct val="108000"/>
              </a:lnSpc>
              <a:spcBef>
                <a:spcPts val="0"/>
              </a:spcBef>
              <a:spcAft>
                <a:spcPts val="0"/>
              </a:spcAft>
            </a:pPr>
            <a:r>
              <a:rPr sz="1500" b="1" i="0">
                <a:solidFill>
                  <a:srgbClr val="C43D2E"/>
                </a:solidFill>
                <a:latin typeface="Aptos"/>
                <a:ea typeface="Aptos"/>
              </a:rPr>
              <a:t>THE CAMERA VIEW ADDS</a:t>
            </a:r>
          </a:p>
        </p:txBody>
      </p:sp>
      <p:sp>
        <p:nvSpPr>
          <p:cNvPr id="11" name="Oval 10"/>
          <p:cNvSpPr/>
          <p:nvPr/>
        </p:nvSpPr>
        <p:spPr>
          <a:xfrm>
            <a:off x="877824" y="2258568"/>
            <a:ext cx="100584" cy="100584"/>
          </a:xfrm>
          <a:prstGeom prst="ellipse">
            <a:avLst/>
          </a:prstGeom>
          <a:solidFill>
            <a:srgbClr val="C43D2E"/>
          </a:solidFill>
          <a:ln>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148840"/>
            <a:ext cx="4443983" cy="676656"/>
          </a:xfrm>
          <a:prstGeom prst="rect">
            <a:avLst/>
          </a:prstGeom>
          <a:noFill/>
        </p:spPr>
        <p:txBody>
          <a:bodyPr wrap="square" lIns="0" rIns="0" tIns="0" bIns="0" anchor="t">
            <a:spAutoFit/>
          </a:bodyPr>
          <a:lstStyle/>
          <a:p>
            <a:pPr algn="l">
              <a:lnSpc>
                <a:spcPct val="108000"/>
              </a:lnSpc>
              <a:spcBef>
                <a:spcPts val="0"/>
              </a:spcBef>
              <a:spcAft>
                <a:spcPts val="0"/>
              </a:spcAft>
            </a:pPr>
            <a:r>
              <a:rPr sz="1550" b="0" i="0">
                <a:solidFill>
                  <a:srgbClr val="1A1A1A"/>
                </a:solidFill>
                <a:latin typeface="Aptos"/>
                <a:ea typeface="Aptos"/>
              </a:rPr>
              <a:t>Perspective distortion and off-screen background</a:t>
            </a:r>
          </a:p>
        </p:txBody>
      </p:sp>
      <p:sp>
        <p:nvSpPr>
          <p:cNvPr id="13" name="Oval 12"/>
          <p:cNvSpPr/>
          <p:nvPr/>
        </p:nvSpPr>
        <p:spPr>
          <a:xfrm>
            <a:off x="877824" y="2880360"/>
            <a:ext cx="100584" cy="100584"/>
          </a:xfrm>
          <a:prstGeom prst="ellipse">
            <a:avLst/>
          </a:prstGeom>
          <a:solidFill>
            <a:srgbClr val="C43D2E"/>
          </a:solidFill>
          <a:ln>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770632"/>
            <a:ext cx="4443983" cy="676656"/>
          </a:xfrm>
          <a:prstGeom prst="rect">
            <a:avLst/>
          </a:prstGeom>
          <a:noFill/>
        </p:spPr>
        <p:txBody>
          <a:bodyPr wrap="square" lIns="0" rIns="0" tIns="0" bIns="0" anchor="t">
            <a:spAutoFit/>
          </a:bodyPr>
          <a:lstStyle/>
          <a:p>
            <a:pPr algn="l">
              <a:lnSpc>
                <a:spcPct val="108000"/>
              </a:lnSpc>
              <a:spcBef>
                <a:spcPts val="0"/>
              </a:spcBef>
              <a:spcAft>
                <a:spcPts val="0"/>
              </a:spcAft>
            </a:pPr>
            <a:r>
              <a:rPr sz="1550" b="0" i="0">
                <a:solidFill>
                  <a:srgbClr val="1A1A1A"/>
                </a:solidFill>
                <a:latin typeface="Aptos"/>
                <a:ea typeface="Aptos"/>
              </a:rPr>
              <a:t>Handheld translation, rotation, and scale change</a:t>
            </a:r>
          </a:p>
        </p:txBody>
      </p:sp>
      <p:sp>
        <p:nvSpPr>
          <p:cNvPr id="15" name="Oval 14"/>
          <p:cNvSpPr/>
          <p:nvPr/>
        </p:nvSpPr>
        <p:spPr>
          <a:xfrm>
            <a:off x="877824" y="3502152"/>
            <a:ext cx="100584" cy="100584"/>
          </a:xfrm>
          <a:prstGeom prst="ellipse">
            <a:avLst/>
          </a:prstGeom>
          <a:solidFill>
            <a:srgbClr val="C43D2E"/>
          </a:solidFill>
          <a:ln>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392424"/>
            <a:ext cx="4443983" cy="676656"/>
          </a:xfrm>
          <a:prstGeom prst="rect">
            <a:avLst/>
          </a:prstGeom>
          <a:noFill/>
        </p:spPr>
        <p:txBody>
          <a:bodyPr wrap="square" lIns="0" rIns="0" tIns="0" bIns="0" anchor="t">
            <a:spAutoFit/>
          </a:bodyPr>
          <a:lstStyle/>
          <a:p>
            <a:pPr algn="l">
              <a:lnSpc>
                <a:spcPct val="108000"/>
              </a:lnSpc>
              <a:spcBef>
                <a:spcPts val="0"/>
              </a:spcBef>
              <a:spcAft>
                <a:spcPts val="0"/>
              </a:spcAft>
            </a:pPr>
            <a:r>
              <a:rPr sz="1550" b="0" i="0">
                <a:solidFill>
                  <a:srgbClr val="1A1A1A"/>
                </a:solidFill>
                <a:latin typeface="Aptos"/>
                <a:ea typeface="Aptos"/>
              </a:rPr>
              <a:t>Glare, weak borders, partial visibility, and clutter</a:t>
            </a:r>
          </a:p>
        </p:txBody>
      </p:sp>
      <p:sp>
        <p:nvSpPr>
          <p:cNvPr id="17" name="Rounded Rectangle 16"/>
          <p:cNvSpPr/>
          <p:nvPr/>
        </p:nvSpPr>
        <p:spPr>
          <a:xfrm>
            <a:off x="6199632" y="1417320"/>
            <a:ext cx="5394960" cy="3218688"/>
          </a:xfrm>
          <a:prstGeom prst="roundRect">
            <a:avLst>
              <a:gd name="adj" fmla="val 8000"/>
            </a:avLst>
          </a:prstGeom>
          <a:solidFill>
            <a:srgbClr val="E8EFFB"/>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1700784"/>
            <a:ext cx="3474720" cy="292608"/>
          </a:xfrm>
          <a:prstGeom prst="rect">
            <a:avLst/>
          </a:prstGeom>
          <a:noFill/>
        </p:spPr>
        <p:txBody>
          <a:bodyPr wrap="square" lIns="0" rIns="0" tIns="0" bIns="0" anchor="t">
            <a:spAutoFit/>
          </a:bodyPr>
          <a:lstStyle/>
          <a:p>
            <a:pPr algn="l">
              <a:lnSpc>
                <a:spcPct val="108000"/>
              </a:lnSpc>
              <a:spcBef>
                <a:spcPts val="0"/>
              </a:spcBef>
              <a:spcAft>
                <a:spcPts val="0"/>
              </a:spcAft>
            </a:pPr>
            <a:r>
              <a:rPr sz="1500" b="1" i="0">
                <a:solidFill>
                  <a:srgbClr val="1F57C4"/>
                </a:solidFill>
                <a:latin typeface="Aptos"/>
                <a:ea typeface="Aptos"/>
              </a:rPr>
              <a:t>THE DISPLAY CONTENT ADDS</a:t>
            </a:r>
          </a:p>
        </p:txBody>
      </p:sp>
      <p:sp>
        <p:nvSpPr>
          <p:cNvPr id="19" name="Oval 18"/>
          <p:cNvSpPr/>
          <p:nvPr/>
        </p:nvSpPr>
        <p:spPr>
          <a:xfrm>
            <a:off x="6473952" y="2258568"/>
            <a:ext cx="100584" cy="100584"/>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93408" y="2148840"/>
            <a:ext cx="4535424" cy="676656"/>
          </a:xfrm>
          <a:prstGeom prst="rect">
            <a:avLst/>
          </a:prstGeom>
          <a:noFill/>
        </p:spPr>
        <p:txBody>
          <a:bodyPr wrap="square" lIns="0" rIns="0" tIns="0" bIns="0" anchor="t">
            <a:spAutoFit/>
          </a:bodyPr>
          <a:lstStyle/>
          <a:p>
            <a:pPr algn="l">
              <a:lnSpc>
                <a:spcPct val="108000"/>
              </a:lnSpc>
              <a:spcBef>
                <a:spcPts val="0"/>
              </a:spcBef>
              <a:spcAft>
                <a:spcPts val="0"/>
              </a:spcAft>
            </a:pPr>
            <a:r>
              <a:rPr sz="1550" b="0" i="0">
                <a:solidFill>
                  <a:srgbClr val="1A1A1A"/>
                </a:solidFill>
                <a:latin typeface="Aptos"/>
                <a:ea typeface="Aptos"/>
              </a:rPr>
              <a:t>Page scrolling and cursor motion</a:t>
            </a:r>
          </a:p>
        </p:txBody>
      </p:sp>
      <p:sp>
        <p:nvSpPr>
          <p:cNvPr id="21" name="Oval 20"/>
          <p:cNvSpPr/>
          <p:nvPr/>
        </p:nvSpPr>
        <p:spPr>
          <a:xfrm>
            <a:off x="6473952" y="2880360"/>
            <a:ext cx="100584" cy="100584"/>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93408" y="2770632"/>
            <a:ext cx="4535424" cy="676656"/>
          </a:xfrm>
          <a:prstGeom prst="rect">
            <a:avLst/>
          </a:prstGeom>
          <a:noFill/>
        </p:spPr>
        <p:txBody>
          <a:bodyPr wrap="square" lIns="0" rIns="0" tIns="0" bIns="0" anchor="t">
            <a:spAutoFit/>
          </a:bodyPr>
          <a:lstStyle/>
          <a:p>
            <a:pPr algn="l">
              <a:lnSpc>
                <a:spcPct val="108000"/>
              </a:lnSpc>
              <a:spcBef>
                <a:spcPts val="0"/>
              </a:spcBef>
              <a:spcAft>
                <a:spcPts val="0"/>
              </a:spcAft>
            </a:pPr>
            <a:r>
              <a:rPr sz="1550" b="0" i="0">
                <a:solidFill>
                  <a:srgbClr val="1A1A1A"/>
                </a:solidFill>
                <a:latin typeface="Aptos"/>
                <a:ea typeface="Aptos"/>
              </a:rPr>
              <a:t>Video playback and animated regions</a:t>
            </a:r>
          </a:p>
        </p:txBody>
      </p:sp>
      <p:sp>
        <p:nvSpPr>
          <p:cNvPr id="23" name="Oval 22"/>
          <p:cNvSpPr/>
          <p:nvPr/>
        </p:nvSpPr>
        <p:spPr>
          <a:xfrm>
            <a:off x="6473952" y="3502152"/>
            <a:ext cx="100584" cy="100584"/>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93408" y="3392424"/>
            <a:ext cx="4535424" cy="676656"/>
          </a:xfrm>
          <a:prstGeom prst="rect">
            <a:avLst/>
          </a:prstGeom>
          <a:noFill/>
        </p:spPr>
        <p:txBody>
          <a:bodyPr wrap="square" lIns="0" rIns="0" tIns="0" bIns="0" anchor="t">
            <a:spAutoFit/>
          </a:bodyPr>
          <a:lstStyle/>
          <a:p>
            <a:pPr algn="l">
              <a:lnSpc>
                <a:spcPct val="108000"/>
              </a:lnSpc>
              <a:spcBef>
                <a:spcPts val="0"/>
              </a:spcBef>
              <a:spcAft>
                <a:spcPts val="0"/>
              </a:spcAft>
            </a:pPr>
            <a:r>
              <a:rPr sz="1550" b="0" i="0">
                <a:solidFill>
                  <a:srgbClr val="1A1A1A"/>
                </a:solidFill>
                <a:latin typeface="Aptos"/>
                <a:ea typeface="Aptos"/>
              </a:rPr>
              <a:t>Coherent texture motion unrelated to the physical screen</a:t>
            </a:r>
          </a:p>
        </p:txBody>
      </p:sp>
      <p:sp>
        <p:nvSpPr>
          <p:cNvPr id="25" name="Rounded Rectangle 24"/>
          <p:cNvSpPr/>
          <p:nvPr/>
        </p:nvSpPr>
        <p:spPr>
          <a:xfrm>
            <a:off x="603504" y="4882896"/>
            <a:ext cx="10991088" cy="1152144"/>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 y="5193792"/>
            <a:ext cx="10442448" cy="530352"/>
          </a:xfrm>
          <a:prstGeom prst="rect">
            <a:avLst/>
          </a:prstGeom>
          <a:noFill/>
        </p:spPr>
        <p:txBody>
          <a:bodyPr wrap="square" lIns="0" rIns="0" tIns="0" bIns="0" anchor="ctr">
            <a:spAutoFit/>
          </a:bodyPr>
          <a:lstStyle/>
          <a:p>
            <a:pPr algn="l">
              <a:spcBef>
                <a:spcPts val="0"/>
              </a:spcBef>
              <a:spcAft>
                <a:spcPts val="0"/>
              </a:spcAft>
            </a:pPr>
            <a:r>
              <a:rPr sz="1700" b="1" i="0">
                <a:solidFill>
                  <a:srgbClr val="1F57C4"/>
                </a:solidFill>
                <a:latin typeface="Aptos"/>
                <a:ea typeface="Aptos"/>
              </a:rPr>
              <a:t>Goal. </a:t>
            </a:r>
            <a:r>
              <a:rPr sz="1700" b="1" i="0">
                <a:solidFill>
                  <a:srgbClr val="1A1A1A"/>
                </a:solidFill>
                <a:latin typeface="Aptos"/>
                <a:ea typeface="Aptos"/>
              </a:rPr>
              <a:t>Continuously estimate the physical screen plane and render a stable frontal video while preserving true content motion.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SCOPE &amp; CONTRIBUTIONS</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3000" b="1" i="0">
                <a:solidFill>
                  <a:srgbClr val="1A1A1A"/>
                </a:solidFill>
                <a:latin typeface="Aptos"/>
                <a:ea typeface="Aptos"/>
              </a:rPr>
              <a:t>A Focused Geometry Stage Before Restoration</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Introduction and Related Work</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3</a:t>
            </a:r>
          </a:p>
        </p:txBody>
      </p:sp>
      <p:sp>
        <p:nvSpPr>
          <p:cNvPr id="9" name="Rounded Rectangle 8"/>
          <p:cNvSpPr/>
          <p:nvPr/>
        </p:nvSpPr>
        <p:spPr>
          <a:xfrm>
            <a:off x="603504" y="1444752"/>
            <a:ext cx="3246120" cy="1188720"/>
          </a:xfrm>
          <a:prstGeom prst="roundRect">
            <a:avLst>
              <a:gd name="adj" fmla="val 8000"/>
            </a:avLst>
          </a:prstGeom>
          <a:solidFill>
            <a:srgbClr val="FCEDEA"/>
          </a:solidFill>
          <a:ln w="1016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627632"/>
            <a:ext cx="2916936" cy="228600"/>
          </a:xfrm>
          <a:prstGeom prst="rect">
            <a:avLst/>
          </a:prstGeom>
          <a:noFill/>
        </p:spPr>
        <p:txBody>
          <a:bodyPr wrap="square" lIns="0" rIns="0" tIns="0" bIns="0" anchor="t">
            <a:spAutoFit/>
          </a:bodyPr>
          <a:lstStyle/>
          <a:p>
            <a:pPr algn="ctr">
              <a:lnSpc>
                <a:spcPct val="108000"/>
              </a:lnSpc>
              <a:spcBef>
                <a:spcPts val="0"/>
              </a:spcBef>
              <a:spcAft>
                <a:spcPts val="0"/>
              </a:spcAft>
            </a:pPr>
            <a:r>
              <a:rPr sz="1250" b="1" i="0">
                <a:solidFill>
                  <a:srgbClr val="C43D2E"/>
                </a:solidFill>
                <a:latin typeface="Aptos"/>
                <a:ea typeface="Aptos"/>
              </a:rPr>
              <a:t>RAW CAPTURE</a:t>
            </a:r>
          </a:p>
        </p:txBody>
      </p:sp>
      <p:sp>
        <p:nvSpPr>
          <p:cNvPr id="11" name="TextBox 10"/>
          <p:cNvSpPr txBox="1"/>
          <p:nvPr/>
        </p:nvSpPr>
        <p:spPr>
          <a:xfrm>
            <a:off x="804672" y="1984248"/>
            <a:ext cx="2843784" cy="420624"/>
          </a:xfrm>
          <a:prstGeom prst="rect">
            <a:avLst/>
          </a:prstGeom>
          <a:noFill/>
        </p:spPr>
        <p:txBody>
          <a:bodyPr wrap="square" lIns="0" rIns="0" tIns="0" bIns="0" anchor="ctr">
            <a:spAutoFit/>
          </a:bodyPr>
          <a:lstStyle/>
          <a:p>
            <a:pPr algn="ctr">
              <a:lnSpc>
                <a:spcPct val="108000"/>
              </a:lnSpc>
              <a:spcBef>
                <a:spcPts val="0"/>
              </a:spcBef>
              <a:spcAft>
                <a:spcPts val="0"/>
              </a:spcAft>
            </a:pPr>
            <a:r>
              <a:rPr sz="1400" b="1" i="0">
                <a:solidFill>
                  <a:srgbClr val="1A1A1A"/>
                </a:solidFill>
                <a:latin typeface="Aptos"/>
                <a:ea typeface="Aptos"/>
              </a:rPr>
              <a:t>Background + perspective + hand motion</a:t>
            </a:r>
          </a:p>
        </p:txBody>
      </p:sp>
      <p:cxnSp>
        <p:nvCxnSpPr>
          <p:cNvPr id="12" name="Connector 11"/>
          <p:cNvCxnSpPr/>
          <p:nvPr/>
        </p:nvCxnSpPr>
        <p:spPr>
          <a:xfrm>
            <a:off x="3913632" y="2039112"/>
            <a:ext cx="219455" cy="0"/>
          </a:xfrm>
          <a:prstGeom prst="line">
            <a:avLst/>
          </a:prstGeom>
          <a:ln w="27940">
            <a:solidFill>
              <a:srgbClr val="D3DAE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160520" y="1444752"/>
            <a:ext cx="3246120" cy="1188720"/>
          </a:xfrm>
          <a:prstGeom prst="roundRect">
            <a:avLst>
              <a:gd name="adj" fmla="val 8000"/>
            </a:avLst>
          </a:prstGeom>
          <a:solidFill>
            <a:srgbClr val="E8EFFB"/>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5112" y="1627632"/>
            <a:ext cx="2916936" cy="228600"/>
          </a:xfrm>
          <a:prstGeom prst="rect">
            <a:avLst/>
          </a:prstGeom>
          <a:noFill/>
        </p:spPr>
        <p:txBody>
          <a:bodyPr wrap="square" lIns="0" rIns="0" tIns="0" bIns="0" anchor="t">
            <a:spAutoFit/>
          </a:bodyPr>
          <a:lstStyle/>
          <a:p>
            <a:pPr algn="ctr">
              <a:lnSpc>
                <a:spcPct val="108000"/>
              </a:lnSpc>
              <a:spcBef>
                <a:spcPts val="0"/>
              </a:spcBef>
              <a:spcAft>
                <a:spcPts val="0"/>
              </a:spcAft>
            </a:pPr>
            <a:r>
              <a:rPr sz="1250" b="1" i="0">
                <a:solidFill>
                  <a:srgbClr val="1F57C4"/>
                </a:solidFill>
                <a:latin typeface="Aptos"/>
                <a:ea typeface="Aptos"/>
              </a:rPr>
              <a:t>THIS PROJECT</a:t>
            </a:r>
          </a:p>
        </p:txBody>
      </p:sp>
      <p:sp>
        <p:nvSpPr>
          <p:cNvPr id="15" name="TextBox 14"/>
          <p:cNvSpPr txBox="1"/>
          <p:nvPr/>
        </p:nvSpPr>
        <p:spPr>
          <a:xfrm>
            <a:off x="4361688" y="1984248"/>
            <a:ext cx="2843784" cy="420624"/>
          </a:xfrm>
          <a:prstGeom prst="rect">
            <a:avLst/>
          </a:prstGeom>
          <a:noFill/>
        </p:spPr>
        <p:txBody>
          <a:bodyPr wrap="square" lIns="0" rIns="0" tIns="0" bIns="0" anchor="ctr">
            <a:spAutoFit/>
          </a:bodyPr>
          <a:lstStyle/>
          <a:p>
            <a:pPr algn="ctr">
              <a:lnSpc>
                <a:spcPct val="108000"/>
              </a:lnSpc>
              <a:spcBef>
                <a:spcPts val="0"/>
              </a:spcBef>
              <a:spcAft>
                <a:spcPts val="0"/>
              </a:spcAft>
            </a:pPr>
            <a:r>
              <a:rPr sz="1400" b="1" i="0">
                <a:solidFill>
                  <a:srgbClr val="1A1A1A"/>
                </a:solidFill>
                <a:latin typeface="Aptos"/>
                <a:ea typeface="Aptos"/>
              </a:rPr>
              <a:t>Locate, rectify, and stabilize the physical screen</a:t>
            </a:r>
          </a:p>
        </p:txBody>
      </p:sp>
      <p:cxnSp>
        <p:nvCxnSpPr>
          <p:cNvPr id="16" name="Connector 15"/>
          <p:cNvCxnSpPr/>
          <p:nvPr/>
        </p:nvCxnSpPr>
        <p:spPr>
          <a:xfrm>
            <a:off x="7470648" y="2039112"/>
            <a:ext cx="219456" cy="0"/>
          </a:xfrm>
          <a:prstGeom prst="line">
            <a:avLst/>
          </a:prstGeom>
          <a:ln w="27940">
            <a:solidFill>
              <a:srgbClr val="D3DAE6"/>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17536" y="1444752"/>
            <a:ext cx="3246120" cy="1188720"/>
          </a:xfrm>
          <a:prstGeom prst="roundRect">
            <a:avLst>
              <a:gd name="adj" fmla="val 8000"/>
            </a:avLst>
          </a:prstGeom>
          <a:solidFill>
            <a:srgbClr val="E6F3F1"/>
          </a:solidFill>
          <a:ln w="1016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82127" y="1627632"/>
            <a:ext cx="2916936" cy="228600"/>
          </a:xfrm>
          <a:prstGeom prst="rect">
            <a:avLst/>
          </a:prstGeom>
          <a:noFill/>
        </p:spPr>
        <p:txBody>
          <a:bodyPr wrap="square" lIns="0" rIns="0" tIns="0" bIns="0" anchor="t">
            <a:spAutoFit/>
          </a:bodyPr>
          <a:lstStyle/>
          <a:p>
            <a:pPr algn="ctr">
              <a:lnSpc>
                <a:spcPct val="108000"/>
              </a:lnSpc>
              <a:spcBef>
                <a:spcPts val="0"/>
              </a:spcBef>
              <a:spcAft>
                <a:spcPts val="0"/>
              </a:spcAft>
            </a:pPr>
            <a:r>
              <a:rPr sz="1250" b="1" i="0">
                <a:solidFill>
                  <a:srgbClr val="2E8579"/>
                </a:solidFill>
                <a:latin typeface="Aptos"/>
                <a:ea typeface="Aptos"/>
              </a:rPr>
              <a:t>DOWNSTREAM</a:t>
            </a:r>
          </a:p>
        </p:txBody>
      </p:sp>
      <p:sp>
        <p:nvSpPr>
          <p:cNvPr id="19" name="TextBox 18"/>
          <p:cNvSpPr txBox="1"/>
          <p:nvPr/>
        </p:nvSpPr>
        <p:spPr>
          <a:xfrm>
            <a:off x="7918704" y="1984248"/>
            <a:ext cx="2843784" cy="420624"/>
          </a:xfrm>
          <a:prstGeom prst="rect">
            <a:avLst/>
          </a:prstGeom>
          <a:noFill/>
        </p:spPr>
        <p:txBody>
          <a:bodyPr wrap="square" lIns="0" rIns="0" tIns="0" bIns="0" anchor="ctr">
            <a:spAutoFit/>
          </a:bodyPr>
          <a:lstStyle/>
          <a:p>
            <a:pPr algn="ctr">
              <a:lnSpc>
                <a:spcPct val="108000"/>
              </a:lnSpc>
              <a:spcBef>
                <a:spcPts val="0"/>
              </a:spcBef>
              <a:spcAft>
                <a:spcPts val="0"/>
              </a:spcAft>
            </a:pPr>
            <a:r>
              <a:rPr sz="1400" b="1" i="0">
                <a:solidFill>
                  <a:srgbClr val="1A1A1A"/>
                </a:solidFill>
                <a:latin typeface="Aptos"/>
                <a:ea typeface="Aptos"/>
              </a:rPr>
              <a:t>OCR · restoration · demoiréing · archival</a:t>
            </a:r>
          </a:p>
        </p:txBody>
      </p:sp>
      <p:sp>
        <p:nvSpPr>
          <p:cNvPr id="20" name="TextBox 19"/>
          <p:cNvSpPr txBox="1"/>
          <p:nvPr/>
        </p:nvSpPr>
        <p:spPr>
          <a:xfrm>
            <a:off x="621792" y="3026664"/>
            <a:ext cx="2926080" cy="310896"/>
          </a:xfrm>
          <a:prstGeom prst="rect">
            <a:avLst/>
          </a:prstGeom>
          <a:noFill/>
        </p:spPr>
        <p:txBody>
          <a:bodyPr wrap="square" lIns="0" rIns="0" tIns="0" bIns="0" anchor="t">
            <a:spAutoFit/>
          </a:bodyPr>
          <a:lstStyle/>
          <a:p>
            <a:pPr algn="l">
              <a:lnSpc>
                <a:spcPct val="108000"/>
              </a:lnSpc>
              <a:spcBef>
                <a:spcPts val="0"/>
              </a:spcBef>
              <a:spcAft>
                <a:spcPts val="0"/>
              </a:spcAft>
            </a:pPr>
            <a:r>
              <a:rPr sz="1600" b="1" i="0">
                <a:solidFill>
                  <a:srgbClr val="1F57C4"/>
                </a:solidFill>
                <a:latin typeface="Aptos"/>
                <a:ea typeface="Aptos"/>
              </a:rPr>
              <a:t>Three contributions</a:t>
            </a:r>
          </a:p>
        </p:txBody>
      </p:sp>
      <p:sp>
        <p:nvSpPr>
          <p:cNvPr id="21" name="Rounded Rectangle 20"/>
          <p:cNvSpPr/>
          <p:nvPr/>
        </p:nvSpPr>
        <p:spPr>
          <a:xfrm>
            <a:off x="603504" y="3456432"/>
            <a:ext cx="3246120" cy="212140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3675887"/>
            <a:ext cx="411480" cy="237744"/>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01</a:t>
            </a:r>
          </a:p>
        </p:txBody>
      </p:sp>
      <p:sp>
        <p:nvSpPr>
          <p:cNvPr id="23" name="TextBox 22"/>
          <p:cNvSpPr txBox="1"/>
          <p:nvPr/>
        </p:nvSpPr>
        <p:spPr>
          <a:xfrm>
            <a:off x="1207008" y="3639312"/>
            <a:ext cx="2423160" cy="347472"/>
          </a:xfrm>
          <a:prstGeom prst="rect">
            <a:avLst/>
          </a:prstGeom>
          <a:noFill/>
        </p:spPr>
        <p:txBody>
          <a:bodyPr wrap="square" lIns="0" rIns="0" tIns="0" bIns="0" anchor="t">
            <a:spAutoFit/>
          </a:bodyPr>
          <a:lstStyle/>
          <a:p>
            <a:pPr algn="l">
              <a:lnSpc>
                <a:spcPct val="108000"/>
              </a:lnSpc>
              <a:spcBef>
                <a:spcPts val="0"/>
              </a:spcBef>
              <a:spcAft>
                <a:spcPts val="0"/>
              </a:spcAft>
            </a:pPr>
            <a:r>
              <a:rPr sz="1520" b="1" i="0">
                <a:solidFill>
                  <a:srgbClr val="1A1A1A"/>
                </a:solidFill>
                <a:latin typeface="Aptos"/>
                <a:ea typeface="Aptos"/>
              </a:rPr>
              <a:t>Border-driven estimation</a:t>
            </a:r>
          </a:p>
        </p:txBody>
      </p:sp>
      <p:sp>
        <p:nvSpPr>
          <p:cNvPr id="24" name="TextBox 23"/>
          <p:cNvSpPr txBox="1"/>
          <p:nvPr/>
        </p:nvSpPr>
        <p:spPr>
          <a:xfrm>
            <a:off x="786384" y="4169663"/>
            <a:ext cx="2834640" cy="1051560"/>
          </a:xfrm>
          <a:prstGeom prst="rect">
            <a:avLst/>
          </a:prstGeom>
          <a:noFill/>
        </p:spPr>
        <p:txBody>
          <a:bodyPr wrap="square" lIns="0" rIns="0" tIns="0" bIns="0" anchor="t">
            <a:spAutoFit/>
          </a:bodyPr>
          <a:lstStyle/>
          <a:p>
            <a:pPr algn="l">
              <a:lnSpc>
                <a:spcPct val="110000"/>
              </a:lnSpc>
              <a:spcBef>
                <a:spcPts val="0"/>
              </a:spcBef>
              <a:spcAft>
                <a:spcPts val="0"/>
              </a:spcAft>
            </a:pPr>
            <a:r>
              <a:rPr sz="1320" b="0" i="0">
                <a:solidFill>
                  <a:srgbClr val="555B66"/>
                </a:solidFill>
                <a:latin typeface="Aptos"/>
                <a:ea typeface="Aptos"/>
              </a:rPr>
              <a:t>A complete captured-screen pipeline in which physical boundary evidence drives the screen-plane trajectory.</a:t>
            </a:r>
          </a:p>
        </p:txBody>
      </p:sp>
      <p:sp>
        <p:nvSpPr>
          <p:cNvPr id="25" name="Rounded Rectangle 24"/>
          <p:cNvSpPr/>
          <p:nvPr/>
        </p:nvSpPr>
        <p:spPr>
          <a:xfrm>
            <a:off x="4160520" y="3456432"/>
            <a:ext cx="3246120" cy="212140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43400" y="3675887"/>
            <a:ext cx="411480" cy="237744"/>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02</a:t>
            </a:r>
          </a:p>
        </p:txBody>
      </p:sp>
      <p:sp>
        <p:nvSpPr>
          <p:cNvPr id="27" name="TextBox 26"/>
          <p:cNvSpPr txBox="1"/>
          <p:nvPr/>
        </p:nvSpPr>
        <p:spPr>
          <a:xfrm>
            <a:off x="4764024" y="3639312"/>
            <a:ext cx="2423160" cy="347472"/>
          </a:xfrm>
          <a:prstGeom prst="rect">
            <a:avLst/>
          </a:prstGeom>
          <a:noFill/>
        </p:spPr>
        <p:txBody>
          <a:bodyPr wrap="square" lIns="0" rIns="0" tIns="0" bIns="0" anchor="t">
            <a:spAutoFit/>
          </a:bodyPr>
          <a:lstStyle/>
          <a:p>
            <a:pPr algn="l">
              <a:lnSpc>
                <a:spcPct val="108000"/>
              </a:lnSpc>
              <a:spcBef>
                <a:spcPts val="0"/>
              </a:spcBef>
              <a:spcAft>
                <a:spcPts val="0"/>
              </a:spcAft>
            </a:pPr>
            <a:r>
              <a:rPr sz="1520" b="1" i="0">
                <a:solidFill>
                  <a:srgbClr val="1A1A1A"/>
                </a:solidFill>
                <a:latin typeface="Aptos"/>
                <a:ea typeface="Aptos"/>
              </a:rPr>
              <a:t>Reproducible evaluation</a:t>
            </a:r>
          </a:p>
        </p:txBody>
      </p:sp>
      <p:sp>
        <p:nvSpPr>
          <p:cNvPr id="28" name="TextBox 27"/>
          <p:cNvSpPr txBox="1"/>
          <p:nvPr/>
        </p:nvSpPr>
        <p:spPr>
          <a:xfrm>
            <a:off x="4343400" y="4169663"/>
            <a:ext cx="2834640" cy="1051560"/>
          </a:xfrm>
          <a:prstGeom prst="rect">
            <a:avLst/>
          </a:prstGeom>
          <a:noFill/>
        </p:spPr>
        <p:txBody>
          <a:bodyPr wrap="square" lIns="0" rIns="0" tIns="0" bIns="0" anchor="t">
            <a:spAutoFit/>
          </a:bodyPr>
          <a:lstStyle/>
          <a:p>
            <a:pPr algn="l">
              <a:lnSpc>
                <a:spcPct val="110000"/>
              </a:lnSpc>
              <a:spcBef>
                <a:spcPts val="0"/>
              </a:spcBef>
              <a:spcAft>
                <a:spcPts val="0"/>
              </a:spcAft>
            </a:pPr>
            <a:r>
              <a:rPr sz="1320" b="0" i="0">
                <a:solidFill>
                  <a:srgbClr val="555B66"/>
                </a:solidFill>
                <a:latin typeface="Aptos"/>
                <a:ea typeface="Aptos"/>
              </a:rPr>
              <a:t>Corner annotations, shared metric code, and five capture conditions with common initialization and output settings.</a:t>
            </a:r>
          </a:p>
        </p:txBody>
      </p:sp>
      <p:sp>
        <p:nvSpPr>
          <p:cNvPr id="29" name="Rounded Rectangle 28"/>
          <p:cNvSpPr/>
          <p:nvPr/>
        </p:nvSpPr>
        <p:spPr>
          <a:xfrm>
            <a:off x="7717536" y="3456432"/>
            <a:ext cx="3246120" cy="212140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3675887"/>
            <a:ext cx="411480" cy="237744"/>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03</a:t>
            </a:r>
          </a:p>
        </p:txBody>
      </p:sp>
      <p:sp>
        <p:nvSpPr>
          <p:cNvPr id="31" name="TextBox 30"/>
          <p:cNvSpPr txBox="1"/>
          <p:nvPr/>
        </p:nvSpPr>
        <p:spPr>
          <a:xfrm>
            <a:off x="8321040" y="3639312"/>
            <a:ext cx="2423160" cy="347472"/>
          </a:xfrm>
          <a:prstGeom prst="rect">
            <a:avLst/>
          </a:prstGeom>
          <a:noFill/>
        </p:spPr>
        <p:txBody>
          <a:bodyPr wrap="square" lIns="0" rIns="0" tIns="0" bIns="0" anchor="t">
            <a:spAutoFit/>
          </a:bodyPr>
          <a:lstStyle/>
          <a:p>
            <a:pPr algn="l">
              <a:lnSpc>
                <a:spcPct val="108000"/>
              </a:lnSpc>
              <a:spcBef>
                <a:spcPts val="0"/>
              </a:spcBef>
              <a:spcAft>
                <a:spcPts val="0"/>
              </a:spcAft>
            </a:pPr>
            <a:r>
              <a:rPr sz="1520" b="1" i="0">
                <a:solidFill>
                  <a:srgbClr val="1A1A1A"/>
                </a:solidFill>
                <a:latin typeface="Aptos"/>
                <a:ea typeface="Aptos"/>
              </a:rPr>
              <a:t>Evidence across failure modes</a:t>
            </a:r>
          </a:p>
        </p:txBody>
      </p:sp>
      <p:sp>
        <p:nvSpPr>
          <p:cNvPr id="32" name="TextBox 31"/>
          <p:cNvSpPr txBox="1"/>
          <p:nvPr/>
        </p:nvSpPr>
        <p:spPr>
          <a:xfrm>
            <a:off x="7900415" y="4169663"/>
            <a:ext cx="2834640" cy="1051560"/>
          </a:xfrm>
          <a:prstGeom prst="rect">
            <a:avLst/>
          </a:prstGeom>
          <a:noFill/>
        </p:spPr>
        <p:txBody>
          <a:bodyPr wrap="square" lIns="0" rIns="0" tIns="0" bIns="0" anchor="t">
            <a:spAutoFit/>
          </a:bodyPr>
          <a:lstStyle/>
          <a:p>
            <a:pPr algn="l">
              <a:lnSpc>
                <a:spcPct val="110000"/>
              </a:lnSpc>
              <a:spcBef>
                <a:spcPts val="0"/>
              </a:spcBef>
              <a:spcAft>
                <a:spcPts val="0"/>
              </a:spcAft>
            </a:pPr>
            <a:r>
              <a:rPr sz="1320" b="0" i="0">
                <a:solidFill>
                  <a:srgbClr val="555B66"/>
                </a:solidFill>
                <a:latin typeface="Aptos"/>
                <a:ea typeface="Aptos"/>
              </a:rPr>
              <a:t>Geometry and temporal improvements are largest on scrolling pages and weak-border scenes.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KEY INSIGHT</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900" b="1" i="0">
                <a:solidFill>
                  <a:srgbClr val="1A1A1A"/>
                </a:solidFill>
                <a:latin typeface="Aptos"/>
                <a:ea typeface="Aptos"/>
              </a:rPr>
              <a:t>Three Methods Trust Three Different Sources of Evidence</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Sections 1 and 3.4; Figure 5</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4</a:t>
            </a:r>
          </a:p>
        </p:txBody>
      </p:sp>
      <p:sp>
        <p:nvSpPr>
          <p:cNvPr id="9" name="Rounded Rectangle 8"/>
          <p:cNvSpPr/>
          <p:nvPr/>
        </p:nvSpPr>
        <p:spPr>
          <a:xfrm>
            <a:off x="603504" y="1417320"/>
            <a:ext cx="3246120" cy="1920240"/>
          </a:xfrm>
          <a:prstGeom prst="roundRect">
            <a:avLst>
              <a:gd name="adj" fmla="val 8000"/>
            </a:avLst>
          </a:prstGeom>
          <a:solidFill>
            <a:srgbClr val="FCEDEA"/>
          </a:solidFill>
          <a:ln w="1016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645920"/>
            <a:ext cx="2843784" cy="256032"/>
          </a:xfrm>
          <a:prstGeom prst="rect">
            <a:avLst/>
          </a:prstGeom>
          <a:noFill/>
        </p:spPr>
        <p:txBody>
          <a:bodyPr wrap="square" lIns="0" rIns="0" tIns="0" bIns="0" anchor="t">
            <a:spAutoFit/>
          </a:bodyPr>
          <a:lstStyle/>
          <a:p>
            <a:pPr algn="l">
              <a:lnSpc>
                <a:spcPct val="108000"/>
              </a:lnSpc>
              <a:spcBef>
                <a:spcPts val="0"/>
              </a:spcBef>
              <a:spcAft>
                <a:spcPts val="0"/>
              </a:spcAft>
            </a:pPr>
            <a:r>
              <a:rPr sz="1520" b="1" i="0">
                <a:solidFill>
                  <a:srgbClr val="C43D2E"/>
                </a:solidFill>
                <a:latin typeface="Aptos"/>
                <a:ea typeface="Aptos"/>
              </a:rPr>
              <a:t>FRAME-WISE</a:t>
            </a:r>
          </a:p>
        </p:txBody>
      </p:sp>
      <p:sp>
        <p:nvSpPr>
          <p:cNvPr id="11" name="TextBox 10"/>
          <p:cNvSpPr txBox="1"/>
          <p:nvPr/>
        </p:nvSpPr>
        <p:spPr>
          <a:xfrm>
            <a:off x="804672" y="2048256"/>
            <a:ext cx="2843784" cy="256032"/>
          </a:xfrm>
          <a:prstGeom prst="rect">
            <a:avLst/>
          </a:prstGeom>
          <a:noFill/>
        </p:spPr>
        <p:txBody>
          <a:bodyPr wrap="square" lIns="0" rIns="0" tIns="0" bIns="0" anchor="t">
            <a:spAutoFit/>
          </a:bodyPr>
          <a:lstStyle/>
          <a:p>
            <a:pPr algn="l">
              <a:lnSpc>
                <a:spcPct val="108000"/>
              </a:lnSpc>
              <a:spcBef>
                <a:spcPts val="0"/>
              </a:spcBef>
              <a:spcAft>
                <a:spcPts val="0"/>
              </a:spcAft>
            </a:pPr>
            <a:r>
              <a:rPr sz="1400" b="1" i="0">
                <a:solidFill>
                  <a:srgbClr val="555B66"/>
                </a:solidFill>
                <a:latin typeface="Aptos"/>
                <a:ea typeface="Aptos"/>
              </a:rPr>
              <a:t>Trusts the current frame</a:t>
            </a:r>
          </a:p>
        </p:txBody>
      </p:sp>
      <p:cxnSp>
        <p:nvCxnSpPr>
          <p:cNvPr id="12" name="Connector 11"/>
          <p:cNvCxnSpPr/>
          <p:nvPr/>
        </p:nvCxnSpPr>
        <p:spPr>
          <a:xfrm>
            <a:off x="804672" y="2432304"/>
            <a:ext cx="2752344" cy="0"/>
          </a:xfrm>
          <a:prstGeom prst="line">
            <a:avLst/>
          </a:prstGeom>
          <a:ln w="10160">
            <a:solidFill>
              <a:srgbClr val="D3DA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04672" y="2596896"/>
            <a:ext cx="2843784" cy="530352"/>
          </a:xfrm>
          <a:prstGeom prst="rect">
            <a:avLst/>
          </a:prstGeom>
          <a:noFill/>
        </p:spPr>
        <p:txBody>
          <a:bodyPr wrap="square" lIns="0" rIns="0" tIns="0" bIns="0" anchor="t">
            <a:spAutoFit/>
          </a:bodyPr>
          <a:lstStyle/>
          <a:p>
            <a:pPr algn="l">
              <a:lnSpc>
                <a:spcPct val="112000"/>
              </a:lnSpc>
              <a:spcBef>
                <a:spcPts val="0"/>
              </a:spcBef>
              <a:spcAft>
                <a:spcPts val="0"/>
              </a:spcAft>
            </a:pPr>
            <a:r>
              <a:rPr sz="1420" b="1" i="0">
                <a:solidFill>
                  <a:srgbClr val="1A1A1A"/>
                </a:solidFill>
                <a:latin typeface="Aptos"/>
                <a:ea typeface="Aptos"/>
              </a:rPr>
              <a:t>Independent detection</a:t>
            </a:r>
          </a:p>
          <a:p>
            <a:pPr algn="l">
              <a:lnSpc>
                <a:spcPct val="112000"/>
              </a:lnSpc>
              <a:spcBef>
                <a:spcPts val="0"/>
              </a:spcBef>
              <a:spcAft>
                <a:spcPts val="0"/>
              </a:spcAft>
            </a:pPr>
            <a:r>
              <a:rPr sz="1420" b="1" i="0">
                <a:solidFill>
                  <a:srgbClr val="1A1A1A"/>
                </a:solidFill>
                <a:latin typeface="Aptos"/>
                <a:ea typeface="Aptos"/>
              </a:rPr>
              <a:t>Noise becomes jitter</a:t>
            </a:r>
          </a:p>
        </p:txBody>
      </p:sp>
      <p:sp>
        <p:nvSpPr>
          <p:cNvPr id="14" name="Rounded Rectangle 13"/>
          <p:cNvSpPr/>
          <p:nvPr/>
        </p:nvSpPr>
        <p:spPr>
          <a:xfrm>
            <a:off x="4160520" y="1417320"/>
            <a:ext cx="3246120" cy="1920240"/>
          </a:xfrm>
          <a:prstGeom prst="roundRect">
            <a:avLst>
              <a:gd name="adj" fmla="val 8000"/>
            </a:avLst>
          </a:prstGeom>
          <a:solidFill>
            <a:srgbClr val="FFF3E8"/>
          </a:solidFill>
          <a:ln w="10160">
            <a:solidFill>
              <a:srgbClr val="E97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61688" y="1645920"/>
            <a:ext cx="2843784" cy="256032"/>
          </a:xfrm>
          <a:prstGeom prst="rect">
            <a:avLst/>
          </a:prstGeom>
          <a:noFill/>
        </p:spPr>
        <p:txBody>
          <a:bodyPr wrap="square" lIns="0" rIns="0" tIns="0" bIns="0" anchor="t">
            <a:spAutoFit/>
          </a:bodyPr>
          <a:lstStyle/>
          <a:p>
            <a:pPr algn="l">
              <a:lnSpc>
                <a:spcPct val="108000"/>
              </a:lnSpc>
              <a:spcBef>
                <a:spcPts val="0"/>
              </a:spcBef>
              <a:spcAft>
                <a:spcPts val="0"/>
              </a:spcAft>
            </a:pPr>
            <a:r>
              <a:rPr sz="1520" b="1" i="0">
                <a:solidFill>
                  <a:srgbClr val="E97822"/>
                </a:solidFill>
                <a:latin typeface="Aptos"/>
                <a:ea typeface="Aptos"/>
              </a:rPr>
              <a:t>OPTICAL FLOW</a:t>
            </a:r>
          </a:p>
        </p:txBody>
      </p:sp>
      <p:sp>
        <p:nvSpPr>
          <p:cNvPr id="16" name="TextBox 15"/>
          <p:cNvSpPr txBox="1"/>
          <p:nvPr/>
        </p:nvSpPr>
        <p:spPr>
          <a:xfrm>
            <a:off x="4361688" y="2048256"/>
            <a:ext cx="2843784" cy="256032"/>
          </a:xfrm>
          <a:prstGeom prst="rect">
            <a:avLst/>
          </a:prstGeom>
          <a:noFill/>
        </p:spPr>
        <p:txBody>
          <a:bodyPr wrap="square" lIns="0" rIns="0" tIns="0" bIns="0" anchor="t">
            <a:spAutoFit/>
          </a:bodyPr>
          <a:lstStyle/>
          <a:p>
            <a:pPr algn="l">
              <a:lnSpc>
                <a:spcPct val="108000"/>
              </a:lnSpc>
              <a:spcBef>
                <a:spcPts val="0"/>
              </a:spcBef>
              <a:spcAft>
                <a:spcPts val="0"/>
              </a:spcAft>
            </a:pPr>
            <a:r>
              <a:rPr sz="1400" b="1" i="0">
                <a:solidFill>
                  <a:srgbClr val="555B66"/>
                </a:solidFill>
                <a:latin typeface="Aptos"/>
                <a:ea typeface="Aptos"/>
              </a:rPr>
              <a:t>Trusts internal texture</a:t>
            </a:r>
          </a:p>
        </p:txBody>
      </p:sp>
      <p:cxnSp>
        <p:nvCxnSpPr>
          <p:cNvPr id="17" name="Connector 16"/>
          <p:cNvCxnSpPr/>
          <p:nvPr/>
        </p:nvCxnSpPr>
        <p:spPr>
          <a:xfrm>
            <a:off x="4361688" y="2432304"/>
            <a:ext cx="2752343" cy="0"/>
          </a:xfrm>
          <a:prstGeom prst="line">
            <a:avLst/>
          </a:prstGeom>
          <a:ln w="10160">
            <a:solidFill>
              <a:srgbClr val="D3DAE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361688" y="2596896"/>
            <a:ext cx="2843784" cy="530352"/>
          </a:xfrm>
          <a:prstGeom prst="rect">
            <a:avLst/>
          </a:prstGeom>
          <a:noFill/>
        </p:spPr>
        <p:txBody>
          <a:bodyPr wrap="square" lIns="0" rIns="0" tIns="0" bIns="0" anchor="t">
            <a:spAutoFit/>
          </a:bodyPr>
          <a:lstStyle/>
          <a:p>
            <a:pPr algn="l">
              <a:lnSpc>
                <a:spcPct val="112000"/>
              </a:lnSpc>
              <a:spcBef>
                <a:spcPts val="0"/>
              </a:spcBef>
              <a:spcAft>
                <a:spcPts val="0"/>
              </a:spcAft>
            </a:pPr>
            <a:r>
              <a:rPr sz="1420" b="1" i="0">
                <a:solidFill>
                  <a:srgbClr val="1A1A1A"/>
                </a:solidFill>
                <a:latin typeface="Aptos"/>
                <a:ea typeface="Aptos"/>
              </a:rPr>
              <a:t>Content motion propagates</a:t>
            </a:r>
          </a:p>
          <a:p>
            <a:pPr algn="l">
              <a:lnSpc>
                <a:spcPct val="112000"/>
              </a:lnSpc>
              <a:spcBef>
                <a:spcPts val="0"/>
              </a:spcBef>
              <a:spcAft>
                <a:spcPts val="0"/>
              </a:spcAft>
            </a:pPr>
            <a:r>
              <a:rPr sz="1420" b="1" i="0">
                <a:solidFill>
                  <a:srgbClr val="1A1A1A"/>
                </a:solidFill>
                <a:latin typeface="Aptos"/>
                <a:ea typeface="Aptos"/>
              </a:rPr>
              <a:t>Scrolling becomes drift</a:t>
            </a:r>
          </a:p>
        </p:txBody>
      </p:sp>
      <p:sp>
        <p:nvSpPr>
          <p:cNvPr id="19" name="Rounded Rectangle 18"/>
          <p:cNvSpPr/>
          <p:nvPr/>
        </p:nvSpPr>
        <p:spPr>
          <a:xfrm>
            <a:off x="7717536" y="1417320"/>
            <a:ext cx="3246120" cy="1920240"/>
          </a:xfrm>
          <a:prstGeom prst="roundRect">
            <a:avLst>
              <a:gd name="adj" fmla="val 8000"/>
            </a:avLst>
          </a:prstGeom>
          <a:solidFill>
            <a:srgbClr val="E8EFFB"/>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18704" y="1645920"/>
            <a:ext cx="2843784" cy="256032"/>
          </a:xfrm>
          <a:prstGeom prst="rect">
            <a:avLst/>
          </a:prstGeom>
          <a:noFill/>
        </p:spPr>
        <p:txBody>
          <a:bodyPr wrap="square" lIns="0" rIns="0" tIns="0" bIns="0" anchor="t">
            <a:spAutoFit/>
          </a:bodyPr>
          <a:lstStyle/>
          <a:p>
            <a:pPr algn="l">
              <a:lnSpc>
                <a:spcPct val="108000"/>
              </a:lnSpc>
              <a:spcBef>
                <a:spcPts val="0"/>
              </a:spcBef>
              <a:spcAft>
                <a:spcPts val="0"/>
              </a:spcAft>
            </a:pPr>
            <a:r>
              <a:rPr sz="1520" b="1" i="0">
                <a:solidFill>
                  <a:srgbClr val="1F57C4"/>
                </a:solidFill>
                <a:latin typeface="Aptos"/>
                <a:ea typeface="Aptos"/>
              </a:rPr>
              <a:t>BORDER-GUIDED</a:t>
            </a:r>
          </a:p>
        </p:txBody>
      </p:sp>
      <p:sp>
        <p:nvSpPr>
          <p:cNvPr id="21" name="TextBox 20"/>
          <p:cNvSpPr txBox="1"/>
          <p:nvPr/>
        </p:nvSpPr>
        <p:spPr>
          <a:xfrm>
            <a:off x="7918704" y="2048256"/>
            <a:ext cx="2843784" cy="256032"/>
          </a:xfrm>
          <a:prstGeom prst="rect">
            <a:avLst/>
          </a:prstGeom>
          <a:noFill/>
        </p:spPr>
        <p:txBody>
          <a:bodyPr wrap="square" lIns="0" rIns="0" tIns="0" bIns="0" anchor="t">
            <a:spAutoFit/>
          </a:bodyPr>
          <a:lstStyle/>
          <a:p>
            <a:pPr algn="l">
              <a:lnSpc>
                <a:spcPct val="108000"/>
              </a:lnSpc>
              <a:spcBef>
                <a:spcPts val="0"/>
              </a:spcBef>
              <a:spcAft>
                <a:spcPts val="0"/>
              </a:spcAft>
            </a:pPr>
            <a:r>
              <a:rPr sz="1400" b="1" i="0">
                <a:solidFill>
                  <a:srgbClr val="555B66"/>
                </a:solidFill>
                <a:latin typeface="Aptos"/>
                <a:ea typeface="Aptos"/>
              </a:rPr>
              <a:t>Trusts the physical boundary</a:t>
            </a:r>
          </a:p>
        </p:txBody>
      </p:sp>
      <p:cxnSp>
        <p:nvCxnSpPr>
          <p:cNvPr id="22" name="Connector 21"/>
          <p:cNvCxnSpPr/>
          <p:nvPr/>
        </p:nvCxnSpPr>
        <p:spPr>
          <a:xfrm>
            <a:off x="7918704" y="2432304"/>
            <a:ext cx="2752344" cy="0"/>
          </a:xfrm>
          <a:prstGeom prst="line">
            <a:avLst/>
          </a:prstGeom>
          <a:ln w="10160">
            <a:solidFill>
              <a:srgbClr val="D3DAE6"/>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918704" y="2596896"/>
            <a:ext cx="2843784" cy="530352"/>
          </a:xfrm>
          <a:prstGeom prst="rect">
            <a:avLst/>
          </a:prstGeom>
          <a:noFill/>
        </p:spPr>
        <p:txBody>
          <a:bodyPr wrap="square" lIns="0" rIns="0" tIns="0" bIns="0" anchor="t">
            <a:spAutoFit/>
          </a:bodyPr>
          <a:lstStyle/>
          <a:p>
            <a:pPr algn="l">
              <a:lnSpc>
                <a:spcPct val="112000"/>
              </a:lnSpc>
              <a:spcBef>
                <a:spcPts val="0"/>
              </a:spcBef>
              <a:spcAft>
                <a:spcPts val="0"/>
              </a:spcAft>
            </a:pPr>
            <a:r>
              <a:rPr sz="1420" b="1" i="0">
                <a:solidFill>
                  <a:srgbClr val="1A1A1A"/>
                </a:solidFill>
                <a:latin typeface="Aptos"/>
                <a:ea typeface="Aptos"/>
              </a:rPr>
              <a:t>Border defines the plane</a:t>
            </a:r>
          </a:p>
          <a:p>
            <a:pPr algn="l">
              <a:lnSpc>
                <a:spcPct val="112000"/>
              </a:lnSpc>
              <a:spcBef>
                <a:spcPts val="0"/>
              </a:spcBef>
              <a:spcAft>
                <a:spcPts val="0"/>
              </a:spcAft>
            </a:pPr>
            <a:r>
              <a:rPr sz="1420" b="1" i="0">
                <a:solidFill>
                  <a:srgbClr val="1A1A1A"/>
                </a:solidFill>
                <a:latin typeface="Aptos"/>
                <a:ea typeface="Aptos"/>
              </a:rPr>
              <a:t>Flow diagnoses conflict</a:t>
            </a:r>
          </a:p>
        </p:txBody>
      </p:sp>
      <p:sp>
        <p:nvSpPr>
          <p:cNvPr id="24" name="Rounded Rectangle 23"/>
          <p:cNvSpPr/>
          <p:nvPr/>
        </p:nvSpPr>
        <p:spPr>
          <a:xfrm>
            <a:off x="603504" y="3621024"/>
            <a:ext cx="10991088" cy="2258568"/>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figure_05_qualitative.png"/>
          <p:cNvPicPr>
            <a:picLocks noChangeAspect="1"/>
          </p:cNvPicPr>
          <p:nvPr/>
        </p:nvPicPr>
        <p:blipFill>
          <a:blip r:embed="rId2"/>
          <a:srcRect t="20500" b="61500"/>
          <a:stretch>
            <a:fillRect/>
          </a:stretch>
        </p:blipFill>
        <p:spPr>
          <a:xfrm>
            <a:off x="731520" y="3749039"/>
            <a:ext cx="10735056" cy="1856231"/>
          </a:xfrm>
          <a:prstGeom prst="rect">
            <a:avLst/>
          </a:prstGeom>
        </p:spPr>
      </p:pic>
      <p:sp>
        <p:nvSpPr>
          <p:cNvPr id="26" name="TextBox 25"/>
          <p:cNvSpPr txBox="1"/>
          <p:nvPr/>
        </p:nvSpPr>
        <p:spPr>
          <a:xfrm>
            <a:off x="822960" y="5632704"/>
            <a:ext cx="10515600" cy="219456"/>
          </a:xfrm>
          <a:prstGeom prst="rect">
            <a:avLst/>
          </a:prstGeom>
          <a:noFill/>
        </p:spPr>
        <p:txBody>
          <a:bodyPr wrap="square" lIns="0" rIns="0" tIns="0" bIns="0" anchor="t">
            <a:spAutoFit/>
          </a:bodyPr>
          <a:lstStyle/>
          <a:p>
            <a:pPr algn="ctr">
              <a:lnSpc>
                <a:spcPct val="108000"/>
              </a:lnSpc>
              <a:spcBef>
                <a:spcPts val="0"/>
              </a:spcBef>
              <a:spcAft>
                <a:spcPts val="0"/>
              </a:spcAft>
            </a:pPr>
            <a:r>
              <a:rPr sz="1150" b="0" i="1">
                <a:solidFill>
                  <a:srgbClr val="555B66"/>
                </a:solidFill>
                <a:latin typeface="Aptos"/>
                <a:ea typeface="Aptos"/>
              </a:rPr>
              <a:t>Same scrolling moment: input annotation · frame-wise · optical flow · proposed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METHOD OVERVIEW</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3100" b="1" i="0">
                <a:solidFill>
                  <a:srgbClr val="1A1A1A"/>
                </a:solidFill>
                <a:latin typeface="Aptos"/>
                <a:ea typeface="Aptos"/>
              </a:rPr>
              <a:t>Border Evidence Drives the Homography</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Figure 1</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5</a:t>
            </a:r>
          </a:p>
        </p:txBody>
      </p:sp>
      <p:sp>
        <p:nvSpPr>
          <p:cNvPr id="9" name="Rounded Rectangle 8"/>
          <p:cNvSpPr/>
          <p:nvPr/>
        </p:nvSpPr>
        <p:spPr>
          <a:xfrm>
            <a:off x="566928" y="1389888"/>
            <a:ext cx="11064240" cy="4041648"/>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01_pipeline.png"/>
          <p:cNvPicPr>
            <a:picLocks noChangeAspect="1"/>
          </p:cNvPicPr>
          <p:nvPr/>
        </p:nvPicPr>
        <p:blipFill>
          <a:blip r:embed="rId2"/>
          <a:stretch>
            <a:fillRect/>
          </a:stretch>
        </p:blipFill>
        <p:spPr>
          <a:xfrm>
            <a:off x="713232" y="1535250"/>
            <a:ext cx="10771632" cy="3750923"/>
          </a:xfrm>
          <a:prstGeom prst="rect">
            <a:avLst/>
          </a:prstGeom>
        </p:spPr>
      </p:pic>
      <p:sp>
        <p:nvSpPr>
          <p:cNvPr id="11" name="Rounded Rectangle 10"/>
          <p:cNvSpPr/>
          <p:nvPr/>
        </p:nvSpPr>
        <p:spPr>
          <a:xfrm>
            <a:off x="603504" y="5614416"/>
            <a:ext cx="10991088" cy="576072"/>
          </a:xfrm>
          <a:prstGeom prst="roundRect">
            <a:avLst>
              <a:gd name="adj" fmla="val 8000"/>
            </a:avLst>
          </a:prstGeom>
          <a:solidFill>
            <a:srgbClr val="E8EFFB"/>
          </a:solidFill>
          <a:ln w="10160">
            <a:solidFill>
              <a:srgbClr val="E8EF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751576"/>
            <a:ext cx="10588752" cy="292608"/>
          </a:xfrm>
          <a:prstGeom prst="rect">
            <a:avLst/>
          </a:prstGeom>
          <a:noFill/>
        </p:spPr>
        <p:txBody>
          <a:bodyPr wrap="square" lIns="0" rIns="0" tIns="0" bIns="0" anchor="t">
            <a:spAutoFit/>
          </a:bodyPr>
          <a:lstStyle/>
          <a:p>
            <a:pPr algn="ctr">
              <a:lnSpc>
                <a:spcPct val="108000"/>
              </a:lnSpc>
              <a:spcBef>
                <a:spcPts val="0"/>
              </a:spcBef>
              <a:spcAft>
                <a:spcPts val="0"/>
              </a:spcAft>
            </a:pPr>
            <a:r>
              <a:rPr sz="1500" b="1" i="0">
                <a:solidFill>
                  <a:srgbClr val="17479E"/>
                </a:solidFill>
                <a:latin typeface="Aptos"/>
                <a:ea typeface="Aptos"/>
              </a:rPr>
              <a:t>Previous quadrilateral → local border evidence → four fitted lines → valid quadrilateral → diagnostics → smoothing and warp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FRAME UPDATE</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950" b="1" i="0">
                <a:solidFill>
                  <a:srgbClr val="1A1A1A"/>
                </a:solidFill>
                <a:latin typeface="Aptos"/>
                <a:ea typeface="Aptos"/>
              </a:rPr>
              <a:t>Boundary Observation Plus Explicit Safety Logic</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Sections 3.2–3.3</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6</a:t>
            </a:r>
          </a:p>
        </p:txBody>
      </p:sp>
      <p:sp>
        <p:nvSpPr>
          <p:cNvPr id="9" name="Rounded Rectangle 8"/>
          <p:cNvSpPr/>
          <p:nvPr/>
        </p:nvSpPr>
        <p:spPr>
          <a:xfrm>
            <a:off x="603504" y="1417320"/>
            <a:ext cx="5669280" cy="4526280"/>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664208"/>
            <a:ext cx="3566160" cy="256032"/>
          </a:xfrm>
          <a:prstGeom prst="rect">
            <a:avLst/>
          </a:prstGeom>
          <a:noFill/>
        </p:spPr>
        <p:txBody>
          <a:bodyPr wrap="square" lIns="0" rIns="0" tIns="0" bIns="0" anchor="t">
            <a:spAutoFit/>
          </a:bodyPr>
          <a:lstStyle/>
          <a:p>
            <a:pPr algn="l">
              <a:lnSpc>
                <a:spcPct val="108000"/>
              </a:lnSpc>
              <a:spcBef>
                <a:spcPts val="0"/>
              </a:spcBef>
              <a:spcAft>
                <a:spcPts val="0"/>
              </a:spcAft>
            </a:pPr>
            <a:r>
              <a:rPr sz="1400" b="1" i="0">
                <a:solidFill>
                  <a:srgbClr val="1F57C4"/>
                </a:solidFill>
                <a:latin typeface="Aptos"/>
                <a:ea typeface="Aptos"/>
              </a:rPr>
              <a:t>A. RECOVER FOUR PHYSICAL SIDES</a:t>
            </a:r>
          </a:p>
        </p:txBody>
      </p:sp>
      <p:sp>
        <p:nvSpPr>
          <p:cNvPr id="11" name="Rectangle 10"/>
          <p:cNvSpPr/>
          <p:nvPr/>
        </p:nvSpPr>
        <p:spPr>
          <a:xfrm>
            <a:off x="1078992" y="2212848"/>
            <a:ext cx="2926080" cy="1901952"/>
          </a:xfrm>
          <a:prstGeom prst="rect">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flipV="1">
            <a:off x="1389888" y="2359152"/>
            <a:ext cx="2267712" cy="109728"/>
          </a:xfrm>
          <a:prstGeom prst="line">
            <a:avLst/>
          </a:prstGeom>
          <a:ln w="35560">
            <a:solidFill>
              <a:srgbClr val="1F57C4"/>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335024" y="2414016"/>
            <a:ext cx="109728" cy="109728"/>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3657600" y="2359152"/>
            <a:ext cx="146304" cy="1426463"/>
          </a:xfrm>
          <a:prstGeom prst="line">
            <a:avLst/>
          </a:prstGeom>
          <a:ln w="35560">
            <a:solidFill>
              <a:srgbClr val="1F57C4"/>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3602736" y="2304288"/>
            <a:ext cx="109728" cy="109728"/>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H="1">
            <a:off x="1261872" y="3785615"/>
            <a:ext cx="2542032" cy="128017"/>
          </a:xfrm>
          <a:prstGeom prst="line">
            <a:avLst/>
          </a:prstGeom>
          <a:ln w="35560">
            <a:solidFill>
              <a:srgbClr val="1F57C4"/>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749040" y="3730752"/>
            <a:ext cx="109728" cy="109728"/>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1261872" y="2468880"/>
            <a:ext cx="128016" cy="1444752"/>
          </a:xfrm>
          <a:prstGeom prst="line">
            <a:avLst/>
          </a:prstGeom>
          <a:ln w="35560">
            <a:solidFill>
              <a:srgbClr val="1F57C4"/>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207007" y="3858768"/>
            <a:ext cx="109728" cy="109728"/>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25296" y="2267712"/>
            <a:ext cx="2514600" cy="164592"/>
          </a:xfrm>
          <a:prstGeom prst="rect">
            <a:avLst/>
          </a:prstGeom>
          <a:solidFill>
            <a:srgbClr val="E6F3F1"/>
          </a:solidFill>
          <a:ln w="635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88720" y="3803904"/>
            <a:ext cx="2670048" cy="164592"/>
          </a:xfrm>
          <a:prstGeom prst="rect">
            <a:avLst/>
          </a:prstGeom>
          <a:solidFill>
            <a:srgbClr val="E6F3F1"/>
          </a:solidFill>
          <a:ln w="635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61872" y="4187952"/>
            <a:ext cx="2560320" cy="219456"/>
          </a:xfrm>
          <a:prstGeom prst="rect">
            <a:avLst/>
          </a:prstGeom>
          <a:noFill/>
        </p:spPr>
        <p:txBody>
          <a:bodyPr wrap="square" lIns="0" rIns="0" tIns="0" bIns="0" anchor="t">
            <a:spAutoFit/>
          </a:bodyPr>
          <a:lstStyle/>
          <a:p>
            <a:pPr algn="ctr">
              <a:lnSpc>
                <a:spcPct val="108000"/>
              </a:lnSpc>
              <a:spcBef>
                <a:spcPts val="0"/>
              </a:spcBef>
              <a:spcAft>
                <a:spcPts val="0"/>
              </a:spcAft>
            </a:pPr>
            <a:r>
              <a:rPr sz="1150" b="1" i="0">
                <a:solidFill>
                  <a:srgbClr val="2E8579"/>
                </a:solidFill>
                <a:latin typeface="Aptos"/>
                <a:ea typeface="Aptos"/>
              </a:rPr>
              <a:t>predicted search bands</a:t>
            </a:r>
          </a:p>
        </p:txBody>
      </p:sp>
      <p:sp>
        <p:nvSpPr>
          <p:cNvPr id="23" name="Oval 22"/>
          <p:cNvSpPr/>
          <p:nvPr/>
        </p:nvSpPr>
        <p:spPr>
          <a:xfrm>
            <a:off x="4233672" y="2304288"/>
            <a:ext cx="100584" cy="100584"/>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53128" y="2194560"/>
            <a:ext cx="1536192" cy="713232"/>
          </a:xfrm>
          <a:prstGeom prst="rect">
            <a:avLst/>
          </a:prstGeom>
          <a:noFill/>
        </p:spPr>
        <p:txBody>
          <a:bodyPr wrap="square" lIns="0" rIns="0" tIns="0" bIns="0" anchor="t">
            <a:spAutoFit/>
          </a:bodyPr>
          <a:lstStyle/>
          <a:p>
            <a:pPr algn="l">
              <a:lnSpc>
                <a:spcPct val="108000"/>
              </a:lnSpc>
              <a:spcBef>
                <a:spcPts val="0"/>
              </a:spcBef>
              <a:spcAft>
                <a:spcPts val="0"/>
              </a:spcAft>
            </a:pPr>
            <a:r>
              <a:rPr sz="1300" b="0" i="0">
                <a:solidFill>
                  <a:srgbClr val="1A1A1A"/>
                </a:solidFill>
                <a:latin typeface="Aptos"/>
                <a:ea typeface="Aptos"/>
              </a:rPr>
              <a:t>Sample profiles along inward normals</a:t>
            </a:r>
          </a:p>
        </p:txBody>
      </p:sp>
      <p:sp>
        <p:nvSpPr>
          <p:cNvPr id="25" name="Oval 24"/>
          <p:cNvSpPr/>
          <p:nvPr/>
        </p:nvSpPr>
        <p:spPr>
          <a:xfrm>
            <a:off x="4233672" y="2962656"/>
            <a:ext cx="100584" cy="100584"/>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3128" y="2852928"/>
            <a:ext cx="1536192" cy="713232"/>
          </a:xfrm>
          <a:prstGeom prst="rect">
            <a:avLst/>
          </a:prstGeom>
          <a:noFill/>
        </p:spPr>
        <p:txBody>
          <a:bodyPr wrap="square" lIns="0" rIns="0" tIns="0" bIns="0" anchor="t">
            <a:spAutoFit/>
          </a:bodyPr>
          <a:lstStyle/>
          <a:p>
            <a:pPr algn="l">
              <a:lnSpc>
                <a:spcPct val="108000"/>
              </a:lnSpc>
              <a:spcBef>
                <a:spcPts val="0"/>
              </a:spcBef>
              <a:spcAft>
                <a:spcPts val="0"/>
              </a:spcAft>
            </a:pPr>
            <a:r>
              <a:rPr sz="1300" b="0" i="0">
                <a:solidFill>
                  <a:srgbClr val="1A1A1A"/>
                </a:solidFill>
                <a:latin typeface="Aptos"/>
                <a:ea typeface="Aptos"/>
              </a:rPr>
              <a:t>Select strong gradients near the predicted side</a:t>
            </a:r>
          </a:p>
        </p:txBody>
      </p:sp>
      <p:sp>
        <p:nvSpPr>
          <p:cNvPr id="27" name="Oval 26"/>
          <p:cNvSpPr/>
          <p:nvPr/>
        </p:nvSpPr>
        <p:spPr>
          <a:xfrm>
            <a:off x="4233672" y="3621024"/>
            <a:ext cx="100584" cy="100584"/>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53128" y="3511296"/>
            <a:ext cx="1536192" cy="713232"/>
          </a:xfrm>
          <a:prstGeom prst="rect">
            <a:avLst/>
          </a:prstGeom>
          <a:noFill/>
        </p:spPr>
        <p:txBody>
          <a:bodyPr wrap="square" lIns="0" rIns="0" tIns="0" bIns="0" anchor="t">
            <a:spAutoFit/>
          </a:bodyPr>
          <a:lstStyle/>
          <a:p>
            <a:pPr algn="l">
              <a:lnSpc>
                <a:spcPct val="108000"/>
              </a:lnSpc>
              <a:spcBef>
                <a:spcPts val="0"/>
              </a:spcBef>
              <a:spcAft>
                <a:spcPts val="0"/>
              </a:spcAft>
            </a:pPr>
            <a:r>
              <a:rPr sz="1300" b="0" i="0">
                <a:solidFill>
                  <a:srgbClr val="1A1A1A"/>
                </a:solidFill>
                <a:latin typeface="Aptos"/>
                <a:ea typeface="Aptos"/>
              </a:rPr>
              <a:t>Robustly fit four lines and intersect neighbors</a:t>
            </a:r>
          </a:p>
        </p:txBody>
      </p:sp>
      <p:sp>
        <p:nvSpPr>
          <p:cNvPr id="29" name="Rounded Rectangle 28"/>
          <p:cNvSpPr/>
          <p:nvPr/>
        </p:nvSpPr>
        <p:spPr>
          <a:xfrm>
            <a:off x="6510528" y="1417320"/>
            <a:ext cx="5084064" cy="4526280"/>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84848" y="1664208"/>
            <a:ext cx="3840480" cy="256032"/>
          </a:xfrm>
          <a:prstGeom prst="rect">
            <a:avLst/>
          </a:prstGeom>
          <a:noFill/>
        </p:spPr>
        <p:txBody>
          <a:bodyPr wrap="square" lIns="0" rIns="0" tIns="0" bIns="0" anchor="t">
            <a:spAutoFit/>
          </a:bodyPr>
          <a:lstStyle/>
          <a:p>
            <a:pPr algn="l">
              <a:lnSpc>
                <a:spcPct val="108000"/>
              </a:lnSpc>
              <a:spcBef>
                <a:spcPts val="0"/>
              </a:spcBef>
              <a:spcAft>
                <a:spcPts val="0"/>
              </a:spcAft>
            </a:pPr>
            <a:r>
              <a:rPr sz="1400" b="1" i="0">
                <a:solidFill>
                  <a:srgbClr val="1F57C4"/>
                </a:solidFill>
                <a:latin typeface="Aptos"/>
                <a:ea typeface="Aptos"/>
              </a:rPr>
              <a:t>B. ACCEPT, RECOVER, OR HOLD</a:t>
            </a:r>
          </a:p>
        </p:txBody>
      </p:sp>
      <p:sp>
        <p:nvSpPr>
          <p:cNvPr id="31" name="Rounded Rectangle 30"/>
          <p:cNvSpPr/>
          <p:nvPr/>
        </p:nvSpPr>
        <p:spPr>
          <a:xfrm>
            <a:off x="6858000" y="2121408"/>
            <a:ext cx="4389120" cy="566928"/>
          </a:xfrm>
          <a:prstGeom prst="roundRect">
            <a:avLst>
              <a:gd name="adj" fmla="val 8000"/>
            </a:avLst>
          </a:prstGeom>
          <a:solidFill>
            <a:srgbClr val="E8EFFB"/>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86016" y="2212848"/>
            <a:ext cx="4133087" cy="420623"/>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1A1A1A"/>
                </a:solidFill>
                <a:latin typeface="Aptos"/>
                <a:ea typeface="Aptos"/>
              </a:rPr>
              <a:t>Four usable sides?</a:t>
            </a:r>
          </a:p>
        </p:txBody>
      </p:sp>
      <p:sp>
        <p:nvSpPr>
          <p:cNvPr id="33" name="Rounded Rectangle 32"/>
          <p:cNvSpPr/>
          <p:nvPr/>
        </p:nvSpPr>
        <p:spPr>
          <a:xfrm>
            <a:off x="6858000" y="2889504"/>
            <a:ext cx="4389120" cy="56692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86016" y="2980944"/>
            <a:ext cx="4133087" cy="420623"/>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1A1A1A"/>
                </a:solidFill>
                <a:latin typeface="Aptos"/>
                <a:ea typeface="Aptos"/>
              </a:rPr>
              <a:t>Valid, convex, geometrically plausible?</a:t>
            </a:r>
          </a:p>
        </p:txBody>
      </p:sp>
      <p:sp>
        <p:nvSpPr>
          <p:cNvPr id="35" name="Rounded Rectangle 34"/>
          <p:cNvSpPr/>
          <p:nvPr/>
        </p:nvSpPr>
        <p:spPr>
          <a:xfrm>
            <a:off x="6858000" y="3657600"/>
            <a:ext cx="4389120" cy="566928"/>
          </a:xfrm>
          <a:prstGeom prst="roundRect">
            <a:avLst>
              <a:gd name="adj" fmla="val 8000"/>
            </a:avLst>
          </a:prstGeom>
          <a:solidFill>
            <a:srgbClr val="E6F3F1"/>
          </a:solidFill>
          <a:ln w="1016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86016" y="3749039"/>
            <a:ext cx="4133087" cy="420623"/>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1A1A1A"/>
                </a:solidFill>
                <a:latin typeface="Aptos"/>
                <a:ea typeface="Aptos"/>
              </a:rPr>
              <a:t>Accept boundary + record LK conflict</a:t>
            </a:r>
          </a:p>
        </p:txBody>
      </p:sp>
      <p:sp>
        <p:nvSpPr>
          <p:cNvPr id="37" name="Rounded Rectangle 36"/>
          <p:cNvSpPr/>
          <p:nvPr/>
        </p:nvSpPr>
        <p:spPr>
          <a:xfrm>
            <a:off x="6858000" y="4425696"/>
            <a:ext cx="2011680" cy="658368"/>
          </a:xfrm>
          <a:prstGeom prst="roundRect">
            <a:avLst>
              <a:gd name="adj" fmla="val 8000"/>
            </a:avLst>
          </a:prstGeom>
          <a:solidFill>
            <a:srgbClr val="FCEDEA"/>
          </a:solidFill>
          <a:ln w="1016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86016" y="4517136"/>
            <a:ext cx="1755648" cy="512063"/>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1A1A1A"/>
                </a:solidFill>
                <a:latin typeface="Aptos"/>
                <a:ea typeface="Aptos"/>
              </a:rPr>
              <a:t>If missing:</a:t>
            </a:r>
          </a:p>
          <a:p>
            <a:pPr algn="ctr">
              <a:lnSpc>
                <a:spcPct val="108000"/>
              </a:lnSpc>
              <a:spcBef>
                <a:spcPts val="0"/>
              </a:spcBef>
              <a:spcAft>
                <a:spcPts val="0"/>
              </a:spcAft>
            </a:pPr>
            <a:r>
              <a:rPr sz="1300" b="1" i="0">
                <a:solidFill>
                  <a:srgbClr val="1A1A1A"/>
                </a:solidFill>
                <a:latin typeface="Aptos"/>
                <a:ea typeface="Aptos"/>
              </a:rPr>
              <a:t>automatic redetection</a:t>
            </a:r>
          </a:p>
        </p:txBody>
      </p:sp>
      <p:sp>
        <p:nvSpPr>
          <p:cNvPr id="39" name="Rounded Rectangle 38"/>
          <p:cNvSpPr/>
          <p:nvPr/>
        </p:nvSpPr>
        <p:spPr>
          <a:xfrm>
            <a:off x="9235440" y="4425696"/>
            <a:ext cx="2011680" cy="65836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63456" y="4517136"/>
            <a:ext cx="1755648" cy="512063"/>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1A1A1A"/>
                </a:solidFill>
                <a:latin typeface="Aptos"/>
                <a:ea typeface="Aptos"/>
              </a:rPr>
              <a:t>If still missing:</a:t>
            </a:r>
          </a:p>
          <a:p>
            <a:pPr algn="ctr">
              <a:lnSpc>
                <a:spcPct val="108000"/>
              </a:lnSpc>
              <a:spcBef>
                <a:spcPts val="0"/>
              </a:spcBef>
              <a:spcAft>
                <a:spcPts val="0"/>
              </a:spcAft>
            </a:pPr>
            <a:r>
              <a:rPr sz="1300" b="1" i="0">
                <a:solidFill>
                  <a:srgbClr val="1A1A1A"/>
                </a:solidFill>
                <a:latin typeface="Aptos"/>
                <a:ea typeface="Aptos"/>
              </a:rPr>
              <a:t>carry forward last valid</a:t>
            </a:r>
          </a:p>
        </p:txBody>
      </p:sp>
      <p:cxnSp>
        <p:nvCxnSpPr>
          <p:cNvPr id="41" name="Connector 40"/>
          <p:cNvCxnSpPr/>
          <p:nvPr/>
        </p:nvCxnSpPr>
        <p:spPr>
          <a:xfrm>
            <a:off x="9052560" y="2697480"/>
            <a:ext cx="0" cy="155448"/>
          </a:xfrm>
          <a:prstGeom prst="line">
            <a:avLst/>
          </a:prstGeom>
          <a:ln w="22860">
            <a:solidFill>
              <a:srgbClr val="D3DAE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052560" y="3465576"/>
            <a:ext cx="0" cy="155448"/>
          </a:xfrm>
          <a:prstGeom prst="line">
            <a:avLst/>
          </a:prstGeom>
          <a:ln w="22860">
            <a:solidFill>
              <a:srgbClr val="D3DA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DATASET &amp; PROTOCOL</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3000" b="1" i="0">
                <a:solidFill>
                  <a:srgbClr val="1A1A1A"/>
                </a:solidFill>
                <a:latin typeface="Aptos"/>
                <a:ea typeface="Aptos"/>
              </a:rPr>
              <a:t>Five Capture Conditions, One Shared Evaluation</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Section 4.1; dataset mosaic</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7</a:t>
            </a:r>
          </a:p>
        </p:txBody>
      </p:sp>
      <p:sp>
        <p:nvSpPr>
          <p:cNvPr id="9" name="Rounded Rectangle 8"/>
          <p:cNvSpPr/>
          <p:nvPr/>
        </p:nvSpPr>
        <p:spPr>
          <a:xfrm>
            <a:off x="603504" y="1399032"/>
            <a:ext cx="1865376" cy="1133856"/>
          </a:xfrm>
          <a:prstGeom prst="roundRect">
            <a:avLst>
              <a:gd name="adj" fmla="val 8000"/>
            </a:avLst>
          </a:prstGeom>
          <a:solidFill>
            <a:srgbClr val="E8EFFB"/>
          </a:solidFill>
          <a:ln w="1270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563624"/>
            <a:ext cx="1536192" cy="420624"/>
          </a:xfrm>
          <a:prstGeom prst="rect">
            <a:avLst/>
          </a:prstGeom>
          <a:noFill/>
        </p:spPr>
        <p:txBody>
          <a:bodyPr wrap="square" lIns="0" rIns="0" tIns="0" bIns="0" anchor="t">
            <a:spAutoFit/>
          </a:bodyPr>
          <a:lstStyle/>
          <a:p>
            <a:pPr algn="ctr">
              <a:lnSpc>
                <a:spcPct val="108000"/>
              </a:lnSpc>
              <a:spcBef>
                <a:spcPts val="0"/>
              </a:spcBef>
              <a:spcAft>
                <a:spcPts val="0"/>
              </a:spcAft>
            </a:pPr>
            <a:r>
              <a:rPr sz="2700" b="1" i="0">
                <a:solidFill>
                  <a:srgbClr val="1F57C4"/>
                </a:solidFill>
                <a:latin typeface="Aptos"/>
                <a:ea typeface="Aptos"/>
              </a:rPr>
              <a:t>50</a:t>
            </a:r>
          </a:p>
        </p:txBody>
      </p:sp>
      <p:sp>
        <p:nvSpPr>
          <p:cNvPr id="11" name="TextBox 10"/>
          <p:cNvSpPr txBox="1"/>
          <p:nvPr/>
        </p:nvSpPr>
        <p:spPr>
          <a:xfrm>
            <a:off x="749808" y="2075688"/>
            <a:ext cx="1572768" cy="347472"/>
          </a:xfrm>
          <a:prstGeom prst="rect">
            <a:avLst/>
          </a:prstGeom>
          <a:noFill/>
        </p:spPr>
        <p:txBody>
          <a:bodyPr wrap="square" lIns="0" rIns="0" tIns="0" bIns="0" anchor="ctr">
            <a:spAutoFit/>
          </a:bodyPr>
          <a:lstStyle/>
          <a:p>
            <a:pPr algn="ctr">
              <a:lnSpc>
                <a:spcPct val="108000"/>
              </a:lnSpc>
              <a:spcBef>
                <a:spcPts val="0"/>
              </a:spcBef>
              <a:spcAft>
                <a:spcPts val="0"/>
              </a:spcAft>
            </a:pPr>
            <a:r>
              <a:rPr sz="1250" b="1" i="0">
                <a:solidFill>
                  <a:srgbClr val="1A1A1A"/>
                </a:solidFill>
                <a:latin typeface="Aptos"/>
                <a:ea typeface="Aptos"/>
              </a:rPr>
              <a:t>self-collected clips</a:t>
            </a:r>
          </a:p>
        </p:txBody>
      </p:sp>
      <p:sp>
        <p:nvSpPr>
          <p:cNvPr id="12" name="Rounded Rectangle 11"/>
          <p:cNvSpPr/>
          <p:nvPr/>
        </p:nvSpPr>
        <p:spPr>
          <a:xfrm>
            <a:off x="2651760" y="1399032"/>
            <a:ext cx="2121408" cy="1133856"/>
          </a:xfrm>
          <a:prstGeom prst="roundRect">
            <a:avLst>
              <a:gd name="adj" fmla="val 8000"/>
            </a:avLst>
          </a:prstGeom>
          <a:solidFill>
            <a:srgbClr val="E8EFFB"/>
          </a:solidFill>
          <a:ln w="1270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16352" y="1563624"/>
            <a:ext cx="1792224" cy="420624"/>
          </a:xfrm>
          <a:prstGeom prst="rect">
            <a:avLst/>
          </a:prstGeom>
          <a:noFill/>
        </p:spPr>
        <p:txBody>
          <a:bodyPr wrap="square" lIns="0" rIns="0" tIns="0" bIns="0" anchor="t">
            <a:spAutoFit/>
          </a:bodyPr>
          <a:lstStyle/>
          <a:p>
            <a:pPr algn="ctr">
              <a:lnSpc>
                <a:spcPct val="108000"/>
              </a:lnSpc>
              <a:spcBef>
                <a:spcPts val="0"/>
              </a:spcBef>
              <a:spcAft>
                <a:spcPts val="0"/>
              </a:spcAft>
            </a:pPr>
            <a:r>
              <a:rPr sz="2500" b="1" i="0">
                <a:solidFill>
                  <a:srgbClr val="1F57C4"/>
                </a:solidFill>
                <a:latin typeface="Aptos"/>
                <a:ea typeface="Aptos"/>
              </a:rPr>
              <a:t>14,985</a:t>
            </a:r>
          </a:p>
        </p:txBody>
      </p:sp>
      <p:sp>
        <p:nvSpPr>
          <p:cNvPr id="14" name="TextBox 13"/>
          <p:cNvSpPr txBox="1"/>
          <p:nvPr/>
        </p:nvSpPr>
        <p:spPr>
          <a:xfrm>
            <a:off x="2798064" y="2075688"/>
            <a:ext cx="1828799" cy="347472"/>
          </a:xfrm>
          <a:prstGeom prst="rect">
            <a:avLst/>
          </a:prstGeom>
          <a:noFill/>
        </p:spPr>
        <p:txBody>
          <a:bodyPr wrap="square" lIns="0" rIns="0" tIns="0" bIns="0" anchor="ctr">
            <a:spAutoFit/>
          </a:bodyPr>
          <a:lstStyle/>
          <a:p>
            <a:pPr algn="ctr">
              <a:lnSpc>
                <a:spcPct val="108000"/>
              </a:lnSpc>
              <a:spcBef>
                <a:spcPts val="0"/>
              </a:spcBef>
              <a:spcAft>
                <a:spcPts val="0"/>
              </a:spcAft>
            </a:pPr>
            <a:r>
              <a:rPr sz="1250" b="1" i="0">
                <a:solidFill>
                  <a:srgbClr val="1A1A1A"/>
                </a:solidFill>
                <a:latin typeface="Aptos"/>
                <a:ea typeface="Aptos"/>
              </a:rPr>
              <a:t>total frames</a:t>
            </a:r>
          </a:p>
        </p:txBody>
      </p:sp>
      <p:sp>
        <p:nvSpPr>
          <p:cNvPr id="15" name="Rounded Rectangle 14"/>
          <p:cNvSpPr/>
          <p:nvPr/>
        </p:nvSpPr>
        <p:spPr>
          <a:xfrm>
            <a:off x="4956048" y="1399032"/>
            <a:ext cx="1865376" cy="1133856"/>
          </a:xfrm>
          <a:prstGeom prst="roundRect">
            <a:avLst>
              <a:gd name="adj" fmla="val 8000"/>
            </a:avLst>
          </a:prstGeom>
          <a:solidFill>
            <a:srgbClr val="E8EFFB"/>
          </a:solidFill>
          <a:ln w="1270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0" y="1563624"/>
            <a:ext cx="1536192" cy="420624"/>
          </a:xfrm>
          <a:prstGeom prst="rect">
            <a:avLst/>
          </a:prstGeom>
          <a:noFill/>
        </p:spPr>
        <p:txBody>
          <a:bodyPr wrap="square" lIns="0" rIns="0" tIns="0" bIns="0" anchor="t">
            <a:spAutoFit/>
          </a:bodyPr>
          <a:lstStyle/>
          <a:p>
            <a:pPr algn="ctr">
              <a:lnSpc>
                <a:spcPct val="108000"/>
              </a:lnSpc>
              <a:spcBef>
                <a:spcPts val="0"/>
              </a:spcBef>
              <a:spcAft>
                <a:spcPts val="0"/>
              </a:spcAft>
            </a:pPr>
            <a:r>
              <a:rPr sz="2700" b="1" i="0">
                <a:solidFill>
                  <a:srgbClr val="1F57C4"/>
                </a:solidFill>
                <a:latin typeface="Aptos"/>
                <a:ea typeface="Aptos"/>
              </a:rPr>
              <a:t>10</a:t>
            </a:r>
          </a:p>
        </p:txBody>
      </p:sp>
      <p:sp>
        <p:nvSpPr>
          <p:cNvPr id="17" name="TextBox 16"/>
          <p:cNvSpPr txBox="1"/>
          <p:nvPr/>
        </p:nvSpPr>
        <p:spPr>
          <a:xfrm>
            <a:off x="5102352" y="2075688"/>
            <a:ext cx="1572768" cy="347472"/>
          </a:xfrm>
          <a:prstGeom prst="rect">
            <a:avLst/>
          </a:prstGeom>
          <a:noFill/>
        </p:spPr>
        <p:txBody>
          <a:bodyPr wrap="square" lIns="0" rIns="0" tIns="0" bIns="0" anchor="ctr">
            <a:spAutoFit/>
          </a:bodyPr>
          <a:lstStyle/>
          <a:p>
            <a:pPr algn="ctr">
              <a:lnSpc>
                <a:spcPct val="108000"/>
              </a:lnSpc>
              <a:spcBef>
                <a:spcPts val="0"/>
              </a:spcBef>
              <a:spcAft>
                <a:spcPts val="0"/>
              </a:spcAft>
            </a:pPr>
            <a:r>
              <a:rPr sz="1150" b="1" i="0">
                <a:solidFill>
                  <a:srgbClr val="1A1A1A"/>
                </a:solidFill>
                <a:latin typeface="Aptos"/>
                <a:ea typeface="Aptos"/>
              </a:rPr>
              <a:t>annotated evaluation clips</a:t>
            </a:r>
          </a:p>
        </p:txBody>
      </p:sp>
      <p:sp>
        <p:nvSpPr>
          <p:cNvPr id="18" name="TextBox 17"/>
          <p:cNvSpPr txBox="1"/>
          <p:nvPr/>
        </p:nvSpPr>
        <p:spPr>
          <a:xfrm>
            <a:off x="621792" y="2770632"/>
            <a:ext cx="2194560" cy="292608"/>
          </a:xfrm>
          <a:prstGeom prst="rect">
            <a:avLst/>
          </a:prstGeom>
          <a:noFill/>
        </p:spPr>
        <p:txBody>
          <a:bodyPr wrap="square" lIns="0" rIns="0" tIns="0" bIns="0" anchor="t">
            <a:spAutoFit/>
          </a:bodyPr>
          <a:lstStyle/>
          <a:p>
            <a:pPr algn="l">
              <a:lnSpc>
                <a:spcPct val="108000"/>
              </a:lnSpc>
              <a:spcBef>
                <a:spcPts val="0"/>
              </a:spcBef>
              <a:spcAft>
                <a:spcPts val="0"/>
              </a:spcAft>
            </a:pPr>
            <a:r>
              <a:rPr sz="1600" b="1" i="0">
                <a:solidFill>
                  <a:srgbClr val="1F57C4"/>
                </a:solidFill>
                <a:latin typeface="Aptos"/>
                <a:ea typeface="Aptos"/>
              </a:rPr>
              <a:t>Capture conditions</a:t>
            </a:r>
          </a:p>
        </p:txBody>
      </p:sp>
      <p:sp>
        <p:nvSpPr>
          <p:cNvPr id="19" name="Rounded Rectangle 18"/>
          <p:cNvSpPr/>
          <p:nvPr/>
        </p:nvSpPr>
        <p:spPr>
          <a:xfrm>
            <a:off x="603504" y="3182112"/>
            <a:ext cx="1097280" cy="987552"/>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3401568"/>
            <a:ext cx="950976" cy="457200"/>
          </a:xfrm>
          <a:prstGeom prst="rect">
            <a:avLst/>
          </a:prstGeom>
          <a:noFill/>
        </p:spPr>
        <p:txBody>
          <a:bodyPr wrap="square" lIns="0" rIns="0" tIns="0" bIns="0" anchor="ctr">
            <a:spAutoFit/>
          </a:bodyPr>
          <a:lstStyle/>
          <a:p>
            <a:pPr algn="ctr">
              <a:lnSpc>
                <a:spcPct val="108000"/>
              </a:lnSpc>
              <a:spcBef>
                <a:spcPts val="0"/>
              </a:spcBef>
              <a:spcAft>
                <a:spcPts val="0"/>
              </a:spcAft>
            </a:pPr>
            <a:r>
              <a:rPr sz="1220" b="1" i="0">
                <a:solidFill>
                  <a:srgbClr val="1A1A1A"/>
                </a:solidFill>
                <a:latin typeface="Aptos"/>
                <a:ea typeface="Aptos"/>
              </a:rPr>
              <a:t>Static</a:t>
            </a:r>
          </a:p>
        </p:txBody>
      </p:sp>
      <p:sp>
        <p:nvSpPr>
          <p:cNvPr id="21" name="Rounded Rectangle 20"/>
          <p:cNvSpPr/>
          <p:nvPr/>
        </p:nvSpPr>
        <p:spPr>
          <a:xfrm>
            <a:off x="1856232" y="3182112"/>
            <a:ext cx="1097280" cy="987552"/>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29384" y="3401568"/>
            <a:ext cx="950976" cy="457200"/>
          </a:xfrm>
          <a:prstGeom prst="rect">
            <a:avLst/>
          </a:prstGeom>
          <a:noFill/>
        </p:spPr>
        <p:txBody>
          <a:bodyPr wrap="square" lIns="0" rIns="0" tIns="0" bIns="0" anchor="ctr">
            <a:spAutoFit/>
          </a:bodyPr>
          <a:lstStyle/>
          <a:p>
            <a:pPr algn="ctr">
              <a:lnSpc>
                <a:spcPct val="108000"/>
              </a:lnSpc>
              <a:spcBef>
                <a:spcPts val="0"/>
              </a:spcBef>
              <a:spcAft>
                <a:spcPts val="0"/>
              </a:spcAft>
            </a:pPr>
            <a:r>
              <a:rPr sz="1220" b="1" i="0">
                <a:solidFill>
                  <a:srgbClr val="1A1A1A"/>
                </a:solidFill>
                <a:latin typeface="Aptos"/>
                <a:ea typeface="Aptos"/>
              </a:rPr>
              <a:t>Scrolling</a:t>
            </a:r>
          </a:p>
        </p:txBody>
      </p:sp>
      <p:sp>
        <p:nvSpPr>
          <p:cNvPr id="23" name="Rounded Rectangle 22"/>
          <p:cNvSpPr/>
          <p:nvPr/>
        </p:nvSpPr>
        <p:spPr>
          <a:xfrm>
            <a:off x="3108960" y="3182112"/>
            <a:ext cx="1097280" cy="987552"/>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82112" y="3401568"/>
            <a:ext cx="950976" cy="457200"/>
          </a:xfrm>
          <a:prstGeom prst="rect">
            <a:avLst/>
          </a:prstGeom>
          <a:noFill/>
        </p:spPr>
        <p:txBody>
          <a:bodyPr wrap="square" lIns="0" rIns="0" tIns="0" bIns="0" anchor="ctr">
            <a:spAutoFit/>
          </a:bodyPr>
          <a:lstStyle/>
          <a:p>
            <a:pPr algn="ctr">
              <a:lnSpc>
                <a:spcPct val="108000"/>
              </a:lnSpc>
              <a:spcBef>
                <a:spcPts val="0"/>
              </a:spcBef>
              <a:spcAft>
                <a:spcPts val="0"/>
              </a:spcAft>
            </a:pPr>
            <a:r>
              <a:rPr sz="1220" b="1" i="0">
                <a:solidFill>
                  <a:srgbClr val="1A1A1A"/>
                </a:solidFill>
                <a:latin typeface="Aptos"/>
                <a:ea typeface="Aptos"/>
              </a:rPr>
              <a:t>Screen video</a:t>
            </a:r>
          </a:p>
        </p:txBody>
      </p:sp>
      <p:sp>
        <p:nvSpPr>
          <p:cNvPr id="25" name="Rounded Rectangle 24"/>
          <p:cNvSpPr/>
          <p:nvPr/>
        </p:nvSpPr>
        <p:spPr>
          <a:xfrm>
            <a:off x="4361688" y="3182112"/>
            <a:ext cx="1097280" cy="987552"/>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4840" y="3401568"/>
            <a:ext cx="950976" cy="457200"/>
          </a:xfrm>
          <a:prstGeom prst="rect">
            <a:avLst/>
          </a:prstGeom>
          <a:noFill/>
        </p:spPr>
        <p:txBody>
          <a:bodyPr wrap="square" lIns="0" rIns="0" tIns="0" bIns="0" anchor="ctr">
            <a:spAutoFit/>
          </a:bodyPr>
          <a:lstStyle/>
          <a:p>
            <a:pPr algn="ctr">
              <a:lnSpc>
                <a:spcPct val="108000"/>
              </a:lnSpc>
              <a:spcBef>
                <a:spcPts val="0"/>
              </a:spcBef>
              <a:spcAft>
                <a:spcPts val="0"/>
              </a:spcAft>
            </a:pPr>
            <a:r>
              <a:rPr sz="1220" b="1" i="0">
                <a:solidFill>
                  <a:srgbClr val="1A1A1A"/>
                </a:solidFill>
                <a:latin typeface="Aptos"/>
                <a:ea typeface="Aptos"/>
              </a:rPr>
              <a:t>Weak border</a:t>
            </a:r>
          </a:p>
        </p:txBody>
      </p:sp>
      <p:sp>
        <p:nvSpPr>
          <p:cNvPr id="27" name="Rounded Rectangle 26"/>
          <p:cNvSpPr/>
          <p:nvPr/>
        </p:nvSpPr>
        <p:spPr>
          <a:xfrm>
            <a:off x="5614416" y="3182112"/>
            <a:ext cx="1097280" cy="987552"/>
          </a:xfrm>
          <a:prstGeom prst="roundRect">
            <a:avLst>
              <a:gd name="adj" fmla="val 8000"/>
            </a:avLst>
          </a:prstGeom>
          <a:solidFill>
            <a:srgbClr val="FCEDEA"/>
          </a:solidFill>
          <a:ln w="1016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87568" y="3401568"/>
            <a:ext cx="950976" cy="457200"/>
          </a:xfrm>
          <a:prstGeom prst="rect">
            <a:avLst/>
          </a:prstGeom>
          <a:noFill/>
        </p:spPr>
        <p:txBody>
          <a:bodyPr wrap="square" lIns="0" rIns="0" tIns="0" bIns="0" anchor="ctr">
            <a:spAutoFit/>
          </a:bodyPr>
          <a:lstStyle/>
          <a:p>
            <a:pPr algn="ctr">
              <a:lnSpc>
                <a:spcPct val="108000"/>
              </a:lnSpc>
              <a:spcBef>
                <a:spcPts val="0"/>
              </a:spcBef>
              <a:spcAft>
                <a:spcPts val="0"/>
              </a:spcAft>
            </a:pPr>
            <a:r>
              <a:rPr sz="1220" b="1" i="0">
                <a:solidFill>
                  <a:srgbClr val="1A1A1A"/>
                </a:solidFill>
                <a:latin typeface="Aptos"/>
                <a:ea typeface="Aptos"/>
              </a:rPr>
              <a:t>Challenging</a:t>
            </a:r>
          </a:p>
        </p:txBody>
      </p:sp>
      <p:sp>
        <p:nvSpPr>
          <p:cNvPr id="29" name="Rounded Rectangle 28"/>
          <p:cNvSpPr/>
          <p:nvPr/>
        </p:nvSpPr>
        <p:spPr>
          <a:xfrm>
            <a:off x="603504" y="4434840"/>
            <a:ext cx="6217920" cy="1353312"/>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9536" y="4663440"/>
            <a:ext cx="1600200" cy="256032"/>
          </a:xfrm>
          <a:prstGeom prst="rect">
            <a:avLst/>
          </a:prstGeom>
          <a:noFill/>
        </p:spPr>
        <p:txBody>
          <a:bodyPr wrap="square" lIns="0" rIns="0" tIns="0" bIns="0" anchor="t">
            <a:spAutoFit/>
          </a:bodyPr>
          <a:lstStyle/>
          <a:p>
            <a:pPr algn="l">
              <a:lnSpc>
                <a:spcPct val="108000"/>
              </a:lnSpc>
              <a:spcBef>
                <a:spcPts val="0"/>
              </a:spcBef>
              <a:spcAft>
                <a:spcPts val="0"/>
              </a:spcAft>
            </a:pPr>
            <a:r>
              <a:rPr sz="1450" b="1" i="0">
                <a:solidFill>
                  <a:srgbClr val="1F57C4"/>
                </a:solidFill>
                <a:latin typeface="Aptos"/>
                <a:ea typeface="Aptos"/>
              </a:rPr>
              <a:t>Shared protocol</a:t>
            </a:r>
          </a:p>
        </p:txBody>
      </p:sp>
      <p:sp>
        <p:nvSpPr>
          <p:cNvPr id="31" name="TextBox 30"/>
          <p:cNvSpPr txBox="1"/>
          <p:nvPr/>
        </p:nvSpPr>
        <p:spPr>
          <a:xfrm>
            <a:off x="859536" y="5020056"/>
            <a:ext cx="5650992" cy="548640"/>
          </a:xfrm>
          <a:prstGeom prst="rect">
            <a:avLst/>
          </a:prstGeom>
          <a:noFill/>
        </p:spPr>
        <p:txBody>
          <a:bodyPr wrap="square" lIns="0" rIns="0" tIns="0" bIns="0" anchor="t">
            <a:spAutoFit/>
          </a:bodyPr>
          <a:lstStyle/>
          <a:p>
            <a:pPr algn="l">
              <a:lnSpc>
                <a:spcPct val="112000"/>
              </a:lnSpc>
              <a:spcBef>
                <a:spcPts val="0"/>
              </a:spcBef>
              <a:spcAft>
                <a:spcPts val="0"/>
              </a:spcAft>
            </a:pPr>
            <a:r>
              <a:rPr sz="1320" b="1" i="0">
                <a:solidFill>
                  <a:srgbClr val="1A1A1A"/>
                </a:solidFill>
                <a:latin typeface="Aptos"/>
                <a:ea typeface="Aptos"/>
              </a:rPr>
              <a:t>Same input · initialization · output canvas · annotations · encoder · metric code</a:t>
            </a:r>
          </a:p>
          <a:p>
            <a:pPr algn="l">
              <a:lnSpc>
                <a:spcPct val="112000"/>
              </a:lnSpc>
              <a:spcBef>
                <a:spcPts val="0"/>
              </a:spcBef>
              <a:spcAft>
                <a:spcPts val="0"/>
              </a:spcAft>
            </a:pPr>
            <a:r>
              <a:rPr sz="1320" b="1" i="0">
                <a:solidFill>
                  <a:srgbClr val="1A1A1A"/>
                </a:solidFill>
                <a:latin typeface="Aptos"/>
                <a:ea typeface="Aptos"/>
              </a:rPr>
              <a:t>Frame 0 supplies initialization and is excluded from geometry scoring.</a:t>
            </a:r>
          </a:p>
        </p:txBody>
      </p:sp>
      <p:sp>
        <p:nvSpPr>
          <p:cNvPr id="32" name="Rounded Rectangle 31"/>
          <p:cNvSpPr/>
          <p:nvPr/>
        </p:nvSpPr>
        <p:spPr>
          <a:xfrm>
            <a:off x="7095744" y="1399032"/>
            <a:ext cx="4498848" cy="4389120"/>
          </a:xfrm>
          <a:prstGeom prst="roundRect">
            <a:avLst>
              <a:gd name="adj" fmla="val 8000"/>
            </a:avLst>
          </a:prstGeom>
          <a:solidFill>
            <a:srgbClr val="1A1A1A"/>
          </a:solidFill>
          <a:ln w="1016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annotated_dataset_mosaic.jpg"/>
          <p:cNvPicPr>
            <a:picLocks noChangeAspect="1"/>
          </p:cNvPicPr>
          <p:nvPr/>
        </p:nvPicPr>
        <p:blipFill>
          <a:blip r:embed="rId2"/>
          <a:stretch>
            <a:fillRect/>
          </a:stretch>
        </p:blipFill>
        <p:spPr>
          <a:xfrm>
            <a:off x="7495029" y="1499616"/>
            <a:ext cx="3700277" cy="416966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METRICS</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3100" b="1" i="0">
                <a:solidFill>
                  <a:srgbClr val="1A1A1A"/>
                </a:solidFill>
                <a:latin typeface="Aptos"/>
                <a:ea typeface="Aptos"/>
              </a:rPr>
              <a:t>Accuracy, Stability, and Signal Preservation</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Section 4.2</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8</a:t>
            </a:r>
          </a:p>
        </p:txBody>
      </p:sp>
      <p:sp>
        <p:nvSpPr>
          <p:cNvPr id="9" name="Rounded Rectangle 8"/>
          <p:cNvSpPr/>
          <p:nvPr/>
        </p:nvSpPr>
        <p:spPr>
          <a:xfrm>
            <a:off x="603504" y="1444752"/>
            <a:ext cx="3246120" cy="4133087"/>
          </a:xfrm>
          <a:prstGeom prst="roundRect">
            <a:avLst>
              <a:gd name="adj" fmla="val 8000"/>
            </a:avLst>
          </a:prstGeom>
          <a:solidFill>
            <a:srgbClr val="E8EFFB"/>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719072"/>
            <a:ext cx="2807208" cy="310896"/>
          </a:xfrm>
          <a:prstGeom prst="rect">
            <a:avLst/>
          </a:prstGeom>
          <a:noFill/>
        </p:spPr>
        <p:txBody>
          <a:bodyPr wrap="square" lIns="0" rIns="0" tIns="0" bIns="0" anchor="t">
            <a:spAutoFit/>
          </a:bodyPr>
          <a:lstStyle/>
          <a:p>
            <a:pPr algn="ctr">
              <a:lnSpc>
                <a:spcPct val="108000"/>
              </a:lnSpc>
              <a:spcBef>
                <a:spcPts val="0"/>
              </a:spcBef>
              <a:spcAft>
                <a:spcPts val="0"/>
              </a:spcAft>
            </a:pPr>
            <a:r>
              <a:rPr sz="1500" b="1" i="0">
                <a:solidFill>
                  <a:srgbClr val="1F57C4"/>
                </a:solidFill>
                <a:latin typeface="Aptos"/>
                <a:ea typeface="Aptos"/>
              </a:rPr>
              <a:t>GEOMETRY</a:t>
            </a:r>
          </a:p>
        </p:txBody>
      </p:sp>
      <p:cxnSp>
        <p:nvCxnSpPr>
          <p:cNvPr id="11" name="Connector 10"/>
          <p:cNvCxnSpPr/>
          <p:nvPr/>
        </p:nvCxnSpPr>
        <p:spPr>
          <a:xfrm>
            <a:off x="859536" y="2212848"/>
            <a:ext cx="2734056" cy="0"/>
          </a:xfrm>
          <a:prstGeom prst="line">
            <a:avLst/>
          </a:prstGeom>
          <a:ln w="10160">
            <a:solidFill>
              <a:srgbClr val="D3DAE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77824" y="2596896"/>
            <a:ext cx="100584" cy="100584"/>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487168"/>
            <a:ext cx="2505456" cy="621792"/>
          </a:xfrm>
          <a:prstGeom prst="rect">
            <a:avLst/>
          </a:prstGeom>
          <a:noFill/>
        </p:spPr>
        <p:txBody>
          <a:bodyPr wrap="square" lIns="0" rIns="0" tIns="0" bIns="0" anchor="t">
            <a:spAutoFit/>
          </a:bodyPr>
          <a:lstStyle/>
          <a:p>
            <a:pPr algn="l">
              <a:lnSpc>
                <a:spcPct val="108000"/>
              </a:lnSpc>
              <a:spcBef>
                <a:spcPts val="0"/>
              </a:spcBef>
              <a:spcAft>
                <a:spcPts val="0"/>
              </a:spcAft>
            </a:pPr>
            <a:r>
              <a:rPr sz="1500" b="0" i="0">
                <a:solidFill>
                  <a:srgbClr val="1A1A1A"/>
                </a:solidFill>
                <a:latin typeface="Aptos"/>
                <a:ea typeface="Aptos"/>
              </a:rPr>
              <a:t>Corner RMSE ↓</a:t>
            </a:r>
          </a:p>
        </p:txBody>
      </p:sp>
      <p:sp>
        <p:nvSpPr>
          <p:cNvPr id="14" name="Oval 13"/>
          <p:cNvSpPr/>
          <p:nvPr/>
        </p:nvSpPr>
        <p:spPr>
          <a:xfrm>
            <a:off x="877824" y="3163824"/>
            <a:ext cx="100584" cy="100584"/>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054096"/>
            <a:ext cx="2505456" cy="621792"/>
          </a:xfrm>
          <a:prstGeom prst="rect">
            <a:avLst/>
          </a:prstGeom>
          <a:noFill/>
        </p:spPr>
        <p:txBody>
          <a:bodyPr wrap="square" lIns="0" rIns="0" tIns="0" bIns="0" anchor="t">
            <a:spAutoFit/>
          </a:bodyPr>
          <a:lstStyle/>
          <a:p>
            <a:pPr algn="l">
              <a:lnSpc>
                <a:spcPct val="108000"/>
              </a:lnSpc>
              <a:spcBef>
                <a:spcPts val="0"/>
              </a:spcBef>
              <a:spcAft>
                <a:spcPts val="0"/>
              </a:spcAft>
            </a:pPr>
            <a:r>
              <a:rPr sz="1500" b="0" i="0">
                <a:solidFill>
                  <a:srgbClr val="1A1A1A"/>
                </a:solidFill>
                <a:latin typeface="Aptos"/>
                <a:ea typeface="Aptos"/>
              </a:rPr>
              <a:t>Quadrilateral IoU ↑</a:t>
            </a:r>
          </a:p>
        </p:txBody>
      </p:sp>
      <p:sp>
        <p:nvSpPr>
          <p:cNvPr id="16" name="Oval 15"/>
          <p:cNvSpPr/>
          <p:nvPr/>
        </p:nvSpPr>
        <p:spPr>
          <a:xfrm>
            <a:off x="877824" y="3730752"/>
            <a:ext cx="100584" cy="100584"/>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621024"/>
            <a:ext cx="2505456" cy="621792"/>
          </a:xfrm>
          <a:prstGeom prst="rect">
            <a:avLst/>
          </a:prstGeom>
          <a:noFill/>
        </p:spPr>
        <p:txBody>
          <a:bodyPr wrap="square" lIns="0" rIns="0" tIns="0" bIns="0" anchor="t">
            <a:spAutoFit/>
          </a:bodyPr>
          <a:lstStyle/>
          <a:p>
            <a:pPr algn="l">
              <a:lnSpc>
                <a:spcPct val="108000"/>
              </a:lnSpc>
              <a:spcBef>
                <a:spcPts val="0"/>
              </a:spcBef>
              <a:spcAft>
                <a:spcPts val="0"/>
              </a:spcAft>
            </a:pPr>
            <a:r>
              <a:rPr sz="1500" b="0" i="0">
                <a:solidFill>
                  <a:srgbClr val="1A1A1A"/>
                </a:solidFill>
                <a:latin typeface="Aptos"/>
                <a:ea typeface="Aptos"/>
              </a:rPr>
              <a:t>Aspect-ratio error ↓</a:t>
            </a:r>
          </a:p>
        </p:txBody>
      </p:sp>
      <p:sp>
        <p:nvSpPr>
          <p:cNvPr id="18" name="TextBox 17"/>
          <p:cNvSpPr txBox="1"/>
          <p:nvPr/>
        </p:nvSpPr>
        <p:spPr>
          <a:xfrm>
            <a:off x="859536" y="4480560"/>
            <a:ext cx="2734056" cy="713232"/>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555B66"/>
                </a:solidFill>
                <a:latin typeface="Aptos"/>
                <a:ea typeface="Aptos"/>
              </a:rPr>
              <a:t>Is the estimated screen in the correct position and shape?</a:t>
            </a:r>
          </a:p>
        </p:txBody>
      </p:sp>
      <p:sp>
        <p:nvSpPr>
          <p:cNvPr id="19" name="Rounded Rectangle 18"/>
          <p:cNvSpPr/>
          <p:nvPr/>
        </p:nvSpPr>
        <p:spPr>
          <a:xfrm>
            <a:off x="4160520" y="1444752"/>
            <a:ext cx="3246120" cy="4133087"/>
          </a:xfrm>
          <a:prstGeom prst="roundRect">
            <a:avLst>
              <a:gd name="adj" fmla="val 8000"/>
            </a:avLst>
          </a:prstGeom>
          <a:solidFill>
            <a:srgbClr val="E6F3F1"/>
          </a:solidFill>
          <a:ln w="1016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79976" y="1719072"/>
            <a:ext cx="2807208" cy="310896"/>
          </a:xfrm>
          <a:prstGeom prst="rect">
            <a:avLst/>
          </a:prstGeom>
          <a:noFill/>
        </p:spPr>
        <p:txBody>
          <a:bodyPr wrap="square" lIns="0" rIns="0" tIns="0" bIns="0" anchor="t">
            <a:spAutoFit/>
          </a:bodyPr>
          <a:lstStyle/>
          <a:p>
            <a:pPr algn="ctr">
              <a:lnSpc>
                <a:spcPct val="108000"/>
              </a:lnSpc>
              <a:spcBef>
                <a:spcPts val="0"/>
              </a:spcBef>
              <a:spcAft>
                <a:spcPts val="0"/>
              </a:spcAft>
            </a:pPr>
            <a:r>
              <a:rPr sz="1500" b="1" i="0">
                <a:solidFill>
                  <a:srgbClr val="2E8579"/>
                </a:solidFill>
                <a:latin typeface="Aptos"/>
                <a:ea typeface="Aptos"/>
              </a:rPr>
              <a:t>TRAJECTORY</a:t>
            </a:r>
          </a:p>
        </p:txBody>
      </p:sp>
      <p:cxnSp>
        <p:nvCxnSpPr>
          <p:cNvPr id="21" name="Connector 20"/>
          <p:cNvCxnSpPr/>
          <p:nvPr/>
        </p:nvCxnSpPr>
        <p:spPr>
          <a:xfrm>
            <a:off x="4416552" y="2212848"/>
            <a:ext cx="2734056" cy="0"/>
          </a:xfrm>
          <a:prstGeom prst="line">
            <a:avLst/>
          </a:prstGeom>
          <a:ln w="10160">
            <a:solidFill>
              <a:srgbClr val="D3DAE6"/>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434840" y="2596896"/>
            <a:ext cx="100584" cy="100584"/>
          </a:xfrm>
          <a:prstGeom prst="ellipse">
            <a:avLst/>
          </a:prstGeom>
          <a:solidFill>
            <a:srgbClr val="2E8579"/>
          </a:solidFill>
          <a:ln>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54296" y="2487168"/>
            <a:ext cx="2505456" cy="621792"/>
          </a:xfrm>
          <a:prstGeom prst="rect">
            <a:avLst/>
          </a:prstGeom>
          <a:noFill/>
        </p:spPr>
        <p:txBody>
          <a:bodyPr wrap="square" lIns="0" rIns="0" tIns="0" bIns="0" anchor="t">
            <a:spAutoFit/>
          </a:bodyPr>
          <a:lstStyle/>
          <a:p>
            <a:pPr algn="l">
              <a:lnSpc>
                <a:spcPct val="108000"/>
              </a:lnSpc>
              <a:spcBef>
                <a:spcPts val="0"/>
              </a:spcBef>
              <a:spcAft>
                <a:spcPts val="0"/>
              </a:spcAft>
            </a:pPr>
            <a:r>
              <a:rPr sz="1500" b="0" i="0">
                <a:solidFill>
                  <a:srgbClr val="1A1A1A"/>
                </a:solidFill>
                <a:latin typeface="Aptos"/>
                <a:ea typeface="Aptos"/>
              </a:rPr>
              <a:t>Translation variation ↓</a:t>
            </a:r>
          </a:p>
        </p:txBody>
      </p:sp>
      <p:sp>
        <p:nvSpPr>
          <p:cNvPr id="24" name="Oval 23"/>
          <p:cNvSpPr/>
          <p:nvPr/>
        </p:nvSpPr>
        <p:spPr>
          <a:xfrm>
            <a:off x="4434840" y="3163824"/>
            <a:ext cx="100584" cy="100584"/>
          </a:xfrm>
          <a:prstGeom prst="ellipse">
            <a:avLst/>
          </a:prstGeom>
          <a:solidFill>
            <a:srgbClr val="2E8579"/>
          </a:solidFill>
          <a:ln>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54296" y="3054096"/>
            <a:ext cx="2505456" cy="621792"/>
          </a:xfrm>
          <a:prstGeom prst="rect">
            <a:avLst/>
          </a:prstGeom>
          <a:noFill/>
        </p:spPr>
        <p:txBody>
          <a:bodyPr wrap="square" lIns="0" rIns="0" tIns="0" bIns="0" anchor="t">
            <a:spAutoFit/>
          </a:bodyPr>
          <a:lstStyle/>
          <a:p>
            <a:pPr algn="l">
              <a:lnSpc>
                <a:spcPct val="108000"/>
              </a:lnSpc>
              <a:spcBef>
                <a:spcPts val="0"/>
              </a:spcBef>
              <a:spcAft>
                <a:spcPts val="0"/>
              </a:spcAft>
            </a:pPr>
            <a:r>
              <a:rPr sz="1500" b="0" i="0">
                <a:solidFill>
                  <a:srgbClr val="1A1A1A"/>
                </a:solidFill>
                <a:latin typeface="Aptos"/>
                <a:ea typeface="Aptos"/>
              </a:rPr>
              <a:t>Rotation variation ↓</a:t>
            </a:r>
          </a:p>
        </p:txBody>
      </p:sp>
      <p:sp>
        <p:nvSpPr>
          <p:cNvPr id="26" name="Oval 25"/>
          <p:cNvSpPr/>
          <p:nvPr/>
        </p:nvSpPr>
        <p:spPr>
          <a:xfrm>
            <a:off x="4434840" y="3730752"/>
            <a:ext cx="100584" cy="100584"/>
          </a:xfrm>
          <a:prstGeom prst="ellipse">
            <a:avLst/>
          </a:prstGeom>
          <a:solidFill>
            <a:srgbClr val="2E8579"/>
          </a:solidFill>
          <a:ln>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54296" y="3621024"/>
            <a:ext cx="2505456" cy="621792"/>
          </a:xfrm>
          <a:prstGeom prst="rect">
            <a:avLst/>
          </a:prstGeom>
          <a:noFill/>
        </p:spPr>
        <p:txBody>
          <a:bodyPr wrap="square" lIns="0" rIns="0" tIns="0" bIns="0" anchor="t">
            <a:spAutoFit/>
          </a:bodyPr>
          <a:lstStyle/>
          <a:p>
            <a:pPr algn="l">
              <a:lnSpc>
                <a:spcPct val="108000"/>
              </a:lnSpc>
              <a:spcBef>
                <a:spcPts val="0"/>
              </a:spcBef>
              <a:spcAft>
                <a:spcPts val="0"/>
              </a:spcAft>
            </a:pPr>
            <a:r>
              <a:rPr sz="1500" b="0" i="0">
                <a:solidFill>
                  <a:srgbClr val="1A1A1A"/>
                </a:solidFill>
                <a:latin typeface="Aptos"/>
                <a:ea typeface="Aptos"/>
              </a:rPr>
              <a:t>Scale variation ↓</a:t>
            </a:r>
          </a:p>
        </p:txBody>
      </p:sp>
      <p:sp>
        <p:nvSpPr>
          <p:cNvPr id="28" name="TextBox 27"/>
          <p:cNvSpPr txBox="1"/>
          <p:nvPr/>
        </p:nvSpPr>
        <p:spPr>
          <a:xfrm>
            <a:off x="4416552" y="4480560"/>
            <a:ext cx="2734056" cy="713232"/>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555B66"/>
                </a:solidFill>
                <a:latin typeface="Aptos"/>
                <a:ea typeface="Aptos"/>
              </a:rPr>
              <a:t>Does the estimated screen plane change smoothly over time?</a:t>
            </a:r>
          </a:p>
        </p:txBody>
      </p:sp>
      <p:sp>
        <p:nvSpPr>
          <p:cNvPr id="29" name="Rounded Rectangle 28"/>
          <p:cNvSpPr/>
          <p:nvPr/>
        </p:nvSpPr>
        <p:spPr>
          <a:xfrm>
            <a:off x="7717536" y="1444752"/>
            <a:ext cx="3246120" cy="4133087"/>
          </a:xfrm>
          <a:prstGeom prst="roundRect">
            <a:avLst>
              <a:gd name="adj" fmla="val 8000"/>
            </a:avLst>
          </a:prstGeom>
          <a:solidFill>
            <a:srgbClr val="FFF3E8"/>
          </a:solidFill>
          <a:ln w="10160">
            <a:solidFill>
              <a:srgbClr val="E97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36992" y="1719072"/>
            <a:ext cx="2807208" cy="310896"/>
          </a:xfrm>
          <a:prstGeom prst="rect">
            <a:avLst/>
          </a:prstGeom>
          <a:noFill/>
        </p:spPr>
        <p:txBody>
          <a:bodyPr wrap="square" lIns="0" rIns="0" tIns="0" bIns="0" anchor="t">
            <a:spAutoFit/>
          </a:bodyPr>
          <a:lstStyle/>
          <a:p>
            <a:pPr algn="ctr">
              <a:lnSpc>
                <a:spcPct val="108000"/>
              </a:lnSpc>
              <a:spcBef>
                <a:spcPts val="0"/>
              </a:spcBef>
              <a:spcAft>
                <a:spcPts val="0"/>
              </a:spcAft>
            </a:pPr>
            <a:r>
              <a:rPr sz="1500" b="1" i="0">
                <a:solidFill>
                  <a:srgbClr val="E97822"/>
                </a:solidFill>
                <a:latin typeface="Aptos"/>
                <a:ea typeface="Aptos"/>
              </a:rPr>
              <a:t>SIGNAL DIAGNOSTICS</a:t>
            </a:r>
          </a:p>
        </p:txBody>
      </p:sp>
      <p:cxnSp>
        <p:nvCxnSpPr>
          <p:cNvPr id="31" name="Connector 30"/>
          <p:cNvCxnSpPr/>
          <p:nvPr/>
        </p:nvCxnSpPr>
        <p:spPr>
          <a:xfrm>
            <a:off x="7973567" y="2212848"/>
            <a:ext cx="2734057" cy="0"/>
          </a:xfrm>
          <a:prstGeom prst="line">
            <a:avLst/>
          </a:prstGeom>
          <a:ln w="10160">
            <a:solidFill>
              <a:srgbClr val="D3DAE6"/>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7991856" y="2596896"/>
            <a:ext cx="100584" cy="100584"/>
          </a:xfrm>
          <a:prstGeom prst="ellipse">
            <a:avLst/>
          </a:prstGeom>
          <a:solidFill>
            <a:srgbClr val="E97822"/>
          </a:solidFill>
          <a:ln>
            <a:solidFill>
              <a:srgbClr val="E97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11312" y="2487168"/>
            <a:ext cx="2505456" cy="621792"/>
          </a:xfrm>
          <a:prstGeom prst="rect">
            <a:avLst/>
          </a:prstGeom>
          <a:noFill/>
        </p:spPr>
        <p:txBody>
          <a:bodyPr wrap="square" lIns="0" rIns="0" tIns="0" bIns="0" anchor="t">
            <a:spAutoFit/>
          </a:bodyPr>
          <a:lstStyle/>
          <a:p>
            <a:pPr algn="l">
              <a:lnSpc>
                <a:spcPct val="108000"/>
              </a:lnSpc>
              <a:spcBef>
                <a:spcPts val="0"/>
              </a:spcBef>
              <a:spcAft>
                <a:spcPts val="0"/>
              </a:spcAft>
            </a:pPr>
            <a:r>
              <a:rPr sz="1500" b="0" i="0">
                <a:solidFill>
                  <a:srgbClr val="1A1A1A"/>
                </a:solidFill>
                <a:latin typeface="Aptos"/>
                <a:ea typeface="Aptos"/>
              </a:rPr>
              <a:t>SSIM · gradient similarity · Edge F1</a:t>
            </a:r>
          </a:p>
        </p:txBody>
      </p:sp>
      <p:sp>
        <p:nvSpPr>
          <p:cNvPr id="34" name="Oval 33"/>
          <p:cNvSpPr/>
          <p:nvPr/>
        </p:nvSpPr>
        <p:spPr>
          <a:xfrm>
            <a:off x="7991856" y="3163824"/>
            <a:ext cx="100584" cy="100584"/>
          </a:xfrm>
          <a:prstGeom prst="ellipse">
            <a:avLst/>
          </a:prstGeom>
          <a:solidFill>
            <a:srgbClr val="E97822"/>
          </a:solidFill>
          <a:ln>
            <a:solidFill>
              <a:srgbClr val="E97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11312" y="3054096"/>
            <a:ext cx="2505456" cy="621792"/>
          </a:xfrm>
          <a:prstGeom prst="rect">
            <a:avLst/>
          </a:prstGeom>
          <a:noFill/>
        </p:spPr>
        <p:txBody>
          <a:bodyPr wrap="square" lIns="0" rIns="0" tIns="0" bIns="0" anchor="t">
            <a:spAutoFit/>
          </a:bodyPr>
          <a:lstStyle/>
          <a:p>
            <a:pPr algn="l">
              <a:lnSpc>
                <a:spcPct val="108000"/>
              </a:lnSpc>
              <a:spcBef>
                <a:spcPts val="0"/>
              </a:spcBef>
              <a:spcAft>
                <a:spcPts val="0"/>
              </a:spcAft>
            </a:pPr>
            <a:r>
              <a:rPr sz="1500" b="0" i="0">
                <a:solidFill>
                  <a:srgbClr val="1A1A1A"/>
                </a:solidFill>
                <a:latin typeface="Aptos"/>
                <a:ea typeface="Aptos"/>
              </a:rPr>
              <a:t>FFT and orientation similarity</a:t>
            </a:r>
          </a:p>
        </p:txBody>
      </p:sp>
      <p:sp>
        <p:nvSpPr>
          <p:cNvPr id="36" name="Oval 35"/>
          <p:cNvSpPr/>
          <p:nvPr/>
        </p:nvSpPr>
        <p:spPr>
          <a:xfrm>
            <a:off x="7991856" y="3730752"/>
            <a:ext cx="100584" cy="100584"/>
          </a:xfrm>
          <a:prstGeom prst="ellipse">
            <a:avLst/>
          </a:prstGeom>
          <a:solidFill>
            <a:srgbClr val="E97822"/>
          </a:solidFill>
          <a:ln>
            <a:solidFill>
              <a:srgbClr val="E97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11312" y="3621024"/>
            <a:ext cx="2505456" cy="621792"/>
          </a:xfrm>
          <a:prstGeom prst="rect">
            <a:avLst/>
          </a:prstGeom>
          <a:noFill/>
        </p:spPr>
        <p:txBody>
          <a:bodyPr wrap="square" lIns="0" rIns="0" tIns="0" bIns="0" anchor="t">
            <a:spAutoFit/>
          </a:bodyPr>
          <a:lstStyle/>
          <a:p>
            <a:pPr algn="l">
              <a:lnSpc>
                <a:spcPct val="108000"/>
              </a:lnSpc>
              <a:spcBef>
                <a:spcPts val="0"/>
              </a:spcBef>
              <a:spcAft>
                <a:spcPts val="0"/>
              </a:spcAft>
            </a:pPr>
            <a:r>
              <a:rPr sz="1500" b="0" i="0">
                <a:solidFill>
                  <a:srgbClr val="1A1A1A"/>
                </a:solidFill>
                <a:latin typeface="Aptos"/>
                <a:ea typeface="Aptos"/>
              </a:rPr>
              <a:t>High-frequency / band energy ratios</a:t>
            </a:r>
          </a:p>
        </p:txBody>
      </p:sp>
      <p:sp>
        <p:nvSpPr>
          <p:cNvPr id="38" name="TextBox 37"/>
          <p:cNvSpPr txBox="1"/>
          <p:nvPr/>
        </p:nvSpPr>
        <p:spPr>
          <a:xfrm>
            <a:off x="7973567" y="4480560"/>
            <a:ext cx="2734056" cy="713232"/>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555B66"/>
                </a:solidFill>
                <a:latin typeface="Aptos"/>
                <a:ea typeface="Aptos"/>
              </a:rPr>
              <a:t>Does rectification preserve the captured screen signal?</a:t>
            </a:r>
          </a:p>
        </p:txBody>
      </p:sp>
      <p:sp>
        <p:nvSpPr>
          <p:cNvPr id="39" name="Rounded Rectangle 38"/>
          <p:cNvSpPr/>
          <p:nvPr/>
        </p:nvSpPr>
        <p:spPr>
          <a:xfrm>
            <a:off x="603504" y="5760720"/>
            <a:ext cx="10991088" cy="429768"/>
          </a:xfrm>
          <a:prstGeom prst="roundRect">
            <a:avLst>
              <a:gd name="adj" fmla="val 8000"/>
            </a:avLst>
          </a:prstGeom>
          <a:solidFill>
            <a:srgbClr val="F4F6FA"/>
          </a:solidFill>
          <a:ln w="10160">
            <a:solidFill>
              <a:srgbClr val="F4F6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6384" y="5852160"/>
            <a:ext cx="10625328" cy="237744"/>
          </a:xfrm>
          <a:prstGeom prst="rect">
            <a:avLst/>
          </a:prstGeom>
          <a:noFill/>
        </p:spPr>
        <p:txBody>
          <a:bodyPr wrap="square" lIns="0" rIns="0" tIns="0" bIns="0" anchor="t">
            <a:spAutoFit/>
          </a:bodyPr>
          <a:lstStyle/>
          <a:p>
            <a:pPr algn="ctr">
              <a:lnSpc>
                <a:spcPct val="108000"/>
              </a:lnSpc>
              <a:spcBef>
                <a:spcPts val="0"/>
              </a:spcBef>
              <a:spcAft>
                <a:spcPts val="0"/>
              </a:spcAft>
            </a:pPr>
            <a:r>
              <a:rPr sz="1240" b="0" i="1">
                <a:solidFill>
                  <a:srgbClr val="555B66"/>
                </a:solidFill>
                <a:latin typeface="Aptos"/>
                <a:ea typeface="Aptos"/>
              </a:rPr>
              <a:t>Signal metrics are reference-based diagnostics on annotated frames; they do not measure demoiréing and are not primary ranking metrics.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OVERALL RESULTS</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850" b="1" i="0">
                <a:solidFill>
                  <a:srgbClr val="1A1A1A"/>
                </a:solidFill>
                <a:latin typeface="Aptos"/>
                <a:ea typeface="Aptos"/>
              </a:rPr>
              <a:t>The Border-Guided Method Is More Accurate and More Stable</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Figure 2</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9</a:t>
            </a:r>
          </a:p>
        </p:txBody>
      </p:sp>
      <p:sp>
        <p:nvSpPr>
          <p:cNvPr id="9" name="Rounded Rectangle 8"/>
          <p:cNvSpPr/>
          <p:nvPr/>
        </p:nvSpPr>
        <p:spPr>
          <a:xfrm>
            <a:off x="585216" y="1389888"/>
            <a:ext cx="8467344" cy="4599432"/>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02_overall_results.png"/>
          <p:cNvPicPr>
            <a:picLocks noChangeAspect="1"/>
          </p:cNvPicPr>
          <p:nvPr/>
        </p:nvPicPr>
        <p:blipFill>
          <a:blip r:embed="rId2"/>
          <a:stretch>
            <a:fillRect/>
          </a:stretch>
        </p:blipFill>
        <p:spPr>
          <a:xfrm>
            <a:off x="713232" y="2077575"/>
            <a:ext cx="8211312" cy="3214912"/>
          </a:xfrm>
          <a:prstGeom prst="rect">
            <a:avLst/>
          </a:prstGeom>
        </p:spPr>
      </p:pic>
      <p:sp>
        <p:nvSpPr>
          <p:cNvPr id="11" name="Rounded Rectangle 10"/>
          <p:cNvSpPr/>
          <p:nvPr/>
        </p:nvSpPr>
        <p:spPr>
          <a:xfrm>
            <a:off x="9290304" y="1417320"/>
            <a:ext cx="2304288" cy="1298448"/>
          </a:xfrm>
          <a:prstGeom prst="roundRect">
            <a:avLst>
              <a:gd name="adj" fmla="val 8000"/>
            </a:avLst>
          </a:prstGeom>
          <a:solidFill>
            <a:srgbClr val="E8EFFB"/>
          </a:solidFill>
          <a:ln w="1270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54896" y="1581912"/>
            <a:ext cx="1975104" cy="420624"/>
          </a:xfrm>
          <a:prstGeom prst="rect">
            <a:avLst/>
          </a:prstGeom>
          <a:noFill/>
        </p:spPr>
        <p:txBody>
          <a:bodyPr wrap="square" lIns="0" rIns="0" tIns="0" bIns="0" anchor="t">
            <a:spAutoFit/>
          </a:bodyPr>
          <a:lstStyle/>
          <a:p>
            <a:pPr algn="ctr">
              <a:lnSpc>
                <a:spcPct val="108000"/>
              </a:lnSpc>
              <a:spcBef>
                <a:spcPts val="0"/>
              </a:spcBef>
              <a:spcAft>
                <a:spcPts val="0"/>
              </a:spcAft>
            </a:pPr>
            <a:r>
              <a:rPr sz="2500" b="1" i="0">
                <a:solidFill>
                  <a:srgbClr val="1F57C4"/>
                </a:solidFill>
                <a:latin typeface="Aptos"/>
                <a:ea typeface="Aptos"/>
              </a:rPr>
              <a:t>3.87 px</a:t>
            </a:r>
          </a:p>
        </p:txBody>
      </p:sp>
      <p:sp>
        <p:nvSpPr>
          <p:cNvPr id="13" name="TextBox 12"/>
          <p:cNvSpPr txBox="1"/>
          <p:nvPr/>
        </p:nvSpPr>
        <p:spPr>
          <a:xfrm>
            <a:off x="9436608" y="2093976"/>
            <a:ext cx="2011680" cy="512063"/>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1A1A1A"/>
                </a:solidFill>
                <a:latin typeface="Aptos"/>
                <a:ea typeface="Aptos"/>
              </a:rPr>
              <a:t>Corner RMSE ↓</a:t>
            </a:r>
          </a:p>
        </p:txBody>
      </p:sp>
      <p:sp>
        <p:nvSpPr>
          <p:cNvPr id="14" name="Rounded Rectangle 13"/>
          <p:cNvSpPr/>
          <p:nvPr/>
        </p:nvSpPr>
        <p:spPr>
          <a:xfrm>
            <a:off x="9290304" y="2880360"/>
            <a:ext cx="2304288" cy="1298448"/>
          </a:xfrm>
          <a:prstGeom prst="roundRect">
            <a:avLst>
              <a:gd name="adj" fmla="val 8000"/>
            </a:avLst>
          </a:prstGeom>
          <a:solidFill>
            <a:srgbClr val="E6F3F1"/>
          </a:solidFill>
          <a:ln w="1270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54896" y="3044952"/>
            <a:ext cx="1975104" cy="420624"/>
          </a:xfrm>
          <a:prstGeom prst="rect">
            <a:avLst/>
          </a:prstGeom>
          <a:noFill/>
        </p:spPr>
        <p:txBody>
          <a:bodyPr wrap="square" lIns="0" rIns="0" tIns="0" bIns="0" anchor="t">
            <a:spAutoFit/>
          </a:bodyPr>
          <a:lstStyle/>
          <a:p>
            <a:pPr algn="ctr">
              <a:lnSpc>
                <a:spcPct val="108000"/>
              </a:lnSpc>
              <a:spcBef>
                <a:spcPts val="0"/>
              </a:spcBef>
              <a:spcAft>
                <a:spcPts val="0"/>
              </a:spcAft>
            </a:pPr>
            <a:r>
              <a:rPr sz="2500" b="1" i="0">
                <a:solidFill>
                  <a:srgbClr val="2E8579"/>
                </a:solidFill>
                <a:latin typeface="Aptos"/>
                <a:ea typeface="Aptos"/>
              </a:rPr>
              <a:t>0.996</a:t>
            </a:r>
          </a:p>
        </p:txBody>
      </p:sp>
      <p:sp>
        <p:nvSpPr>
          <p:cNvPr id="16" name="TextBox 15"/>
          <p:cNvSpPr txBox="1"/>
          <p:nvPr/>
        </p:nvSpPr>
        <p:spPr>
          <a:xfrm>
            <a:off x="9436608" y="3557015"/>
            <a:ext cx="2011680" cy="512063"/>
          </a:xfrm>
          <a:prstGeom prst="rect">
            <a:avLst/>
          </a:prstGeom>
          <a:noFill/>
        </p:spPr>
        <p:txBody>
          <a:bodyPr wrap="square" lIns="0" rIns="0" tIns="0" bIns="0" anchor="ctr">
            <a:spAutoFit/>
          </a:bodyPr>
          <a:lstStyle/>
          <a:p>
            <a:pPr algn="ctr">
              <a:lnSpc>
                <a:spcPct val="108000"/>
              </a:lnSpc>
              <a:spcBef>
                <a:spcPts val="0"/>
              </a:spcBef>
              <a:spcAft>
                <a:spcPts val="0"/>
              </a:spcAft>
            </a:pPr>
            <a:r>
              <a:rPr sz="1250" b="1" i="0">
                <a:solidFill>
                  <a:srgbClr val="1A1A1A"/>
                </a:solidFill>
                <a:latin typeface="Aptos"/>
                <a:ea typeface="Aptos"/>
              </a:rPr>
              <a:t>Quadrilateral IoU ↑</a:t>
            </a:r>
          </a:p>
        </p:txBody>
      </p:sp>
      <p:sp>
        <p:nvSpPr>
          <p:cNvPr id="17" name="Rounded Rectangle 16"/>
          <p:cNvSpPr/>
          <p:nvPr/>
        </p:nvSpPr>
        <p:spPr>
          <a:xfrm>
            <a:off x="9290304" y="4343400"/>
            <a:ext cx="2304288" cy="1298448"/>
          </a:xfrm>
          <a:prstGeom prst="roundRect">
            <a:avLst>
              <a:gd name="adj" fmla="val 8000"/>
            </a:avLst>
          </a:prstGeom>
          <a:solidFill>
            <a:srgbClr val="E8EFFB"/>
          </a:solidFill>
          <a:ln w="1270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54896" y="4507992"/>
            <a:ext cx="1975104" cy="420624"/>
          </a:xfrm>
          <a:prstGeom prst="rect">
            <a:avLst/>
          </a:prstGeom>
          <a:noFill/>
        </p:spPr>
        <p:txBody>
          <a:bodyPr wrap="square" lIns="0" rIns="0" tIns="0" bIns="0" anchor="t">
            <a:spAutoFit/>
          </a:bodyPr>
          <a:lstStyle/>
          <a:p>
            <a:pPr algn="ctr">
              <a:lnSpc>
                <a:spcPct val="108000"/>
              </a:lnSpc>
              <a:spcBef>
                <a:spcPts val="0"/>
              </a:spcBef>
              <a:spcAft>
                <a:spcPts val="0"/>
              </a:spcAft>
            </a:pPr>
            <a:r>
              <a:rPr sz="2500" b="1" i="0">
                <a:solidFill>
                  <a:srgbClr val="1F57C4"/>
                </a:solidFill>
                <a:latin typeface="Aptos"/>
                <a:ea typeface="Aptos"/>
              </a:rPr>
              <a:t>2.45</a:t>
            </a:r>
          </a:p>
        </p:txBody>
      </p:sp>
      <p:sp>
        <p:nvSpPr>
          <p:cNvPr id="19" name="TextBox 18"/>
          <p:cNvSpPr txBox="1"/>
          <p:nvPr/>
        </p:nvSpPr>
        <p:spPr>
          <a:xfrm>
            <a:off x="9436608" y="5020056"/>
            <a:ext cx="2011680" cy="512063"/>
          </a:xfrm>
          <a:prstGeom prst="rect">
            <a:avLst/>
          </a:prstGeom>
          <a:noFill/>
        </p:spPr>
        <p:txBody>
          <a:bodyPr wrap="square" lIns="0" rIns="0" tIns="0" bIns="0" anchor="ctr">
            <a:spAutoFit/>
          </a:bodyPr>
          <a:lstStyle/>
          <a:p>
            <a:pPr algn="ctr">
              <a:lnSpc>
                <a:spcPct val="108000"/>
              </a:lnSpc>
              <a:spcBef>
                <a:spcPts val="0"/>
              </a:spcBef>
              <a:spcAft>
                <a:spcPts val="0"/>
              </a:spcAft>
            </a:pPr>
            <a:r>
              <a:rPr sz="1150" b="1" i="0">
                <a:solidFill>
                  <a:srgbClr val="1A1A1A"/>
                </a:solidFill>
                <a:latin typeface="Aptos"/>
                <a:ea typeface="Aptos"/>
              </a:rPr>
              <a:t>px/frame translation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RESULTS BY CONDITION</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850" b="1" i="0">
                <a:solidFill>
                  <a:srgbClr val="1A1A1A"/>
                </a:solidFill>
                <a:latin typeface="Aptos"/>
                <a:ea typeface="Aptos"/>
              </a:rPr>
              <a:t>The Largest Gains Occur Under Scrolling and Weak Borders</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Figure 3</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10</a:t>
            </a:r>
          </a:p>
        </p:txBody>
      </p:sp>
      <p:sp>
        <p:nvSpPr>
          <p:cNvPr id="9" name="Rounded Rectangle 8"/>
          <p:cNvSpPr/>
          <p:nvPr/>
        </p:nvSpPr>
        <p:spPr>
          <a:xfrm>
            <a:off x="585216" y="1389888"/>
            <a:ext cx="8412480" cy="4599432"/>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03_category_results.png"/>
          <p:cNvPicPr>
            <a:picLocks noChangeAspect="1"/>
          </p:cNvPicPr>
          <p:nvPr/>
        </p:nvPicPr>
        <p:blipFill>
          <a:blip r:embed="rId2"/>
          <a:stretch>
            <a:fillRect/>
          </a:stretch>
        </p:blipFill>
        <p:spPr>
          <a:xfrm>
            <a:off x="713232" y="1752850"/>
            <a:ext cx="8156448" cy="3864363"/>
          </a:xfrm>
          <a:prstGeom prst="rect">
            <a:avLst/>
          </a:prstGeom>
        </p:spPr>
      </p:pic>
      <p:sp>
        <p:nvSpPr>
          <p:cNvPr id="11" name="Rounded Rectangle 10"/>
          <p:cNvSpPr/>
          <p:nvPr/>
        </p:nvSpPr>
        <p:spPr>
          <a:xfrm>
            <a:off x="9217152" y="1426464"/>
            <a:ext cx="2377440" cy="1371600"/>
          </a:xfrm>
          <a:prstGeom prst="roundRect">
            <a:avLst>
              <a:gd name="adj" fmla="val 8000"/>
            </a:avLst>
          </a:prstGeom>
          <a:solidFill>
            <a:srgbClr val="E8EFFB"/>
          </a:solidFill>
          <a:ln w="1270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81744" y="1591056"/>
            <a:ext cx="2048256" cy="420624"/>
          </a:xfrm>
          <a:prstGeom prst="rect">
            <a:avLst/>
          </a:prstGeom>
          <a:noFill/>
        </p:spPr>
        <p:txBody>
          <a:bodyPr wrap="square" lIns="0" rIns="0" tIns="0" bIns="0" anchor="t">
            <a:spAutoFit/>
          </a:bodyPr>
          <a:lstStyle/>
          <a:p>
            <a:pPr algn="ctr">
              <a:lnSpc>
                <a:spcPct val="108000"/>
              </a:lnSpc>
              <a:spcBef>
                <a:spcPts val="0"/>
              </a:spcBef>
              <a:spcAft>
                <a:spcPts val="0"/>
              </a:spcAft>
            </a:pPr>
            <a:r>
              <a:rPr sz="2400" b="1" i="0">
                <a:solidFill>
                  <a:srgbClr val="1F57C4"/>
                </a:solidFill>
                <a:latin typeface="Aptos"/>
                <a:ea typeface="Aptos"/>
              </a:rPr>
              <a:t>2.87 px</a:t>
            </a:r>
          </a:p>
        </p:txBody>
      </p:sp>
      <p:sp>
        <p:nvSpPr>
          <p:cNvPr id="13" name="TextBox 12"/>
          <p:cNvSpPr txBox="1"/>
          <p:nvPr/>
        </p:nvSpPr>
        <p:spPr>
          <a:xfrm>
            <a:off x="9363456" y="2103120"/>
            <a:ext cx="2084832" cy="585216"/>
          </a:xfrm>
          <a:prstGeom prst="rect">
            <a:avLst/>
          </a:prstGeom>
          <a:noFill/>
        </p:spPr>
        <p:txBody>
          <a:bodyPr wrap="square" lIns="0" rIns="0" tIns="0" bIns="0" anchor="ctr">
            <a:spAutoFit/>
          </a:bodyPr>
          <a:lstStyle/>
          <a:p>
            <a:pPr algn="ctr">
              <a:lnSpc>
                <a:spcPct val="108000"/>
              </a:lnSpc>
              <a:spcBef>
                <a:spcPts val="0"/>
              </a:spcBef>
              <a:spcAft>
                <a:spcPts val="0"/>
              </a:spcAft>
            </a:pPr>
            <a:r>
              <a:rPr sz="1150" b="1" i="0">
                <a:solidFill>
                  <a:srgbClr val="1A1A1A"/>
                </a:solidFill>
                <a:latin typeface="Aptos"/>
                <a:ea typeface="Aptos"/>
              </a:rPr>
              <a:t>Scrolling RMSE</a:t>
            </a:r>
          </a:p>
          <a:p>
            <a:pPr algn="ctr">
              <a:lnSpc>
                <a:spcPct val="108000"/>
              </a:lnSpc>
              <a:spcBef>
                <a:spcPts val="0"/>
              </a:spcBef>
              <a:spcAft>
                <a:spcPts val="0"/>
              </a:spcAft>
            </a:pPr>
            <a:r>
              <a:rPr sz="1150" b="1" i="0">
                <a:solidFill>
                  <a:srgbClr val="1A1A1A"/>
                </a:solidFill>
                <a:latin typeface="Aptos"/>
                <a:ea typeface="Aptos"/>
              </a:rPr>
              <a:t>31.76 frame-wise · 81.67 flow</a:t>
            </a:r>
          </a:p>
        </p:txBody>
      </p:sp>
      <p:sp>
        <p:nvSpPr>
          <p:cNvPr id="14" name="Rounded Rectangle 13"/>
          <p:cNvSpPr/>
          <p:nvPr/>
        </p:nvSpPr>
        <p:spPr>
          <a:xfrm>
            <a:off x="9217152" y="2962656"/>
            <a:ext cx="2377440" cy="1371600"/>
          </a:xfrm>
          <a:prstGeom prst="roundRect">
            <a:avLst>
              <a:gd name="adj" fmla="val 8000"/>
            </a:avLst>
          </a:prstGeom>
          <a:solidFill>
            <a:srgbClr val="E6F3F1"/>
          </a:solidFill>
          <a:ln w="1270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81744" y="3127248"/>
            <a:ext cx="2048256" cy="420624"/>
          </a:xfrm>
          <a:prstGeom prst="rect">
            <a:avLst/>
          </a:prstGeom>
          <a:noFill/>
        </p:spPr>
        <p:txBody>
          <a:bodyPr wrap="square" lIns="0" rIns="0" tIns="0" bIns="0" anchor="t">
            <a:spAutoFit/>
          </a:bodyPr>
          <a:lstStyle/>
          <a:p>
            <a:pPr algn="ctr">
              <a:lnSpc>
                <a:spcPct val="108000"/>
              </a:lnSpc>
              <a:spcBef>
                <a:spcPts val="0"/>
              </a:spcBef>
              <a:spcAft>
                <a:spcPts val="0"/>
              </a:spcAft>
            </a:pPr>
            <a:r>
              <a:rPr sz="2400" b="1" i="0">
                <a:solidFill>
                  <a:srgbClr val="2E8579"/>
                </a:solidFill>
                <a:latin typeface="Aptos"/>
                <a:ea typeface="Aptos"/>
              </a:rPr>
              <a:t>9.35 px</a:t>
            </a:r>
          </a:p>
        </p:txBody>
      </p:sp>
      <p:sp>
        <p:nvSpPr>
          <p:cNvPr id="16" name="TextBox 15"/>
          <p:cNvSpPr txBox="1"/>
          <p:nvPr/>
        </p:nvSpPr>
        <p:spPr>
          <a:xfrm>
            <a:off x="9363456" y="3639312"/>
            <a:ext cx="2084832" cy="585216"/>
          </a:xfrm>
          <a:prstGeom prst="rect">
            <a:avLst/>
          </a:prstGeom>
          <a:noFill/>
        </p:spPr>
        <p:txBody>
          <a:bodyPr wrap="square" lIns="0" rIns="0" tIns="0" bIns="0" anchor="ctr">
            <a:spAutoFit/>
          </a:bodyPr>
          <a:lstStyle/>
          <a:p>
            <a:pPr algn="ctr">
              <a:lnSpc>
                <a:spcPct val="108000"/>
              </a:lnSpc>
              <a:spcBef>
                <a:spcPts val="0"/>
              </a:spcBef>
              <a:spcAft>
                <a:spcPts val="0"/>
              </a:spcAft>
            </a:pPr>
            <a:r>
              <a:rPr sz="1150" b="1" i="0">
                <a:solidFill>
                  <a:srgbClr val="1A1A1A"/>
                </a:solidFill>
                <a:latin typeface="Aptos"/>
                <a:ea typeface="Aptos"/>
              </a:rPr>
              <a:t>Weak-border RMSE</a:t>
            </a:r>
          </a:p>
          <a:p>
            <a:pPr algn="ctr">
              <a:lnSpc>
                <a:spcPct val="108000"/>
              </a:lnSpc>
              <a:spcBef>
                <a:spcPts val="0"/>
              </a:spcBef>
              <a:spcAft>
                <a:spcPts val="0"/>
              </a:spcAft>
            </a:pPr>
            <a:r>
              <a:rPr sz="1150" b="1" i="0">
                <a:solidFill>
                  <a:srgbClr val="1A1A1A"/>
                </a:solidFill>
                <a:latin typeface="Aptos"/>
                <a:ea typeface="Aptos"/>
              </a:rPr>
              <a:t>Both comparisons &gt;155 px</a:t>
            </a:r>
          </a:p>
        </p:txBody>
      </p:sp>
      <p:sp>
        <p:nvSpPr>
          <p:cNvPr id="17" name="Rounded Rectangle 16"/>
          <p:cNvSpPr/>
          <p:nvPr/>
        </p:nvSpPr>
        <p:spPr>
          <a:xfrm>
            <a:off x="9217152" y="4480560"/>
            <a:ext cx="2377440" cy="1417320"/>
          </a:xfrm>
          <a:prstGeom prst="roundRect">
            <a:avLst>
              <a:gd name="adj" fmla="val 8000"/>
            </a:avLst>
          </a:prstGeom>
          <a:solidFill>
            <a:srgbClr val="FCEDEA"/>
          </a:solidFill>
          <a:ln w="1016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0" y="4663440"/>
            <a:ext cx="1975104" cy="228600"/>
          </a:xfrm>
          <a:prstGeom prst="rect">
            <a:avLst/>
          </a:prstGeom>
          <a:noFill/>
        </p:spPr>
        <p:txBody>
          <a:bodyPr wrap="square" lIns="0" rIns="0" tIns="0" bIns="0" anchor="t">
            <a:spAutoFit/>
          </a:bodyPr>
          <a:lstStyle/>
          <a:p>
            <a:pPr algn="ctr">
              <a:lnSpc>
                <a:spcPct val="108000"/>
              </a:lnSpc>
              <a:spcBef>
                <a:spcPts val="0"/>
              </a:spcBef>
              <a:spcAft>
                <a:spcPts val="0"/>
              </a:spcAft>
            </a:pPr>
            <a:r>
              <a:rPr sz="1200" b="1" i="0">
                <a:solidFill>
                  <a:srgbClr val="C43D2E"/>
                </a:solidFill>
                <a:latin typeface="Aptos"/>
                <a:ea typeface="Aptos"/>
              </a:rPr>
              <a:t>LIMIT</a:t>
            </a:r>
          </a:p>
        </p:txBody>
      </p:sp>
      <p:sp>
        <p:nvSpPr>
          <p:cNvPr id="19" name="TextBox 18"/>
          <p:cNvSpPr txBox="1"/>
          <p:nvPr/>
        </p:nvSpPr>
        <p:spPr>
          <a:xfrm>
            <a:off x="9418320" y="4974336"/>
            <a:ext cx="1975104" cy="749808"/>
          </a:xfrm>
          <a:prstGeom prst="rect">
            <a:avLst/>
          </a:prstGeom>
          <a:noFill/>
        </p:spPr>
        <p:txBody>
          <a:bodyPr wrap="square" lIns="0" rIns="0" tIns="0" bIns="0" anchor="t">
            <a:spAutoFit/>
          </a:bodyPr>
          <a:lstStyle/>
          <a:p>
            <a:pPr algn="ctr">
              <a:lnSpc>
                <a:spcPct val="108000"/>
              </a:lnSpc>
              <a:spcBef>
                <a:spcPts val="0"/>
              </a:spcBef>
              <a:spcAft>
                <a:spcPts val="0"/>
              </a:spcAft>
            </a:pPr>
            <a:r>
              <a:rPr sz="1100" b="1" i="0">
                <a:solidFill>
                  <a:srgbClr val="1A1A1A"/>
                </a:solidFill>
                <a:latin typeface="Aptos"/>
                <a:ea typeface="Aptos"/>
              </a:rPr>
              <a:t>Challenging scenes: geometry is slightly worse than frame-wise detection, but the trajectory is more stable.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PER-CLIP CONSISTENCY</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950" b="1" i="0">
                <a:solidFill>
                  <a:srgbClr val="1A1A1A"/>
                </a:solidFill>
                <a:latin typeface="Aptos"/>
                <a:ea typeface="Aptos"/>
              </a:rPr>
              <a:t>The Method Does Not Rely on Freezing the Trajectory</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Figure 4</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11</a:t>
            </a:r>
          </a:p>
        </p:txBody>
      </p:sp>
      <p:sp>
        <p:nvSpPr>
          <p:cNvPr id="9" name="Rounded Rectangle 8"/>
          <p:cNvSpPr/>
          <p:nvPr/>
        </p:nvSpPr>
        <p:spPr>
          <a:xfrm>
            <a:off x="585216" y="1389888"/>
            <a:ext cx="11009376" cy="4233672"/>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04_proposed_clip_results.png"/>
          <p:cNvPicPr>
            <a:picLocks noChangeAspect="1"/>
          </p:cNvPicPr>
          <p:nvPr/>
        </p:nvPicPr>
        <p:blipFill>
          <a:blip r:embed="rId2"/>
          <a:stretch>
            <a:fillRect/>
          </a:stretch>
        </p:blipFill>
        <p:spPr>
          <a:xfrm>
            <a:off x="2838641" y="1508760"/>
            <a:ext cx="6502524" cy="3968496"/>
          </a:xfrm>
          <a:prstGeom prst="rect">
            <a:avLst/>
          </a:prstGeom>
        </p:spPr>
      </p:pic>
      <p:sp>
        <p:nvSpPr>
          <p:cNvPr id="11" name="Rounded Rectangle 10"/>
          <p:cNvSpPr/>
          <p:nvPr/>
        </p:nvSpPr>
        <p:spPr>
          <a:xfrm>
            <a:off x="658368" y="5733288"/>
            <a:ext cx="3246120" cy="457200"/>
          </a:xfrm>
          <a:prstGeom prst="roundRect">
            <a:avLst>
              <a:gd name="adj" fmla="val 8000"/>
            </a:avLst>
          </a:prstGeom>
          <a:solidFill>
            <a:srgbClr val="F4F6FA"/>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815584"/>
            <a:ext cx="2880360" cy="256032"/>
          </a:xfrm>
          <a:prstGeom prst="rect">
            <a:avLst/>
          </a:prstGeom>
          <a:noFill/>
        </p:spPr>
        <p:txBody>
          <a:bodyPr wrap="square" lIns="0" rIns="0" tIns="0" bIns="0" anchor="t">
            <a:spAutoFit/>
          </a:bodyPr>
          <a:lstStyle/>
          <a:p>
            <a:pPr algn="ctr">
              <a:spcBef>
                <a:spcPts val="0"/>
              </a:spcBef>
              <a:spcAft>
                <a:spcPts val="0"/>
              </a:spcAft>
            </a:pPr>
            <a:r>
              <a:rPr sz="1700" b="1" i="0">
                <a:solidFill>
                  <a:srgbClr val="1F57C4"/>
                </a:solidFill>
                <a:latin typeface="Aptos"/>
                <a:ea typeface="Aptos"/>
              </a:rPr>
              <a:t>7 / 10</a:t>
            </a:r>
            <a:r>
              <a:rPr sz="1300" b="1" i="0">
                <a:solidFill>
                  <a:srgbClr val="1A1A1A"/>
                </a:solidFill>
                <a:latin typeface="Aptos"/>
                <a:ea typeface="Aptos"/>
              </a:rPr>
              <a:t>   clips below 5 px RMSE</a:t>
            </a:r>
          </a:p>
        </p:txBody>
      </p:sp>
      <p:sp>
        <p:nvSpPr>
          <p:cNvPr id="13" name="Rounded Rectangle 12"/>
          <p:cNvSpPr/>
          <p:nvPr/>
        </p:nvSpPr>
        <p:spPr>
          <a:xfrm>
            <a:off x="4169663" y="5733288"/>
            <a:ext cx="3246120" cy="457200"/>
          </a:xfrm>
          <a:prstGeom prst="roundRect">
            <a:avLst>
              <a:gd name="adj" fmla="val 8000"/>
            </a:avLst>
          </a:prstGeom>
          <a:solidFill>
            <a:srgbClr val="F4F6FA"/>
          </a:solidFill>
          <a:ln w="1016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52544" y="5815584"/>
            <a:ext cx="2880360" cy="256032"/>
          </a:xfrm>
          <a:prstGeom prst="rect">
            <a:avLst/>
          </a:prstGeom>
          <a:noFill/>
        </p:spPr>
        <p:txBody>
          <a:bodyPr wrap="square" lIns="0" rIns="0" tIns="0" bIns="0" anchor="t">
            <a:spAutoFit/>
          </a:bodyPr>
          <a:lstStyle/>
          <a:p>
            <a:pPr algn="ctr">
              <a:spcBef>
                <a:spcPts val="0"/>
              </a:spcBef>
              <a:spcAft>
                <a:spcPts val="0"/>
              </a:spcAft>
            </a:pPr>
            <a:r>
              <a:rPr sz="1700" b="1" i="0">
                <a:solidFill>
                  <a:srgbClr val="2E8579"/>
                </a:solidFill>
                <a:latin typeface="Aptos"/>
                <a:ea typeface="Aptos"/>
              </a:rPr>
              <a:t>10 / 10</a:t>
            </a:r>
            <a:r>
              <a:rPr sz="1300" b="1" i="0">
                <a:solidFill>
                  <a:srgbClr val="1A1A1A"/>
                </a:solidFill>
                <a:latin typeface="Aptos"/>
                <a:ea typeface="Aptos"/>
              </a:rPr>
              <a:t>   clips below 15 px RMSE</a:t>
            </a:r>
          </a:p>
        </p:txBody>
      </p:sp>
      <p:sp>
        <p:nvSpPr>
          <p:cNvPr id="15" name="Rounded Rectangle 14"/>
          <p:cNvSpPr/>
          <p:nvPr/>
        </p:nvSpPr>
        <p:spPr>
          <a:xfrm>
            <a:off x="7680960" y="5733288"/>
            <a:ext cx="3246120" cy="457200"/>
          </a:xfrm>
          <a:prstGeom prst="roundRect">
            <a:avLst>
              <a:gd name="adj" fmla="val 8000"/>
            </a:avLst>
          </a:prstGeom>
          <a:solidFill>
            <a:srgbClr val="F4F6FA"/>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5815584"/>
            <a:ext cx="2880360" cy="256032"/>
          </a:xfrm>
          <a:prstGeom prst="rect">
            <a:avLst/>
          </a:prstGeom>
          <a:noFill/>
        </p:spPr>
        <p:txBody>
          <a:bodyPr wrap="square" lIns="0" rIns="0" tIns="0" bIns="0" anchor="t">
            <a:spAutoFit/>
          </a:bodyPr>
          <a:lstStyle/>
          <a:p>
            <a:pPr algn="ctr">
              <a:spcBef>
                <a:spcPts val="0"/>
              </a:spcBef>
              <a:spcAft>
                <a:spcPts val="0"/>
              </a:spcAft>
            </a:pPr>
            <a:r>
              <a:rPr sz="1700" b="1" i="0">
                <a:solidFill>
                  <a:srgbClr val="1F57C4"/>
                </a:solidFill>
                <a:latin typeface="Aptos"/>
                <a:ea typeface="Aptos"/>
              </a:rPr>
              <a:t>0</a:t>
            </a:r>
            <a:r>
              <a:rPr sz="1300" b="1" i="0">
                <a:solidFill>
                  <a:srgbClr val="1A1A1A"/>
                </a:solidFill>
                <a:latin typeface="Aptos"/>
                <a:ea typeface="Aptos"/>
              </a:rPr>
              <a:t>   held frames in the evaluated run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QUALITATIVE COMPARISON</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950" b="1" i="0">
                <a:solidFill>
                  <a:srgbClr val="1A1A1A"/>
                </a:solidFill>
                <a:latin typeface="Aptos"/>
                <a:ea typeface="Aptos"/>
              </a:rPr>
              <a:t>The Screen Extent Is Preserved Under Content Motion</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Figure 5</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12</a:t>
            </a:r>
          </a:p>
        </p:txBody>
      </p:sp>
      <p:sp>
        <p:nvSpPr>
          <p:cNvPr id="9" name="TextBox 8"/>
          <p:cNvSpPr txBox="1"/>
          <p:nvPr/>
        </p:nvSpPr>
        <p:spPr>
          <a:xfrm>
            <a:off x="658368" y="1362456"/>
            <a:ext cx="2011680" cy="256032"/>
          </a:xfrm>
          <a:prstGeom prst="rect">
            <a:avLst/>
          </a:prstGeom>
          <a:noFill/>
        </p:spPr>
        <p:txBody>
          <a:bodyPr wrap="square" lIns="0" rIns="0" tIns="0" bIns="0" anchor="t">
            <a:spAutoFit/>
          </a:bodyPr>
          <a:lstStyle/>
          <a:p>
            <a:pPr algn="l">
              <a:lnSpc>
                <a:spcPct val="108000"/>
              </a:lnSpc>
              <a:spcBef>
                <a:spcPts val="0"/>
              </a:spcBef>
              <a:spcAft>
                <a:spcPts val="0"/>
              </a:spcAft>
            </a:pPr>
            <a:r>
              <a:rPr sz="1550" b="1" i="0">
                <a:solidFill>
                  <a:srgbClr val="1F57C4"/>
                </a:solidFill>
                <a:latin typeface="Aptos"/>
                <a:ea typeface="Aptos"/>
              </a:rPr>
              <a:t>Scrolling page</a:t>
            </a:r>
          </a:p>
        </p:txBody>
      </p:sp>
      <p:sp>
        <p:nvSpPr>
          <p:cNvPr id="10" name="Rounded Rectangle 9"/>
          <p:cNvSpPr/>
          <p:nvPr/>
        </p:nvSpPr>
        <p:spPr>
          <a:xfrm>
            <a:off x="603504" y="1682496"/>
            <a:ext cx="10991088" cy="1956816"/>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ure_05_qualitative.png"/>
          <p:cNvPicPr>
            <a:picLocks noChangeAspect="1"/>
          </p:cNvPicPr>
          <p:nvPr/>
        </p:nvPicPr>
        <p:blipFill>
          <a:blip r:embed="rId2"/>
          <a:srcRect t="20500" b="61500"/>
          <a:stretch>
            <a:fillRect/>
          </a:stretch>
        </p:blipFill>
        <p:spPr>
          <a:xfrm>
            <a:off x="749808" y="1810512"/>
            <a:ext cx="10698480" cy="1682496"/>
          </a:xfrm>
          <a:prstGeom prst="rect">
            <a:avLst/>
          </a:prstGeom>
        </p:spPr>
      </p:pic>
      <p:sp>
        <p:nvSpPr>
          <p:cNvPr id="12" name="TextBox 11"/>
          <p:cNvSpPr txBox="1"/>
          <p:nvPr/>
        </p:nvSpPr>
        <p:spPr>
          <a:xfrm>
            <a:off x="658368" y="3849624"/>
            <a:ext cx="2286000" cy="256032"/>
          </a:xfrm>
          <a:prstGeom prst="rect">
            <a:avLst/>
          </a:prstGeom>
          <a:noFill/>
        </p:spPr>
        <p:txBody>
          <a:bodyPr wrap="square" lIns="0" rIns="0" tIns="0" bIns="0" anchor="t">
            <a:spAutoFit/>
          </a:bodyPr>
          <a:lstStyle/>
          <a:p>
            <a:pPr algn="l">
              <a:lnSpc>
                <a:spcPct val="108000"/>
              </a:lnSpc>
              <a:spcBef>
                <a:spcPts val="0"/>
              </a:spcBef>
              <a:spcAft>
                <a:spcPts val="0"/>
              </a:spcAft>
            </a:pPr>
            <a:r>
              <a:rPr sz="1550" b="1" i="0">
                <a:solidFill>
                  <a:srgbClr val="2E8579"/>
                </a:solidFill>
                <a:latin typeface="Aptos"/>
                <a:ea typeface="Aptos"/>
              </a:rPr>
              <a:t>Weak-border example</a:t>
            </a:r>
          </a:p>
        </p:txBody>
      </p:sp>
      <p:sp>
        <p:nvSpPr>
          <p:cNvPr id="13" name="Rounded Rectangle 12"/>
          <p:cNvSpPr/>
          <p:nvPr/>
        </p:nvSpPr>
        <p:spPr>
          <a:xfrm>
            <a:off x="603504" y="4169663"/>
            <a:ext cx="10991088" cy="1901952"/>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ure_05_qualitative.png"/>
          <p:cNvPicPr>
            <a:picLocks noChangeAspect="1"/>
          </p:cNvPicPr>
          <p:nvPr/>
        </p:nvPicPr>
        <p:blipFill>
          <a:blip r:embed="rId2"/>
          <a:srcRect t="63500" b="16500"/>
          <a:stretch>
            <a:fillRect/>
          </a:stretch>
        </p:blipFill>
        <p:spPr>
          <a:xfrm>
            <a:off x="749808" y="4297680"/>
            <a:ext cx="10698480" cy="160934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SIGNAL PRESERVATION</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900" b="1" i="0">
                <a:solidFill>
                  <a:srgbClr val="1A1A1A"/>
                </a:solidFill>
                <a:latin typeface="Aptos"/>
                <a:ea typeface="Aptos"/>
              </a:rPr>
              <a:t>Rectification Preserves Local and Frequency Structure</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Figure 6</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13</a:t>
            </a:r>
          </a:p>
        </p:txBody>
      </p:sp>
      <p:sp>
        <p:nvSpPr>
          <p:cNvPr id="9" name="Rounded Rectangle 8"/>
          <p:cNvSpPr/>
          <p:nvPr/>
        </p:nvSpPr>
        <p:spPr>
          <a:xfrm>
            <a:off x="585216" y="1389888"/>
            <a:ext cx="8613648" cy="4626864"/>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06_signal_preservation.png"/>
          <p:cNvPicPr>
            <a:picLocks noChangeAspect="1"/>
          </p:cNvPicPr>
          <p:nvPr/>
        </p:nvPicPr>
        <p:blipFill>
          <a:blip r:embed="rId2"/>
          <a:stretch>
            <a:fillRect/>
          </a:stretch>
        </p:blipFill>
        <p:spPr>
          <a:xfrm>
            <a:off x="1709223" y="1517904"/>
            <a:ext cx="6365633" cy="4370832"/>
          </a:xfrm>
          <a:prstGeom prst="rect">
            <a:avLst/>
          </a:prstGeom>
        </p:spPr>
      </p:pic>
      <p:sp>
        <p:nvSpPr>
          <p:cNvPr id="11" name="Rounded Rectangle 10"/>
          <p:cNvSpPr/>
          <p:nvPr/>
        </p:nvSpPr>
        <p:spPr>
          <a:xfrm>
            <a:off x="9418320" y="1417320"/>
            <a:ext cx="2176272" cy="1133856"/>
          </a:xfrm>
          <a:prstGeom prst="roundRect">
            <a:avLst>
              <a:gd name="adj" fmla="val 8000"/>
            </a:avLst>
          </a:prstGeom>
          <a:solidFill>
            <a:srgbClr val="E6F3F1"/>
          </a:solidFill>
          <a:ln w="1270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82912" y="1581912"/>
            <a:ext cx="1847088" cy="420624"/>
          </a:xfrm>
          <a:prstGeom prst="rect">
            <a:avLst/>
          </a:prstGeom>
          <a:noFill/>
        </p:spPr>
        <p:txBody>
          <a:bodyPr wrap="square" lIns="0" rIns="0" tIns="0" bIns="0" anchor="t">
            <a:spAutoFit/>
          </a:bodyPr>
          <a:lstStyle/>
          <a:p>
            <a:pPr algn="ctr">
              <a:lnSpc>
                <a:spcPct val="108000"/>
              </a:lnSpc>
              <a:spcBef>
                <a:spcPts val="0"/>
              </a:spcBef>
              <a:spcAft>
                <a:spcPts val="0"/>
              </a:spcAft>
            </a:pPr>
            <a:r>
              <a:rPr sz="2400" b="1" i="0">
                <a:solidFill>
                  <a:srgbClr val="2E8579"/>
                </a:solidFill>
                <a:latin typeface="Aptos"/>
                <a:ea typeface="Aptos"/>
              </a:rPr>
              <a:t>0.890</a:t>
            </a:r>
          </a:p>
        </p:txBody>
      </p:sp>
      <p:sp>
        <p:nvSpPr>
          <p:cNvPr id="13" name="TextBox 12"/>
          <p:cNvSpPr txBox="1"/>
          <p:nvPr/>
        </p:nvSpPr>
        <p:spPr>
          <a:xfrm>
            <a:off x="9564624" y="2093976"/>
            <a:ext cx="1883664" cy="347472"/>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1A1A1A"/>
                </a:solidFill>
                <a:latin typeface="Aptos"/>
                <a:ea typeface="Aptos"/>
              </a:rPr>
              <a:t>SSIM</a:t>
            </a:r>
          </a:p>
        </p:txBody>
      </p:sp>
      <p:sp>
        <p:nvSpPr>
          <p:cNvPr id="14" name="Rounded Rectangle 13"/>
          <p:cNvSpPr/>
          <p:nvPr/>
        </p:nvSpPr>
        <p:spPr>
          <a:xfrm>
            <a:off x="9418320" y="2706624"/>
            <a:ext cx="2176272" cy="1133856"/>
          </a:xfrm>
          <a:prstGeom prst="roundRect">
            <a:avLst>
              <a:gd name="adj" fmla="val 8000"/>
            </a:avLst>
          </a:prstGeom>
          <a:solidFill>
            <a:srgbClr val="E6F3F1"/>
          </a:solidFill>
          <a:ln w="1270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82912" y="2871216"/>
            <a:ext cx="1847088" cy="420624"/>
          </a:xfrm>
          <a:prstGeom prst="rect">
            <a:avLst/>
          </a:prstGeom>
          <a:noFill/>
        </p:spPr>
        <p:txBody>
          <a:bodyPr wrap="square" lIns="0" rIns="0" tIns="0" bIns="0" anchor="t">
            <a:spAutoFit/>
          </a:bodyPr>
          <a:lstStyle/>
          <a:p>
            <a:pPr algn="ctr">
              <a:lnSpc>
                <a:spcPct val="108000"/>
              </a:lnSpc>
              <a:spcBef>
                <a:spcPts val="0"/>
              </a:spcBef>
              <a:spcAft>
                <a:spcPts val="0"/>
              </a:spcAft>
            </a:pPr>
            <a:r>
              <a:rPr sz="2400" b="1" i="0">
                <a:solidFill>
                  <a:srgbClr val="2E8579"/>
                </a:solidFill>
                <a:latin typeface="Aptos"/>
                <a:ea typeface="Aptos"/>
              </a:rPr>
              <a:t>0.930</a:t>
            </a:r>
          </a:p>
        </p:txBody>
      </p:sp>
      <p:sp>
        <p:nvSpPr>
          <p:cNvPr id="16" name="TextBox 15"/>
          <p:cNvSpPr txBox="1"/>
          <p:nvPr/>
        </p:nvSpPr>
        <p:spPr>
          <a:xfrm>
            <a:off x="9564624" y="3383280"/>
            <a:ext cx="1883664" cy="347472"/>
          </a:xfrm>
          <a:prstGeom prst="rect">
            <a:avLst/>
          </a:prstGeom>
          <a:noFill/>
        </p:spPr>
        <p:txBody>
          <a:bodyPr wrap="square" lIns="0" rIns="0" tIns="0" bIns="0" anchor="ctr">
            <a:spAutoFit/>
          </a:bodyPr>
          <a:lstStyle/>
          <a:p>
            <a:pPr algn="ctr">
              <a:lnSpc>
                <a:spcPct val="108000"/>
              </a:lnSpc>
              <a:spcBef>
                <a:spcPts val="0"/>
              </a:spcBef>
              <a:spcAft>
                <a:spcPts val="0"/>
              </a:spcAft>
            </a:pPr>
            <a:r>
              <a:rPr sz="1150" b="1" i="0">
                <a:solidFill>
                  <a:srgbClr val="1A1A1A"/>
                </a:solidFill>
                <a:latin typeface="Aptos"/>
                <a:ea typeface="Aptos"/>
              </a:rPr>
              <a:t>Gradient-map similarity</a:t>
            </a:r>
          </a:p>
        </p:txBody>
      </p:sp>
      <p:sp>
        <p:nvSpPr>
          <p:cNvPr id="17" name="Rounded Rectangle 16"/>
          <p:cNvSpPr/>
          <p:nvPr/>
        </p:nvSpPr>
        <p:spPr>
          <a:xfrm>
            <a:off x="9418320" y="3995928"/>
            <a:ext cx="2176272" cy="1133856"/>
          </a:xfrm>
          <a:prstGeom prst="roundRect">
            <a:avLst>
              <a:gd name="adj" fmla="val 8000"/>
            </a:avLst>
          </a:prstGeom>
          <a:solidFill>
            <a:srgbClr val="E6F3F1"/>
          </a:solidFill>
          <a:ln w="1270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82912" y="4160520"/>
            <a:ext cx="1847088" cy="420624"/>
          </a:xfrm>
          <a:prstGeom prst="rect">
            <a:avLst/>
          </a:prstGeom>
          <a:noFill/>
        </p:spPr>
        <p:txBody>
          <a:bodyPr wrap="square" lIns="0" rIns="0" tIns="0" bIns="0" anchor="t">
            <a:spAutoFit/>
          </a:bodyPr>
          <a:lstStyle/>
          <a:p>
            <a:pPr algn="ctr">
              <a:lnSpc>
                <a:spcPct val="108000"/>
              </a:lnSpc>
              <a:spcBef>
                <a:spcPts val="0"/>
              </a:spcBef>
              <a:spcAft>
                <a:spcPts val="0"/>
              </a:spcAft>
            </a:pPr>
            <a:r>
              <a:rPr sz="2400" b="1" i="0">
                <a:solidFill>
                  <a:srgbClr val="2E8579"/>
                </a:solidFill>
                <a:latin typeface="Aptos"/>
                <a:ea typeface="Aptos"/>
              </a:rPr>
              <a:t>0.952</a:t>
            </a:r>
          </a:p>
        </p:txBody>
      </p:sp>
      <p:sp>
        <p:nvSpPr>
          <p:cNvPr id="19" name="TextBox 18"/>
          <p:cNvSpPr txBox="1"/>
          <p:nvPr/>
        </p:nvSpPr>
        <p:spPr>
          <a:xfrm>
            <a:off x="9564624" y="4672584"/>
            <a:ext cx="1883664" cy="347472"/>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1A1A1A"/>
                </a:solidFill>
                <a:latin typeface="Aptos"/>
                <a:ea typeface="Aptos"/>
              </a:rPr>
              <a:t>Edge F1</a:t>
            </a:r>
          </a:p>
        </p:txBody>
      </p:sp>
      <p:sp>
        <p:nvSpPr>
          <p:cNvPr id="20" name="Rounded Rectangle 19"/>
          <p:cNvSpPr/>
          <p:nvPr/>
        </p:nvSpPr>
        <p:spPr>
          <a:xfrm>
            <a:off x="9418320" y="5303520"/>
            <a:ext cx="2176272" cy="694944"/>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82912" y="5486400"/>
            <a:ext cx="1847088" cy="310896"/>
          </a:xfrm>
          <a:prstGeom prst="rect">
            <a:avLst/>
          </a:prstGeom>
          <a:noFill/>
        </p:spPr>
        <p:txBody>
          <a:bodyPr wrap="square" lIns="0" rIns="0" tIns="0" bIns="0" anchor="t">
            <a:spAutoFit/>
          </a:bodyPr>
          <a:lstStyle/>
          <a:p>
            <a:pPr algn="ctr">
              <a:lnSpc>
                <a:spcPct val="108000"/>
              </a:lnSpc>
              <a:spcBef>
                <a:spcPts val="0"/>
              </a:spcBef>
              <a:spcAft>
                <a:spcPts val="0"/>
              </a:spcAft>
            </a:pPr>
            <a:r>
              <a:rPr sz="1150" b="1" i="0">
                <a:solidFill>
                  <a:srgbClr val="555B66"/>
                </a:solidFill>
                <a:latin typeface="Aptos"/>
                <a:ea typeface="Aptos"/>
              </a:rPr>
              <a:t>Diagnostic only—not a demoiréing claim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ABLATION</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750" b="1" i="0">
                <a:solidFill>
                  <a:srgbClr val="1A1A1A"/>
                </a:solidFill>
                <a:latin typeface="Aptos"/>
                <a:ea typeface="Aptos"/>
              </a:rPr>
              <a:t>Physical Borders Are Decisive; Smoothing Adds Temporal Stability</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Table 4; proposal_border_ablation_2026-07-14.md</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14</a:t>
            </a:r>
          </a:p>
        </p:txBody>
      </p:sp>
      <p:graphicFrame>
        <p:nvGraphicFramePr>
          <p:cNvPr id="9" name="Table 8"/>
          <p:cNvGraphicFramePr>
            <a:graphicFrameLocks noGrp="1"/>
          </p:cNvGraphicFramePr>
          <p:nvPr/>
        </p:nvGraphicFramePr>
        <p:xfrm>
          <a:off x="603504" y="1463040"/>
          <a:ext cx="8138159" cy="4389120"/>
        </p:xfrm>
        <a:graphic>
          <a:graphicData uri="http://schemas.openxmlformats.org/drawingml/2006/table">
            <a:tbl>
              <a:tblPr firstRow="1" bandRow="1">
                <a:tableStyleId>{5C22544A-7EE6-4342-B048-85BDC9FD1C3A}</a:tableStyleId>
              </a:tblPr>
              <a:tblGrid>
                <a:gridCol w="3337560"/>
                <a:gridCol w="1463040"/>
                <a:gridCol w="1463040"/>
                <a:gridCol w="1874519"/>
              </a:tblGrid>
              <a:tr h="731520">
                <a:tc>
                  <a:txBody>
                    <a:bodyPr anchor="ctr"/>
                    <a:lstStyle/>
                    <a:p>
                      <a:pPr algn="ctr"/>
                      <a:r>
                        <a:rPr sz="1280" b="1" i="0">
                          <a:solidFill>
                            <a:srgbClr val="FFFFFF"/>
                          </a:solidFill>
                          <a:latin typeface="Aptos"/>
                          <a:ea typeface="Aptos"/>
                        </a:rPr>
                        <a:t>Variant</a:t>
                      </a:r>
                    </a:p>
                  </a:txBody>
                  <a:tcPr marL="54864" marR="54864" marT="36576" marB="36576">
                    <a:solidFill>
                      <a:srgbClr val="17479E"/>
                    </a:solidFill>
                  </a:tcPr>
                </a:tc>
                <a:tc>
                  <a:txBody>
                    <a:bodyPr anchor="ctr"/>
                    <a:lstStyle/>
                    <a:p>
                      <a:pPr algn="ctr"/>
                      <a:r>
                        <a:rPr sz="1280" b="1" i="0">
                          <a:solidFill>
                            <a:srgbClr val="FFFFFF"/>
                          </a:solidFill>
                          <a:latin typeface="Aptos"/>
                          <a:ea typeface="Aptos"/>
                        </a:rPr>
                        <a:t>RMSE ↓</a:t>
                      </a:r>
                    </a:p>
                  </a:txBody>
                  <a:tcPr marL="54864" marR="54864" marT="36576" marB="36576">
                    <a:solidFill>
                      <a:srgbClr val="17479E"/>
                    </a:solidFill>
                  </a:tcPr>
                </a:tc>
                <a:tc>
                  <a:txBody>
                    <a:bodyPr anchor="ctr"/>
                    <a:lstStyle/>
                    <a:p>
                      <a:pPr algn="ctr"/>
                      <a:r>
                        <a:rPr sz="1280" b="1" i="0">
                          <a:solidFill>
                            <a:srgbClr val="FFFFFF"/>
                          </a:solidFill>
                          <a:latin typeface="Aptos"/>
                          <a:ea typeface="Aptos"/>
                        </a:rPr>
                        <a:t>IoU ↑</a:t>
                      </a:r>
                    </a:p>
                  </a:txBody>
                  <a:tcPr marL="54864" marR="54864" marT="36576" marB="36576">
                    <a:solidFill>
                      <a:srgbClr val="17479E"/>
                    </a:solidFill>
                  </a:tcPr>
                </a:tc>
                <a:tc>
                  <a:txBody>
                    <a:bodyPr anchor="ctr"/>
                    <a:lstStyle/>
                    <a:p>
                      <a:pPr algn="ctr"/>
                      <a:r>
                        <a:rPr sz="1280" b="1" i="0">
                          <a:solidFill>
                            <a:srgbClr val="FFFFFF"/>
                          </a:solidFill>
                          <a:latin typeface="Aptos"/>
                          <a:ea typeface="Aptos"/>
                        </a:rPr>
                        <a:t>Translation ↓</a:t>
                      </a:r>
                    </a:p>
                  </a:txBody>
                  <a:tcPr marL="54864" marR="54864" marT="36576" marB="36576">
                    <a:solidFill>
                      <a:srgbClr val="17479E"/>
                    </a:solidFill>
                  </a:tcPr>
                </a:tc>
              </a:tr>
              <a:tr h="731520">
                <a:tc>
                  <a:txBody>
                    <a:bodyPr anchor="ctr"/>
                    <a:lstStyle/>
                    <a:p>
                      <a:pPr algn="l"/>
                      <a:r>
                        <a:rPr sz="1240" b="1" i="0">
                          <a:solidFill>
                            <a:srgbClr val="1A1A1A"/>
                          </a:solidFill>
                          <a:latin typeface="Aptos"/>
                          <a:ea typeface="Aptos"/>
                        </a:rPr>
                        <a:t>Full Profile-border method</a:t>
                      </a:r>
                    </a:p>
                  </a:txBody>
                  <a:tcPr marL="54864" marR="54864" marT="36576" marB="36576">
                    <a:solidFill>
                      <a:srgbClr val="E8EFFB"/>
                    </a:solidFill>
                  </a:tcPr>
                </a:tc>
                <a:tc>
                  <a:txBody>
                    <a:bodyPr anchor="ctr"/>
                    <a:lstStyle/>
                    <a:p>
                      <a:pPr algn="ctr"/>
                      <a:r>
                        <a:rPr sz="1280" b="1" i="0">
                          <a:solidFill>
                            <a:srgbClr val="1F57C4"/>
                          </a:solidFill>
                          <a:latin typeface="Aptos"/>
                          <a:ea typeface="Aptos"/>
                        </a:rPr>
                        <a:t>3.253</a:t>
                      </a:r>
                    </a:p>
                  </a:txBody>
                  <a:tcPr marL="54864" marR="54864" marT="36576" marB="36576">
                    <a:solidFill>
                      <a:srgbClr val="E8EFFB"/>
                    </a:solidFill>
                  </a:tcPr>
                </a:tc>
                <a:tc>
                  <a:txBody>
                    <a:bodyPr anchor="ctr"/>
                    <a:lstStyle/>
                    <a:p>
                      <a:pPr algn="ctr"/>
                      <a:r>
                        <a:rPr sz="1280" b="1" i="0">
                          <a:solidFill>
                            <a:srgbClr val="1F57C4"/>
                          </a:solidFill>
                          <a:latin typeface="Aptos"/>
                          <a:ea typeface="Aptos"/>
                        </a:rPr>
                        <a:t>0.996038</a:t>
                      </a:r>
                    </a:p>
                  </a:txBody>
                  <a:tcPr marL="54864" marR="54864" marT="36576" marB="36576">
                    <a:solidFill>
                      <a:srgbClr val="E8EFFB"/>
                    </a:solidFill>
                  </a:tcPr>
                </a:tc>
                <a:tc>
                  <a:txBody>
                    <a:bodyPr anchor="ctr"/>
                    <a:lstStyle/>
                    <a:p>
                      <a:pPr algn="ctr"/>
                      <a:r>
                        <a:rPr sz="1280" b="1" i="0">
                          <a:solidFill>
                            <a:srgbClr val="1F57C4"/>
                          </a:solidFill>
                          <a:latin typeface="Aptos"/>
                          <a:ea typeface="Aptos"/>
                        </a:rPr>
                        <a:t>0.752</a:t>
                      </a:r>
                    </a:p>
                  </a:txBody>
                  <a:tcPr marL="54864" marR="54864" marT="36576" marB="36576">
                    <a:solidFill>
                      <a:srgbClr val="E8EFFB"/>
                    </a:solidFill>
                  </a:tcPr>
                </a:tc>
              </a:tr>
              <a:tr h="731520">
                <a:tc>
                  <a:txBody>
                    <a:bodyPr anchor="ctr"/>
                    <a:lstStyle/>
                    <a:p>
                      <a:pPr algn="l"/>
                      <a:r>
                        <a:rPr sz="1240" b="1" i="0">
                          <a:solidFill>
                            <a:srgbClr val="1A1A1A"/>
                          </a:solidFill>
                          <a:latin typeface="Aptos"/>
                          <a:ea typeface="Aptos"/>
                        </a:rPr>
                        <a:t>No trajectory smoothing</a:t>
                      </a:r>
                    </a:p>
                  </a:txBody>
                  <a:tcPr marL="54864" marR="54864" marT="36576" marB="36576">
                    <a:solidFill>
                      <a:srgbClr val="FCEDEA"/>
                    </a:solidFill>
                  </a:tcPr>
                </a:tc>
                <a:tc>
                  <a:txBody>
                    <a:bodyPr anchor="ctr"/>
                    <a:lstStyle/>
                    <a:p>
                      <a:pPr algn="ctr"/>
                      <a:r>
                        <a:rPr sz="1280" b="1" i="0">
                          <a:solidFill>
                            <a:srgbClr val="1A1A1A"/>
                          </a:solidFill>
                          <a:latin typeface="Aptos"/>
                          <a:ea typeface="Aptos"/>
                        </a:rPr>
                        <a:t>2.932</a:t>
                      </a:r>
                    </a:p>
                  </a:txBody>
                  <a:tcPr marL="54864" marR="54864" marT="36576" marB="36576">
                    <a:solidFill>
                      <a:srgbClr val="FCEDEA"/>
                    </a:solidFill>
                  </a:tcPr>
                </a:tc>
                <a:tc>
                  <a:txBody>
                    <a:bodyPr anchor="ctr"/>
                    <a:lstStyle/>
                    <a:p>
                      <a:pPr algn="ctr"/>
                      <a:r>
                        <a:rPr sz="1280" b="1" i="0">
                          <a:solidFill>
                            <a:srgbClr val="1A1A1A"/>
                          </a:solidFill>
                          <a:latin typeface="Aptos"/>
                          <a:ea typeface="Aptos"/>
                        </a:rPr>
                        <a:t>0.996585</a:t>
                      </a:r>
                    </a:p>
                  </a:txBody>
                  <a:tcPr marL="54864" marR="54864" marT="36576" marB="36576">
                    <a:solidFill>
                      <a:srgbClr val="FCEDEA"/>
                    </a:solidFill>
                  </a:tcPr>
                </a:tc>
                <a:tc>
                  <a:txBody>
                    <a:bodyPr anchor="ctr"/>
                    <a:lstStyle/>
                    <a:p>
                      <a:pPr algn="ctr"/>
                      <a:r>
                        <a:rPr sz="1280" b="1" i="0">
                          <a:solidFill>
                            <a:srgbClr val="1A1A1A"/>
                          </a:solidFill>
                          <a:latin typeface="Aptos"/>
                          <a:ea typeface="Aptos"/>
                        </a:rPr>
                        <a:t>1.430</a:t>
                      </a:r>
                    </a:p>
                  </a:txBody>
                  <a:tcPr marL="54864" marR="54864" marT="36576" marB="36576">
                    <a:solidFill>
                      <a:srgbClr val="FCEDEA"/>
                    </a:solidFill>
                  </a:tcPr>
                </a:tc>
              </a:tr>
              <a:tr h="731520">
                <a:tc>
                  <a:txBody>
                    <a:bodyPr anchor="ctr"/>
                    <a:lstStyle/>
                    <a:p>
                      <a:pPr algn="l"/>
                      <a:r>
                        <a:rPr sz="1240" b="1" i="0">
                          <a:solidFill>
                            <a:srgbClr val="1A1A1A"/>
                          </a:solidFill>
                          <a:latin typeface="Aptos"/>
                          <a:ea typeface="Aptos"/>
                        </a:rPr>
                        <a:t>No physical border: optical flow</a:t>
                      </a:r>
                    </a:p>
                  </a:txBody>
                  <a:tcPr marL="54864" marR="54864" marT="36576" marB="36576">
                    <a:solidFill>
                      <a:srgbClr val="FFF3E8"/>
                    </a:solidFill>
                  </a:tcPr>
                </a:tc>
                <a:tc>
                  <a:txBody>
                    <a:bodyPr anchor="ctr"/>
                    <a:lstStyle/>
                    <a:p>
                      <a:pPr algn="ctr"/>
                      <a:r>
                        <a:rPr sz="1280" b="1" i="0">
                          <a:solidFill>
                            <a:srgbClr val="1A1A1A"/>
                          </a:solidFill>
                          <a:latin typeface="Aptos"/>
                          <a:ea typeface="Aptos"/>
                        </a:rPr>
                        <a:t>76.114</a:t>
                      </a:r>
                    </a:p>
                  </a:txBody>
                  <a:tcPr marL="54864" marR="54864" marT="36576" marB="36576">
                    <a:solidFill>
                      <a:srgbClr val="FFF3E8"/>
                    </a:solidFill>
                  </a:tcPr>
                </a:tc>
                <a:tc>
                  <a:txBody>
                    <a:bodyPr anchor="ctr"/>
                    <a:lstStyle/>
                    <a:p>
                      <a:pPr algn="ctr"/>
                      <a:r>
                        <a:rPr sz="1280" b="1" i="0">
                          <a:solidFill>
                            <a:srgbClr val="1A1A1A"/>
                          </a:solidFill>
                          <a:latin typeface="Aptos"/>
                          <a:ea typeface="Aptos"/>
                        </a:rPr>
                        <a:t>0.916022</a:t>
                      </a:r>
                    </a:p>
                  </a:txBody>
                  <a:tcPr marL="54864" marR="54864" marT="36576" marB="36576">
                    <a:solidFill>
                      <a:srgbClr val="FFF3E8"/>
                    </a:solidFill>
                  </a:tcPr>
                </a:tc>
                <a:tc>
                  <a:txBody>
                    <a:bodyPr anchor="ctr"/>
                    <a:lstStyle/>
                    <a:p>
                      <a:pPr algn="ctr"/>
                      <a:r>
                        <a:rPr sz="1280" b="1" i="0">
                          <a:solidFill>
                            <a:srgbClr val="1A1A1A"/>
                          </a:solidFill>
                          <a:latin typeface="Aptos"/>
                          <a:ea typeface="Aptos"/>
                        </a:rPr>
                        <a:t>2.205</a:t>
                      </a:r>
                    </a:p>
                  </a:txBody>
                  <a:tcPr marL="54864" marR="54864" marT="36576" marB="36576">
                    <a:solidFill>
                      <a:srgbClr val="FFF3E8"/>
                    </a:solidFill>
                  </a:tcPr>
                </a:tc>
              </a:tr>
              <a:tr h="731520">
                <a:tc>
                  <a:txBody>
                    <a:bodyPr anchor="ctr"/>
                    <a:lstStyle/>
                    <a:p>
                      <a:pPr algn="l"/>
                      <a:r>
                        <a:rPr sz="1240" b="0" i="0">
                          <a:solidFill>
                            <a:srgbClr val="1A1A1A"/>
                          </a:solidFill>
                          <a:latin typeface="Aptos"/>
                          <a:ea typeface="Aptos"/>
                        </a:rPr>
                        <a:t>LSD border observation</a:t>
                      </a:r>
                    </a:p>
                  </a:txBody>
                  <a:tcPr marL="54864" marR="54864" marT="36576" marB="36576">
                    <a:solidFill>
                      <a:srgbClr val="F6F8FB"/>
                    </a:solidFill>
                  </a:tcPr>
                </a:tc>
                <a:tc>
                  <a:txBody>
                    <a:bodyPr anchor="ctr"/>
                    <a:lstStyle/>
                    <a:p>
                      <a:pPr algn="ctr"/>
                      <a:r>
                        <a:rPr sz="1280" b="0" i="0">
                          <a:solidFill>
                            <a:srgbClr val="1A1A1A"/>
                          </a:solidFill>
                          <a:latin typeface="Aptos"/>
                          <a:ea typeface="Aptos"/>
                        </a:rPr>
                        <a:t>3.604</a:t>
                      </a:r>
                    </a:p>
                  </a:txBody>
                  <a:tcPr marL="54864" marR="54864" marT="36576" marB="36576">
                    <a:solidFill>
                      <a:srgbClr val="F6F8FB"/>
                    </a:solidFill>
                  </a:tcPr>
                </a:tc>
                <a:tc>
                  <a:txBody>
                    <a:bodyPr anchor="ctr"/>
                    <a:lstStyle/>
                    <a:p>
                      <a:pPr algn="ctr"/>
                      <a:r>
                        <a:rPr sz="1280" b="0" i="0">
                          <a:solidFill>
                            <a:srgbClr val="1A1A1A"/>
                          </a:solidFill>
                          <a:latin typeface="Aptos"/>
                          <a:ea typeface="Aptos"/>
                        </a:rPr>
                        <a:t>0.995716</a:t>
                      </a:r>
                    </a:p>
                  </a:txBody>
                  <a:tcPr marL="54864" marR="54864" marT="36576" marB="36576">
                    <a:solidFill>
                      <a:srgbClr val="F6F8FB"/>
                    </a:solidFill>
                  </a:tcPr>
                </a:tc>
                <a:tc>
                  <a:txBody>
                    <a:bodyPr anchor="ctr"/>
                    <a:lstStyle/>
                    <a:p>
                      <a:pPr algn="ctr"/>
                      <a:r>
                        <a:rPr sz="1280" b="0" i="0">
                          <a:solidFill>
                            <a:srgbClr val="1A1A1A"/>
                          </a:solidFill>
                          <a:latin typeface="Aptos"/>
                          <a:ea typeface="Aptos"/>
                        </a:rPr>
                        <a:t>0.961</a:t>
                      </a:r>
                    </a:p>
                  </a:txBody>
                  <a:tcPr marL="54864" marR="54864" marT="36576" marB="36576">
                    <a:solidFill>
                      <a:srgbClr val="F6F8FB"/>
                    </a:solidFill>
                  </a:tcPr>
                </a:tc>
              </a:tr>
              <a:tr h="731520">
                <a:tc>
                  <a:txBody>
                    <a:bodyPr anchor="ctr"/>
                    <a:lstStyle/>
                    <a:p>
                      <a:pPr algn="l"/>
                      <a:r>
                        <a:rPr sz="1240" b="0" i="0">
                          <a:solidFill>
                            <a:srgbClr val="1A1A1A"/>
                          </a:solidFill>
                          <a:latin typeface="Aptos"/>
                          <a:ea typeface="Aptos"/>
                        </a:rPr>
                        <a:t>Hough border observation</a:t>
                      </a:r>
                    </a:p>
                  </a:txBody>
                  <a:tcPr marL="54864" marR="54864" marT="36576" marB="36576">
                    <a:solidFill>
                      <a:srgbClr val="F6F8FB"/>
                    </a:solidFill>
                  </a:tcPr>
                </a:tc>
                <a:tc>
                  <a:txBody>
                    <a:bodyPr anchor="ctr"/>
                    <a:lstStyle/>
                    <a:p>
                      <a:pPr algn="ctr"/>
                      <a:r>
                        <a:rPr sz="1280" b="0" i="0">
                          <a:solidFill>
                            <a:srgbClr val="1A1A1A"/>
                          </a:solidFill>
                          <a:latin typeface="Aptos"/>
                          <a:ea typeface="Aptos"/>
                        </a:rPr>
                        <a:t>27.335</a:t>
                      </a:r>
                    </a:p>
                  </a:txBody>
                  <a:tcPr marL="54864" marR="54864" marT="36576" marB="36576">
                    <a:solidFill>
                      <a:srgbClr val="F6F8FB"/>
                    </a:solidFill>
                  </a:tcPr>
                </a:tc>
                <a:tc>
                  <a:txBody>
                    <a:bodyPr anchor="ctr"/>
                    <a:lstStyle/>
                    <a:p>
                      <a:pPr algn="ctr"/>
                      <a:r>
                        <a:rPr sz="1280" b="0" i="0">
                          <a:solidFill>
                            <a:srgbClr val="1A1A1A"/>
                          </a:solidFill>
                          <a:latin typeface="Aptos"/>
                          <a:ea typeface="Aptos"/>
                        </a:rPr>
                        <a:t>0.974200</a:t>
                      </a:r>
                    </a:p>
                  </a:txBody>
                  <a:tcPr marL="54864" marR="54864" marT="36576" marB="36576">
                    <a:solidFill>
                      <a:srgbClr val="F6F8FB"/>
                    </a:solidFill>
                  </a:tcPr>
                </a:tc>
                <a:tc>
                  <a:txBody>
                    <a:bodyPr anchor="ctr"/>
                    <a:lstStyle/>
                    <a:p>
                      <a:pPr algn="ctr"/>
                      <a:r>
                        <a:rPr sz="1280" b="0" i="0">
                          <a:solidFill>
                            <a:srgbClr val="1A1A1A"/>
                          </a:solidFill>
                          <a:latin typeface="Aptos"/>
                          <a:ea typeface="Aptos"/>
                        </a:rPr>
                        <a:t>0.897</a:t>
                      </a:r>
                    </a:p>
                  </a:txBody>
                  <a:tcPr marL="54864" marR="54864" marT="36576" marB="36576">
                    <a:solidFill>
                      <a:srgbClr val="F6F8FB"/>
                    </a:solidFill>
                  </a:tcPr>
                </a:tc>
              </a:tr>
            </a:tbl>
          </a:graphicData>
        </a:graphic>
      </p:graphicFrame>
      <p:sp>
        <p:nvSpPr>
          <p:cNvPr id="10" name="Rounded Rectangle 9"/>
          <p:cNvSpPr/>
          <p:nvPr/>
        </p:nvSpPr>
        <p:spPr>
          <a:xfrm>
            <a:off x="8997696" y="1463040"/>
            <a:ext cx="2596896" cy="1280160"/>
          </a:xfrm>
          <a:prstGeom prst="roundRect">
            <a:avLst>
              <a:gd name="adj" fmla="val 8000"/>
            </a:avLst>
          </a:prstGeom>
          <a:solidFill>
            <a:srgbClr val="E8EFFB"/>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80576" y="1709928"/>
            <a:ext cx="2231136" cy="347472"/>
          </a:xfrm>
          <a:prstGeom prst="rect">
            <a:avLst/>
          </a:prstGeom>
          <a:noFill/>
        </p:spPr>
        <p:txBody>
          <a:bodyPr wrap="square" lIns="0" rIns="0" tIns="0" bIns="0" anchor="t">
            <a:spAutoFit/>
          </a:bodyPr>
          <a:lstStyle/>
          <a:p>
            <a:pPr algn="ctr">
              <a:lnSpc>
                <a:spcPct val="108000"/>
              </a:lnSpc>
              <a:spcBef>
                <a:spcPts val="0"/>
              </a:spcBef>
              <a:spcAft>
                <a:spcPts val="0"/>
              </a:spcAft>
            </a:pPr>
            <a:r>
              <a:rPr sz="2100" b="1" i="0">
                <a:solidFill>
                  <a:srgbClr val="1F57C4"/>
                </a:solidFill>
                <a:latin typeface="Aptos"/>
                <a:ea typeface="Aptos"/>
              </a:rPr>
              <a:t>0.752 → 1.430</a:t>
            </a:r>
          </a:p>
        </p:txBody>
      </p:sp>
      <p:sp>
        <p:nvSpPr>
          <p:cNvPr id="12" name="TextBox 11"/>
          <p:cNvSpPr txBox="1"/>
          <p:nvPr/>
        </p:nvSpPr>
        <p:spPr>
          <a:xfrm>
            <a:off x="9180576" y="2167128"/>
            <a:ext cx="2231136" cy="347472"/>
          </a:xfrm>
          <a:prstGeom prst="rect">
            <a:avLst/>
          </a:prstGeom>
          <a:noFill/>
        </p:spPr>
        <p:txBody>
          <a:bodyPr wrap="square" lIns="0" rIns="0" tIns="0" bIns="0" anchor="t">
            <a:spAutoFit/>
          </a:bodyPr>
          <a:lstStyle/>
          <a:p>
            <a:pPr algn="ctr">
              <a:lnSpc>
                <a:spcPct val="108000"/>
              </a:lnSpc>
              <a:spcBef>
                <a:spcPts val="0"/>
              </a:spcBef>
              <a:spcAft>
                <a:spcPts val="0"/>
              </a:spcAft>
            </a:pPr>
            <a:r>
              <a:rPr sz="1180" b="1" i="0">
                <a:solidFill>
                  <a:srgbClr val="1A1A1A"/>
                </a:solidFill>
                <a:latin typeface="Aptos"/>
                <a:ea typeface="Aptos"/>
              </a:rPr>
              <a:t>No smoothing nearly doubles translation variation</a:t>
            </a:r>
          </a:p>
        </p:txBody>
      </p:sp>
      <p:sp>
        <p:nvSpPr>
          <p:cNvPr id="13" name="Rounded Rectangle 12"/>
          <p:cNvSpPr/>
          <p:nvPr/>
        </p:nvSpPr>
        <p:spPr>
          <a:xfrm>
            <a:off x="8997696" y="2944368"/>
            <a:ext cx="2596896" cy="1280160"/>
          </a:xfrm>
          <a:prstGeom prst="roundRect">
            <a:avLst>
              <a:gd name="adj" fmla="val 8000"/>
            </a:avLst>
          </a:prstGeom>
          <a:solidFill>
            <a:srgbClr val="FCEDEA"/>
          </a:solidFill>
          <a:ln w="1016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0576" y="3191256"/>
            <a:ext cx="2231136" cy="347472"/>
          </a:xfrm>
          <a:prstGeom prst="rect">
            <a:avLst/>
          </a:prstGeom>
          <a:noFill/>
        </p:spPr>
        <p:txBody>
          <a:bodyPr wrap="square" lIns="0" rIns="0" tIns="0" bIns="0" anchor="t">
            <a:spAutoFit/>
          </a:bodyPr>
          <a:lstStyle/>
          <a:p>
            <a:pPr algn="ctr">
              <a:lnSpc>
                <a:spcPct val="108000"/>
              </a:lnSpc>
              <a:spcBef>
                <a:spcPts val="0"/>
              </a:spcBef>
              <a:spcAft>
                <a:spcPts val="0"/>
              </a:spcAft>
            </a:pPr>
            <a:r>
              <a:rPr sz="2000" b="1" i="0">
                <a:solidFill>
                  <a:srgbClr val="C43D2E"/>
                </a:solidFill>
                <a:latin typeface="Aptos"/>
                <a:ea typeface="Aptos"/>
              </a:rPr>
              <a:t>3.253 → 76.114</a:t>
            </a:r>
          </a:p>
        </p:txBody>
      </p:sp>
      <p:sp>
        <p:nvSpPr>
          <p:cNvPr id="15" name="TextBox 14"/>
          <p:cNvSpPr txBox="1"/>
          <p:nvPr/>
        </p:nvSpPr>
        <p:spPr>
          <a:xfrm>
            <a:off x="9180576" y="3648456"/>
            <a:ext cx="2231136" cy="384048"/>
          </a:xfrm>
          <a:prstGeom prst="rect">
            <a:avLst/>
          </a:prstGeom>
          <a:noFill/>
        </p:spPr>
        <p:txBody>
          <a:bodyPr wrap="square" lIns="0" rIns="0" tIns="0" bIns="0" anchor="t">
            <a:spAutoFit/>
          </a:bodyPr>
          <a:lstStyle/>
          <a:p>
            <a:pPr algn="ctr">
              <a:lnSpc>
                <a:spcPct val="108000"/>
              </a:lnSpc>
              <a:spcBef>
                <a:spcPts val="0"/>
              </a:spcBef>
              <a:spcAft>
                <a:spcPts val="0"/>
              </a:spcAft>
            </a:pPr>
            <a:r>
              <a:rPr sz="1150" b="1" i="0">
                <a:solidFill>
                  <a:srgbClr val="1A1A1A"/>
                </a:solidFill>
                <a:latin typeface="Aptos"/>
                <a:ea typeface="Aptos"/>
              </a:rPr>
              <a:t>Removing physical-border evidence causes content-driven failure</a:t>
            </a:r>
          </a:p>
        </p:txBody>
      </p:sp>
      <p:sp>
        <p:nvSpPr>
          <p:cNvPr id="16" name="Rounded Rectangle 15"/>
          <p:cNvSpPr/>
          <p:nvPr/>
        </p:nvSpPr>
        <p:spPr>
          <a:xfrm>
            <a:off x="8997696" y="4425696"/>
            <a:ext cx="2596896" cy="1426464"/>
          </a:xfrm>
          <a:prstGeom prst="roundRect">
            <a:avLst>
              <a:gd name="adj" fmla="val 8000"/>
            </a:avLst>
          </a:prstGeom>
          <a:solidFill>
            <a:srgbClr val="E6F3F1"/>
          </a:solidFill>
          <a:ln w="1016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0576" y="4681728"/>
            <a:ext cx="2231136" cy="292608"/>
          </a:xfrm>
          <a:prstGeom prst="rect">
            <a:avLst/>
          </a:prstGeom>
          <a:noFill/>
        </p:spPr>
        <p:txBody>
          <a:bodyPr wrap="square" lIns="0" rIns="0" tIns="0" bIns="0" anchor="t">
            <a:spAutoFit/>
          </a:bodyPr>
          <a:lstStyle/>
          <a:p>
            <a:pPr algn="ctr">
              <a:lnSpc>
                <a:spcPct val="108000"/>
              </a:lnSpc>
              <a:spcBef>
                <a:spcPts val="0"/>
              </a:spcBef>
              <a:spcAft>
                <a:spcPts val="0"/>
              </a:spcAft>
            </a:pPr>
            <a:r>
              <a:rPr sz="1400" b="1" i="0">
                <a:solidFill>
                  <a:srgbClr val="2E8579"/>
                </a:solidFill>
                <a:latin typeface="Aptos"/>
                <a:ea typeface="Aptos"/>
              </a:rPr>
              <a:t>Profile is the default</a:t>
            </a:r>
          </a:p>
        </p:txBody>
      </p:sp>
      <p:sp>
        <p:nvSpPr>
          <p:cNvPr id="18" name="TextBox 17"/>
          <p:cNvSpPr txBox="1"/>
          <p:nvPr/>
        </p:nvSpPr>
        <p:spPr>
          <a:xfrm>
            <a:off x="9180576" y="5084064"/>
            <a:ext cx="2231136" cy="493776"/>
          </a:xfrm>
          <a:prstGeom prst="rect">
            <a:avLst/>
          </a:prstGeom>
          <a:noFill/>
        </p:spPr>
        <p:txBody>
          <a:bodyPr wrap="square" lIns="0" rIns="0" tIns="0" bIns="0" anchor="t">
            <a:spAutoFit/>
          </a:bodyPr>
          <a:lstStyle/>
          <a:p>
            <a:pPr algn="ctr">
              <a:lnSpc>
                <a:spcPct val="108000"/>
              </a:lnSpc>
              <a:spcBef>
                <a:spcPts val="0"/>
              </a:spcBef>
              <a:spcAft>
                <a:spcPts val="0"/>
              </a:spcAft>
            </a:pPr>
            <a:r>
              <a:rPr sz="1160" b="1" i="0">
                <a:solidFill>
                  <a:srgbClr val="1A1A1A"/>
                </a:solidFill>
                <a:latin typeface="Aptos"/>
                <a:ea typeface="Aptos"/>
              </a:rPr>
              <a:t>LSD is close but slower; Hough degrades geometry on this clip.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LIMITATIONS &amp; CONCLUSION</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900" b="1" i="0">
                <a:solidFill>
                  <a:srgbClr val="1A1A1A"/>
                </a:solidFill>
                <a:latin typeface="Aptos"/>
                <a:ea typeface="Aptos"/>
              </a:rPr>
              <a:t>The Boundary Is the Strength—and the Main Limitation</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Discussion and Conclusion</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15</a:t>
            </a:r>
          </a:p>
        </p:txBody>
      </p:sp>
      <p:sp>
        <p:nvSpPr>
          <p:cNvPr id="9" name="Rounded Rectangle 8"/>
          <p:cNvSpPr/>
          <p:nvPr/>
        </p:nvSpPr>
        <p:spPr>
          <a:xfrm>
            <a:off x="603504" y="1426464"/>
            <a:ext cx="5349240" cy="2011680"/>
          </a:xfrm>
          <a:prstGeom prst="roundRect">
            <a:avLst>
              <a:gd name="adj" fmla="val 8000"/>
            </a:avLst>
          </a:prstGeom>
          <a:solidFill>
            <a:srgbClr val="FCEDEA"/>
          </a:solidFill>
          <a:ln w="1016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700784"/>
            <a:ext cx="1828800" cy="292608"/>
          </a:xfrm>
          <a:prstGeom prst="rect">
            <a:avLst/>
          </a:prstGeom>
          <a:noFill/>
        </p:spPr>
        <p:txBody>
          <a:bodyPr wrap="square" lIns="0" rIns="0" tIns="0" bIns="0" anchor="t">
            <a:spAutoFit/>
          </a:bodyPr>
          <a:lstStyle/>
          <a:p>
            <a:pPr algn="l">
              <a:lnSpc>
                <a:spcPct val="108000"/>
              </a:lnSpc>
              <a:spcBef>
                <a:spcPts val="0"/>
              </a:spcBef>
              <a:spcAft>
                <a:spcPts val="0"/>
              </a:spcAft>
            </a:pPr>
            <a:r>
              <a:rPr sz="1500" b="1" i="0">
                <a:solidFill>
                  <a:srgbClr val="C43D2E"/>
                </a:solidFill>
                <a:latin typeface="Aptos"/>
                <a:ea typeface="Aptos"/>
              </a:rPr>
              <a:t>LIMITATIONS</a:t>
            </a:r>
          </a:p>
        </p:txBody>
      </p:sp>
      <p:sp>
        <p:nvSpPr>
          <p:cNvPr id="11" name="Oval 10"/>
          <p:cNvSpPr/>
          <p:nvPr/>
        </p:nvSpPr>
        <p:spPr>
          <a:xfrm>
            <a:off x="877824" y="2249424"/>
            <a:ext cx="100584" cy="100584"/>
          </a:xfrm>
          <a:prstGeom prst="ellipse">
            <a:avLst/>
          </a:prstGeom>
          <a:solidFill>
            <a:srgbClr val="C43D2E"/>
          </a:solidFill>
          <a:ln>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139696"/>
            <a:ext cx="4443983" cy="448056"/>
          </a:xfrm>
          <a:prstGeom prst="rect">
            <a:avLst/>
          </a:prstGeom>
          <a:noFill/>
        </p:spPr>
        <p:txBody>
          <a:bodyPr wrap="square" lIns="0" rIns="0" tIns="0" bIns="0" anchor="t">
            <a:spAutoFit/>
          </a:bodyPr>
          <a:lstStyle/>
          <a:p>
            <a:pPr algn="l">
              <a:lnSpc>
                <a:spcPct val="108000"/>
              </a:lnSpc>
              <a:spcBef>
                <a:spcPts val="0"/>
              </a:spcBef>
              <a:spcAft>
                <a:spcPts val="0"/>
              </a:spcAft>
            </a:pPr>
            <a:r>
              <a:rPr sz="1440" b="0" i="0">
                <a:solidFill>
                  <a:srgbClr val="1A1A1A"/>
                </a:solidFill>
                <a:latin typeface="Aptos"/>
                <a:ea typeface="Aptos"/>
              </a:rPr>
              <a:t>Very dark or low-contrast borders</a:t>
            </a:r>
          </a:p>
        </p:txBody>
      </p:sp>
      <p:sp>
        <p:nvSpPr>
          <p:cNvPr id="13" name="Oval 12"/>
          <p:cNvSpPr/>
          <p:nvPr/>
        </p:nvSpPr>
        <p:spPr>
          <a:xfrm>
            <a:off x="877824" y="2642616"/>
            <a:ext cx="100584" cy="100584"/>
          </a:xfrm>
          <a:prstGeom prst="ellipse">
            <a:avLst/>
          </a:prstGeom>
          <a:solidFill>
            <a:srgbClr val="C43D2E"/>
          </a:solidFill>
          <a:ln>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532888"/>
            <a:ext cx="4443983" cy="448056"/>
          </a:xfrm>
          <a:prstGeom prst="rect">
            <a:avLst/>
          </a:prstGeom>
          <a:noFill/>
        </p:spPr>
        <p:txBody>
          <a:bodyPr wrap="square" lIns="0" rIns="0" tIns="0" bIns="0" anchor="t">
            <a:spAutoFit/>
          </a:bodyPr>
          <a:lstStyle/>
          <a:p>
            <a:pPr algn="l">
              <a:lnSpc>
                <a:spcPct val="108000"/>
              </a:lnSpc>
              <a:spcBef>
                <a:spcPts val="0"/>
              </a:spcBef>
              <a:spcAft>
                <a:spcPts val="0"/>
              </a:spcAft>
            </a:pPr>
            <a:r>
              <a:rPr sz="1440" b="0" i="0">
                <a:solidFill>
                  <a:srgbClr val="1A1A1A"/>
                </a:solidFill>
                <a:latin typeface="Aptos"/>
                <a:ea typeface="Aptos"/>
              </a:rPr>
              <a:t>Reflections, glare, and partial occlusion</a:t>
            </a:r>
          </a:p>
        </p:txBody>
      </p:sp>
      <p:sp>
        <p:nvSpPr>
          <p:cNvPr id="15" name="Oval 14"/>
          <p:cNvSpPr/>
          <p:nvPr/>
        </p:nvSpPr>
        <p:spPr>
          <a:xfrm>
            <a:off x="877824" y="3035808"/>
            <a:ext cx="100584" cy="100584"/>
          </a:xfrm>
          <a:prstGeom prst="ellipse">
            <a:avLst/>
          </a:prstGeom>
          <a:solidFill>
            <a:srgbClr val="C43D2E"/>
          </a:solidFill>
          <a:ln>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926079"/>
            <a:ext cx="4443983" cy="448056"/>
          </a:xfrm>
          <a:prstGeom prst="rect">
            <a:avLst/>
          </a:prstGeom>
          <a:noFill/>
        </p:spPr>
        <p:txBody>
          <a:bodyPr wrap="square" lIns="0" rIns="0" tIns="0" bIns="0" anchor="t">
            <a:spAutoFit/>
          </a:bodyPr>
          <a:lstStyle/>
          <a:p>
            <a:pPr algn="l">
              <a:lnSpc>
                <a:spcPct val="108000"/>
              </a:lnSpc>
              <a:spcBef>
                <a:spcPts val="0"/>
              </a:spcBef>
              <a:spcAft>
                <a:spcPts val="0"/>
              </a:spcAft>
            </a:pPr>
            <a:r>
              <a:rPr sz="1440" b="0" i="0">
                <a:solidFill>
                  <a:srgbClr val="1A1A1A"/>
                </a:solidFill>
                <a:latin typeface="Aptos"/>
                <a:ea typeface="Aptos"/>
              </a:rPr>
              <a:t>Sparse keyframe annotations rather than dense ground truth</a:t>
            </a:r>
          </a:p>
        </p:txBody>
      </p:sp>
      <p:sp>
        <p:nvSpPr>
          <p:cNvPr id="17" name="Rounded Rectangle 16"/>
          <p:cNvSpPr/>
          <p:nvPr/>
        </p:nvSpPr>
        <p:spPr>
          <a:xfrm>
            <a:off x="6199632" y="1426464"/>
            <a:ext cx="5394960" cy="2011680"/>
          </a:xfrm>
          <a:prstGeom prst="roundRect">
            <a:avLst>
              <a:gd name="adj" fmla="val 8000"/>
            </a:avLst>
          </a:prstGeom>
          <a:solidFill>
            <a:srgbClr val="E8EFFB"/>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1700784"/>
            <a:ext cx="2194560" cy="292608"/>
          </a:xfrm>
          <a:prstGeom prst="rect">
            <a:avLst/>
          </a:prstGeom>
          <a:noFill/>
        </p:spPr>
        <p:txBody>
          <a:bodyPr wrap="square" lIns="0" rIns="0" tIns="0" bIns="0" anchor="t">
            <a:spAutoFit/>
          </a:bodyPr>
          <a:lstStyle/>
          <a:p>
            <a:pPr algn="l">
              <a:lnSpc>
                <a:spcPct val="108000"/>
              </a:lnSpc>
              <a:spcBef>
                <a:spcPts val="0"/>
              </a:spcBef>
              <a:spcAft>
                <a:spcPts val="0"/>
              </a:spcAft>
            </a:pPr>
            <a:r>
              <a:rPr sz="1500" b="1" i="0">
                <a:solidFill>
                  <a:srgbClr val="1F57C4"/>
                </a:solidFill>
                <a:latin typeface="Aptos"/>
                <a:ea typeface="Aptos"/>
              </a:rPr>
              <a:t>FINAL CONCLUSION</a:t>
            </a:r>
          </a:p>
        </p:txBody>
      </p:sp>
      <p:sp>
        <p:nvSpPr>
          <p:cNvPr id="19" name="TextBox 18"/>
          <p:cNvSpPr txBox="1"/>
          <p:nvPr/>
        </p:nvSpPr>
        <p:spPr>
          <a:xfrm>
            <a:off x="6492240" y="2139696"/>
            <a:ext cx="4791456" cy="950976"/>
          </a:xfrm>
          <a:prstGeom prst="rect">
            <a:avLst/>
          </a:prstGeom>
          <a:noFill/>
        </p:spPr>
        <p:txBody>
          <a:bodyPr wrap="square" lIns="0" rIns="0" tIns="0" bIns="0" anchor="ctr">
            <a:spAutoFit/>
          </a:bodyPr>
          <a:lstStyle/>
          <a:p>
            <a:pPr algn="ctr">
              <a:lnSpc>
                <a:spcPct val="108000"/>
              </a:lnSpc>
              <a:spcBef>
                <a:spcPts val="0"/>
              </a:spcBef>
              <a:spcAft>
                <a:spcPts val="0"/>
              </a:spcAft>
            </a:pPr>
            <a:r>
              <a:rPr sz="1700" b="1" i="0">
                <a:solidFill>
                  <a:srgbClr val="1A1A1A"/>
                </a:solidFill>
                <a:latin typeface="Aptos"/>
                <a:ea typeface="Aptos"/>
              </a:rPr>
              <a:t>Physical screen edges are a better primary cue for the screen plane than independent frame detection or internal-content optical flow.</a:t>
            </a:r>
          </a:p>
        </p:txBody>
      </p:sp>
      <p:sp>
        <p:nvSpPr>
          <p:cNvPr id="20" name="TextBox 19"/>
          <p:cNvSpPr txBox="1"/>
          <p:nvPr/>
        </p:nvSpPr>
        <p:spPr>
          <a:xfrm>
            <a:off x="621792" y="3776472"/>
            <a:ext cx="1508760" cy="274320"/>
          </a:xfrm>
          <a:prstGeom prst="rect">
            <a:avLst/>
          </a:prstGeom>
          <a:noFill/>
        </p:spPr>
        <p:txBody>
          <a:bodyPr wrap="square" lIns="0" rIns="0" tIns="0" bIns="0" anchor="t">
            <a:spAutoFit/>
          </a:bodyPr>
          <a:lstStyle/>
          <a:p>
            <a:pPr algn="l">
              <a:lnSpc>
                <a:spcPct val="108000"/>
              </a:lnSpc>
              <a:spcBef>
                <a:spcPts val="0"/>
              </a:spcBef>
              <a:spcAft>
                <a:spcPts val="0"/>
              </a:spcAft>
            </a:pPr>
            <a:r>
              <a:rPr sz="1500" b="1" i="0">
                <a:solidFill>
                  <a:srgbClr val="1F57C4"/>
                </a:solidFill>
                <a:latin typeface="Aptos"/>
                <a:ea typeface="Aptos"/>
              </a:rPr>
              <a:t>NEXT STEPS</a:t>
            </a:r>
          </a:p>
        </p:txBody>
      </p:sp>
      <p:sp>
        <p:nvSpPr>
          <p:cNvPr id="21" name="Rounded Rectangle 20"/>
          <p:cNvSpPr/>
          <p:nvPr/>
        </p:nvSpPr>
        <p:spPr>
          <a:xfrm>
            <a:off x="603504" y="4187952"/>
            <a:ext cx="3246120" cy="129844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407408"/>
            <a:ext cx="2880360" cy="292608"/>
          </a:xfrm>
          <a:prstGeom prst="rect">
            <a:avLst/>
          </a:prstGeom>
          <a:noFill/>
        </p:spPr>
        <p:txBody>
          <a:bodyPr wrap="square" lIns="0" rIns="0" tIns="0" bIns="0" anchor="t">
            <a:spAutoFit/>
          </a:bodyPr>
          <a:lstStyle/>
          <a:p>
            <a:pPr algn="ctr">
              <a:lnSpc>
                <a:spcPct val="108000"/>
              </a:lnSpc>
              <a:spcBef>
                <a:spcPts val="0"/>
              </a:spcBef>
              <a:spcAft>
                <a:spcPts val="0"/>
              </a:spcAft>
            </a:pPr>
            <a:r>
              <a:rPr sz="1500" b="1" i="0">
                <a:solidFill>
                  <a:srgbClr val="1A1A1A"/>
                </a:solidFill>
                <a:latin typeface="Aptos"/>
                <a:ea typeface="Aptos"/>
              </a:rPr>
              <a:t>Multi-cue boundary models</a:t>
            </a:r>
          </a:p>
        </p:txBody>
      </p:sp>
      <p:sp>
        <p:nvSpPr>
          <p:cNvPr id="23" name="TextBox 22"/>
          <p:cNvSpPr txBox="1"/>
          <p:nvPr/>
        </p:nvSpPr>
        <p:spPr>
          <a:xfrm>
            <a:off x="786384" y="4846320"/>
            <a:ext cx="2880360" cy="438912"/>
          </a:xfrm>
          <a:prstGeom prst="rect">
            <a:avLst/>
          </a:prstGeom>
          <a:noFill/>
        </p:spPr>
        <p:txBody>
          <a:bodyPr wrap="square" lIns="0" rIns="0" tIns="0" bIns="0" anchor="ctr">
            <a:spAutoFit/>
          </a:bodyPr>
          <a:lstStyle/>
          <a:p>
            <a:pPr algn="ctr">
              <a:lnSpc>
                <a:spcPct val="108000"/>
              </a:lnSpc>
              <a:spcBef>
                <a:spcPts val="0"/>
              </a:spcBef>
              <a:spcAft>
                <a:spcPts val="0"/>
              </a:spcAft>
            </a:pPr>
            <a:r>
              <a:rPr sz="1280" b="0" i="0">
                <a:solidFill>
                  <a:srgbClr val="555B66"/>
                </a:solidFill>
                <a:latin typeface="Aptos"/>
                <a:ea typeface="Aptos"/>
              </a:rPr>
              <a:t>Fuse profiles, long lines, color differences, and rectangular constraints.</a:t>
            </a:r>
          </a:p>
        </p:txBody>
      </p:sp>
      <p:sp>
        <p:nvSpPr>
          <p:cNvPr id="24" name="Rounded Rectangle 23"/>
          <p:cNvSpPr/>
          <p:nvPr/>
        </p:nvSpPr>
        <p:spPr>
          <a:xfrm>
            <a:off x="4160520" y="4187952"/>
            <a:ext cx="3246120" cy="129844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43400" y="4407408"/>
            <a:ext cx="2880360" cy="292608"/>
          </a:xfrm>
          <a:prstGeom prst="rect">
            <a:avLst/>
          </a:prstGeom>
          <a:noFill/>
        </p:spPr>
        <p:txBody>
          <a:bodyPr wrap="square" lIns="0" rIns="0" tIns="0" bIns="0" anchor="t">
            <a:spAutoFit/>
          </a:bodyPr>
          <a:lstStyle/>
          <a:p>
            <a:pPr algn="ctr">
              <a:lnSpc>
                <a:spcPct val="108000"/>
              </a:lnSpc>
              <a:spcBef>
                <a:spcPts val="0"/>
              </a:spcBef>
              <a:spcAft>
                <a:spcPts val="0"/>
              </a:spcAft>
            </a:pPr>
            <a:r>
              <a:rPr sz="1500" b="1" i="0">
                <a:solidFill>
                  <a:srgbClr val="1A1A1A"/>
                </a:solidFill>
                <a:latin typeface="Aptos"/>
                <a:ea typeface="Aptos"/>
              </a:rPr>
              <a:t>Per-edge confidence</a:t>
            </a:r>
          </a:p>
        </p:txBody>
      </p:sp>
      <p:sp>
        <p:nvSpPr>
          <p:cNvPr id="26" name="TextBox 25"/>
          <p:cNvSpPr txBox="1"/>
          <p:nvPr/>
        </p:nvSpPr>
        <p:spPr>
          <a:xfrm>
            <a:off x="4343400" y="4846320"/>
            <a:ext cx="2880360" cy="438912"/>
          </a:xfrm>
          <a:prstGeom prst="rect">
            <a:avLst/>
          </a:prstGeom>
          <a:noFill/>
        </p:spPr>
        <p:txBody>
          <a:bodyPr wrap="square" lIns="0" rIns="0" tIns="0" bIns="0" anchor="ctr">
            <a:spAutoFit/>
          </a:bodyPr>
          <a:lstStyle/>
          <a:p>
            <a:pPr algn="ctr">
              <a:lnSpc>
                <a:spcPct val="108000"/>
              </a:lnSpc>
              <a:spcBef>
                <a:spcPts val="0"/>
              </a:spcBef>
              <a:spcAft>
                <a:spcPts val="0"/>
              </a:spcAft>
            </a:pPr>
            <a:r>
              <a:rPr sz="1280" b="0" i="0">
                <a:solidFill>
                  <a:srgbClr val="555B66"/>
                </a:solidFill>
                <a:latin typeface="Aptos"/>
                <a:ea typeface="Aptos"/>
              </a:rPr>
              <a:t>Estimate four independent confidence values and complete weak sides across frames.</a:t>
            </a:r>
          </a:p>
        </p:txBody>
      </p:sp>
      <p:sp>
        <p:nvSpPr>
          <p:cNvPr id="27" name="Rounded Rectangle 26"/>
          <p:cNvSpPr/>
          <p:nvPr/>
        </p:nvSpPr>
        <p:spPr>
          <a:xfrm>
            <a:off x="7717536" y="4187952"/>
            <a:ext cx="3246120" cy="129844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0415" y="4407408"/>
            <a:ext cx="2880360" cy="292608"/>
          </a:xfrm>
          <a:prstGeom prst="rect">
            <a:avLst/>
          </a:prstGeom>
          <a:noFill/>
        </p:spPr>
        <p:txBody>
          <a:bodyPr wrap="square" lIns="0" rIns="0" tIns="0" bIns="0" anchor="t">
            <a:spAutoFit/>
          </a:bodyPr>
          <a:lstStyle/>
          <a:p>
            <a:pPr algn="ctr">
              <a:lnSpc>
                <a:spcPct val="108000"/>
              </a:lnSpc>
              <a:spcBef>
                <a:spcPts val="0"/>
              </a:spcBef>
              <a:spcAft>
                <a:spcPts val="0"/>
              </a:spcAft>
            </a:pPr>
            <a:r>
              <a:rPr sz="1500" b="1" i="0">
                <a:solidFill>
                  <a:srgbClr val="1A1A1A"/>
                </a:solidFill>
                <a:latin typeface="Aptos"/>
                <a:ea typeface="Aptos"/>
              </a:rPr>
              <a:t>Active recovery</a:t>
            </a:r>
          </a:p>
        </p:txBody>
      </p:sp>
      <p:sp>
        <p:nvSpPr>
          <p:cNvPr id="29" name="TextBox 28"/>
          <p:cNvSpPr txBox="1"/>
          <p:nvPr/>
        </p:nvSpPr>
        <p:spPr>
          <a:xfrm>
            <a:off x="7900415" y="4846320"/>
            <a:ext cx="2880360" cy="438912"/>
          </a:xfrm>
          <a:prstGeom prst="rect">
            <a:avLst/>
          </a:prstGeom>
          <a:noFill/>
        </p:spPr>
        <p:txBody>
          <a:bodyPr wrap="square" lIns="0" rIns="0" tIns="0" bIns="0" anchor="ctr">
            <a:spAutoFit/>
          </a:bodyPr>
          <a:lstStyle/>
          <a:p>
            <a:pPr algn="ctr">
              <a:lnSpc>
                <a:spcPct val="108000"/>
              </a:lnSpc>
              <a:spcBef>
                <a:spcPts val="0"/>
              </a:spcBef>
              <a:spcAft>
                <a:spcPts val="0"/>
              </a:spcAft>
            </a:pPr>
            <a:r>
              <a:rPr sz="1280" b="0" i="0">
                <a:solidFill>
                  <a:srgbClr val="555B66"/>
                </a:solidFill>
                <a:latin typeface="Aptos"/>
                <a:ea typeface="Aptos"/>
              </a:rPr>
              <a:t>Reinitialize after repeated failures and expand glare/occlusion annotations.</a:t>
            </a:r>
          </a:p>
        </p:txBody>
      </p:sp>
      <p:sp>
        <p:nvSpPr>
          <p:cNvPr id="30" name="TextBox 29"/>
          <p:cNvSpPr txBox="1"/>
          <p:nvPr/>
        </p:nvSpPr>
        <p:spPr>
          <a:xfrm>
            <a:off x="621792" y="5724144"/>
            <a:ext cx="10954512" cy="384048"/>
          </a:xfrm>
          <a:prstGeom prst="rect">
            <a:avLst/>
          </a:prstGeom>
          <a:noFill/>
        </p:spPr>
        <p:txBody>
          <a:bodyPr wrap="square" lIns="0" rIns="0" tIns="0" bIns="0" anchor="t">
            <a:spAutoFit/>
          </a:bodyPr>
          <a:lstStyle/>
          <a:p>
            <a:pPr algn="ctr">
              <a:lnSpc>
                <a:spcPct val="108000"/>
              </a:lnSpc>
              <a:spcBef>
                <a:spcPts val="0"/>
              </a:spcBef>
              <a:spcAft>
                <a:spcPts val="0"/>
              </a:spcAft>
            </a:pPr>
            <a:r>
              <a:rPr sz="1900" b="1" i="0">
                <a:solidFill>
                  <a:srgbClr val="1F57C4"/>
                </a:solidFill>
                <a:latin typeface="Aptos"/>
                <a:ea typeface="Aptos"/>
              </a:rPr>
              <a:t>3.87 px RMSE   ·   0.996 IoU   ·   2.45 px/frame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