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This project studies the geometric front end for captured-screen video. The input is a full handheld video containing background clutter, perspective distortion, camera shake, and dynamic content inside the display. The output is a stable, front-facing screen video. The key idea is to let the physical screen border determine the homography instead of allowing page scrolling or in-screen video to move the estimated screen plane.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The problem is not merely cropping the image into a rectangle; it is separating screen motion from content motion. Frame-wise detection trusts each current frame, so weak borders cause localization bias and jitter. Adjacent-frame optical flow trusts internal texture, so page scrolling can be mistaken for screen motion and accumulate drift. Our method prioritizes the physical screen boundary. The comparison below shows the same scrolling moment: we must check the complete screen extent, border stability, and whether true scrolling is retained.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55 seconds] The pipeline begins with four-corner initialization on the first frame. The previous quadrilateral predicts local search bands for all four sides. We sample gradient profiles along inward normals, select strong candidates close to each predicted border, and robustly fit four lines. Their intersections form the current quadrilateral, which is checked for convexity, side geometry, and plausible frame-to-frame change. LK/RANSAC only diagnoses disagreement between internal texture and border motion. If the border is valid, the physical boundary still wins. Finally, the trajectory is interpolated, smoothed, and warped to a fixed canvas.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The complete dataset contains fifty self-collected captured-screen videos and 14,985 frames, with ten clips in each of five capture conditions. The current formal quantitative evaluation uses ten annotated clips, two per condition. All methods share the same input, first-frame initialization, output canvas, corner annotations, and metric implementation. Geometry excludes frame zero; metrics are summarized by the median within each clip and then by the median across clips.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55 seconds] These three metrics come directly from the repository's overall-results figure. The border-guided method reaches a corner RMSE of 3.87 pixels, compared with 30.37 for frame-wise detection and 31.40 for optical flow. IoU rises to 0.996, while translation variation falls to 2.45 pixels per frame. Crucially, this is not superficial stability created by freezing the trajectory. Geometry and temporal stability improve together, supporting the physical screen border as a better primary homography cue than internal content motion.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The category results show where the improvement comes from. On scrolling pages, optical flow follows the moving content and RMSE rises to 81.67 pixels. The border-guided method stays on the physical screen and reaches 2.87 pixels. In weak-border scenes, the local search band predicted from the previous frame is far more stable than independent full-frame detection: our RMSE is 9.35, while both comparison methods exceed 155. Challenging scenes remain the main limitation. Frame-wise detection has slightly lower geometry error there, but our trajectory is still more stable, so future work should focus on glare, occlusion, and very low contrast.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55 seconds] This ablation uses a representative scrolling clip. The full method reaches an RMSE of 3.253 and translation variation of 0.752. Without trajectory smoothing, RMSE on sparse annotated frames improves slightly to 2.932, but translation variation rises to 1.430, almost doubling. This shows that smoothing primarily improves temporal stability rather than single-frame accuracy. Removing the LK diagnostic, redetection, or edge gating does not change this clip because Profile border evidence succeeds on every frame. These components are a safety net for abnormal cases and do not interfere with the normal main chain.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seconds] The current method still depends on a visible and distinguishable screen boundary. Very low contrast, strong glare, and occlusion can weaken the true gradient and create stronger false edges. Future work should fuse multiple boundary cues, estimate confidence for each side, and actively reinitialize after consecutive failures. However, the experimental conclusion is already clear: allowing the physical screen border to drive the homography improves both geometric accuracy and temporal stability. This brings the full presentation to approximately six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6126480" cy="274320"/>
          </a:xfrm>
          <a:prstGeom prst="rect">
            <a:avLst/>
          </a:prstGeom>
          <a:noFill/>
        </p:spPr>
        <p:txBody>
          <a:bodyPr wrap="square" lIns="0" rIns="0" tIns="0" bIns="0" anchor="t">
            <a:spAutoFit/>
          </a:bodyPr>
          <a:lstStyle/>
          <a:p>
            <a:pPr algn="l">
              <a:lnSpc>
                <a:spcPct val="108000"/>
              </a:lnSpc>
              <a:spcBef>
                <a:spcPts val="0"/>
              </a:spcBef>
              <a:spcAft>
                <a:spcPts val="0"/>
              </a:spcAft>
            </a:pPr>
            <a:r>
              <a:rPr sz="1220" b="1" i="0">
                <a:solidFill>
                  <a:srgbClr val="1F57C4"/>
                </a:solidFill>
                <a:latin typeface="Aptos"/>
                <a:ea typeface="Aptos"/>
              </a:rPr>
              <a:t>ECE4512 FINAL PROJECT · 2026</a:t>
            </a:r>
          </a:p>
        </p:txBody>
      </p:sp>
      <p:sp>
        <p:nvSpPr>
          <p:cNvPr id="3" name="TextBox 2"/>
          <p:cNvSpPr txBox="1"/>
          <p:nvPr/>
        </p:nvSpPr>
        <p:spPr>
          <a:xfrm>
            <a:off x="640080" y="841248"/>
            <a:ext cx="6355080" cy="1234440"/>
          </a:xfrm>
          <a:prstGeom prst="rect">
            <a:avLst/>
          </a:prstGeom>
          <a:noFill/>
        </p:spPr>
        <p:txBody>
          <a:bodyPr wrap="square" lIns="0" rIns="0" tIns="0" bIns="0" anchor="t">
            <a:spAutoFit/>
          </a:bodyPr>
          <a:lstStyle/>
          <a:p>
            <a:pPr algn="l">
              <a:lnSpc>
                <a:spcPct val="103000"/>
              </a:lnSpc>
              <a:spcBef>
                <a:spcPts val="0"/>
              </a:spcBef>
              <a:spcAft>
                <a:spcPts val="0"/>
              </a:spcAft>
            </a:pPr>
            <a:r>
              <a:rPr sz="2550" b="1" i="0">
                <a:solidFill>
                  <a:srgbClr val="1A1A1A"/>
                </a:solidFill>
                <a:latin typeface="Aptos"/>
                <a:ea typeface="Aptos"/>
              </a:rPr>
              <a:t>Border-Guided Geometric</a:t>
            </a:r>
          </a:p>
          <a:p>
            <a:pPr algn="l">
              <a:lnSpc>
                <a:spcPct val="103000"/>
              </a:lnSpc>
              <a:spcBef>
                <a:spcPts val="0"/>
              </a:spcBef>
              <a:spcAft>
                <a:spcPts val="0"/>
              </a:spcAft>
            </a:pPr>
            <a:r>
              <a:rPr sz="2550" b="1" i="0">
                <a:solidFill>
                  <a:srgbClr val="1A1A1A"/>
                </a:solidFill>
                <a:latin typeface="Aptos"/>
                <a:ea typeface="Aptos"/>
              </a:rPr>
              <a:t>Normalization of Captured-Screen Video</a:t>
            </a:r>
          </a:p>
        </p:txBody>
      </p:sp>
      <p:sp>
        <p:nvSpPr>
          <p:cNvPr id="4" name="TextBox 3"/>
          <p:cNvSpPr txBox="1"/>
          <p:nvPr/>
        </p:nvSpPr>
        <p:spPr>
          <a:xfrm>
            <a:off x="658368" y="2157984"/>
            <a:ext cx="5943600" cy="310896"/>
          </a:xfrm>
          <a:prstGeom prst="rect">
            <a:avLst/>
          </a:prstGeom>
          <a:noFill/>
        </p:spPr>
        <p:txBody>
          <a:bodyPr wrap="square" lIns="0" rIns="0" tIns="0" bIns="0" anchor="t">
            <a:spAutoFit/>
          </a:bodyPr>
          <a:lstStyle/>
          <a:p>
            <a:pPr algn="l">
              <a:lnSpc>
                <a:spcPct val="108000"/>
              </a:lnSpc>
              <a:spcBef>
                <a:spcPts val="0"/>
              </a:spcBef>
              <a:spcAft>
                <a:spcPts val="0"/>
              </a:spcAft>
            </a:pPr>
            <a:r>
              <a:rPr sz="1420" b="0" i="1">
                <a:solidFill>
                  <a:srgbClr val="555B66"/>
                </a:solidFill>
                <a:latin typeface="Aptos"/>
                <a:ea typeface="Aptos"/>
              </a:rPr>
              <a:t>Physical screen boundaries as the primary homography cue</a:t>
            </a:r>
          </a:p>
        </p:txBody>
      </p:sp>
      <p:sp>
        <p:nvSpPr>
          <p:cNvPr id="5" name="TextBox 4"/>
          <p:cNvSpPr txBox="1"/>
          <p:nvPr/>
        </p:nvSpPr>
        <p:spPr>
          <a:xfrm>
            <a:off x="658368" y="2606040"/>
            <a:ext cx="6035040" cy="274320"/>
          </a:xfrm>
          <a:prstGeom prst="rect">
            <a:avLst/>
          </a:prstGeom>
          <a:noFill/>
        </p:spPr>
        <p:txBody>
          <a:bodyPr wrap="square" lIns="0" rIns="0" tIns="0" bIns="0" anchor="t">
            <a:spAutoFit/>
          </a:bodyPr>
          <a:lstStyle/>
          <a:p>
            <a:pPr algn="l">
              <a:spcBef>
                <a:spcPts val="0"/>
              </a:spcBef>
              <a:spcAft>
                <a:spcPts val="0"/>
              </a:spcAft>
            </a:pPr>
            <a:r>
              <a:rPr sz="1180" b="1" i="0">
                <a:solidFill>
                  <a:srgbClr val="1A1A1A"/>
                </a:solidFill>
                <a:latin typeface="Aptos"/>
                <a:ea typeface="Aptos"/>
              </a:rPr>
              <a:t>Rongshuo Wen</a:t>
            </a:r>
            <a:r>
              <a:rPr sz="1180" b="0" i="0">
                <a:solidFill>
                  <a:srgbClr val="555B66"/>
                </a:solidFill>
                <a:latin typeface="Aptos"/>
                <a:ea typeface="Aptos"/>
              </a:rPr>
              <a:t>  124020369      </a:t>
            </a:r>
            <a:r>
              <a:rPr sz="1180" b="1" i="0">
                <a:solidFill>
                  <a:srgbClr val="1A1A1A"/>
                </a:solidFill>
                <a:latin typeface="Aptos"/>
                <a:ea typeface="Aptos"/>
              </a:rPr>
              <a:t>Bihua Wen</a:t>
            </a:r>
            <a:r>
              <a:rPr sz="1180" b="0" i="0">
                <a:solidFill>
                  <a:srgbClr val="555B66"/>
                </a:solidFill>
                <a:latin typeface="Aptos"/>
                <a:ea typeface="Aptos"/>
              </a:rPr>
              <a:t>  124090670</a:t>
            </a:r>
          </a:p>
        </p:txBody>
      </p:sp>
      <p:sp>
        <p:nvSpPr>
          <p:cNvPr id="6" name="TextBox 5"/>
          <p:cNvSpPr txBox="1"/>
          <p:nvPr/>
        </p:nvSpPr>
        <p:spPr>
          <a:xfrm>
            <a:off x="658368" y="2907792"/>
            <a:ext cx="6035040" cy="274320"/>
          </a:xfrm>
          <a:prstGeom prst="rect">
            <a:avLst/>
          </a:prstGeom>
          <a:noFill/>
        </p:spPr>
        <p:txBody>
          <a:bodyPr wrap="square" lIns="0" rIns="0" tIns="0" bIns="0" anchor="t">
            <a:spAutoFit/>
          </a:bodyPr>
          <a:lstStyle/>
          <a:p>
            <a:pPr algn="l">
              <a:spcBef>
                <a:spcPts val="0"/>
              </a:spcBef>
              <a:spcAft>
                <a:spcPts val="0"/>
              </a:spcAft>
            </a:pPr>
            <a:r>
              <a:rPr sz="1180" b="1" i="0">
                <a:solidFill>
                  <a:srgbClr val="1A1A1A"/>
                </a:solidFill>
                <a:latin typeface="Aptos"/>
                <a:ea typeface="Aptos"/>
              </a:rPr>
              <a:t>Mingrui Liu</a:t>
            </a:r>
            <a:r>
              <a:rPr sz="1180" b="0" i="0">
                <a:solidFill>
                  <a:srgbClr val="555B66"/>
                </a:solidFill>
                <a:latin typeface="Aptos"/>
                <a:ea typeface="Aptos"/>
              </a:rPr>
              <a:t>  124090375</a:t>
            </a:r>
          </a:p>
        </p:txBody>
      </p:sp>
      <p:sp>
        <p:nvSpPr>
          <p:cNvPr id="7" name="Rounded Rectangle 6"/>
          <p:cNvSpPr/>
          <p:nvPr/>
        </p:nvSpPr>
        <p:spPr>
          <a:xfrm>
            <a:off x="640080" y="3401568"/>
            <a:ext cx="6263640" cy="2148840"/>
          </a:xfrm>
          <a:prstGeom prst="roundRect">
            <a:avLst>
              <a:gd name="adj" fmla="val 8000"/>
            </a:avLst>
          </a:prstGeom>
          <a:solidFill>
            <a:srgbClr val="E8EFFB"/>
          </a:solidFill>
          <a:ln w="10160">
            <a:solidFill>
              <a:srgbClr val="E8EF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3657600"/>
            <a:ext cx="5715000" cy="457200"/>
          </a:xfrm>
          <a:prstGeom prst="rect">
            <a:avLst/>
          </a:prstGeom>
          <a:noFill/>
        </p:spPr>
        <p:txBody>
          <a:bodyPr wrap="square" lIns="0" rIns="0" tIns="0" bIns="0" anchor="t">
            <a:spAutoFit/>
          </a:bodyPr>
          <a:lstStyle/>
          <a:p>
            <a:pPr algn="l">
              <a:spcBef>
                <a:spcPts val="0"/>
              </a:spcBef>
              <a:spcAft>
                <a:spcPts val="0"/>
              </a:spcAft>
            </a:pPr>
            <a:r>
              <a:rPr sz="1400" b="1" i="0">
                <a:solidFill>
                  <a:srgbClr val="1F57C4"/>
                </a:solidFill>
                <a:latin typeface="Aptos"/>
                <a:ea typeface="Aptos"/>
              </a:rPr>
              <a:t>Core problem. </a:t>
            </a:r>
            <a:r>
              <a:rPr sz="1400" b="0" i="0">
                <a:solidFill>
                  <a:srgbClr val="1A1A1A"/>
                </a:solidFill>
                <a:latin typeface="Aptos"/>
                <a:ea typeface="Aptos"/>
              </a:rPr>
              <a:t>Page scrolling, in-screen video, and camera motion are not the same motion.</a:t>
            </a:r>
          </a:p>
        </p:txBody>
      </p:sp>
      <p:sp>
        <p:nvSpPr>
          <p:cNvPr id="9" name="TextBox 8"/>
          <p:cNvSpPr txBox="1"/>
          <p:nvPr/>
        </p:nvSpPr>
        <p:spPr>
          <a:xfrm>
            <a:off x="877824" y="4160520"/>
            <a:ext cx="5650992" cy="1005840"/>
          </a:xfrm>
          <a:prstGeom prst="rect">
            <a:avLst/>
          </a:prstGeom>
          <a:noFill/>
        </p:spPr>
        <p:txBody>
          <a:bodyPr wrap="square" lIns="0" rIns="0" tIns="0" bIns="0" anchor="t">
            <a:spAutoFit/>
          </a:bodyPr>
          <a:lstStyle/>
          <a:p>
            <a:pPr algn="l">
              <a:lnSpc>
                <a:spcPct val="112000"/>
              </a:lnSpc>
              <a:spcBef>
                <a:spcPts val="0"/>
              </a:spcBef>
              <a:spcAft>
                <a:spcPts val="0"/>
              </a:spcAft>
            </a:pPr>
            <a:r>
              <a:rPr sz="1370" b="0" i="0">
                <a:solidFill>
                  <a:srgbClr val="1A1A1A"/>
                </a:solidFill>
                <a:latin typeface="Aptos"/>
                <a:ea typeface="Aptos"/>
              </a:rPr>
              <a:t>We let the physical screen border directly determine the homography. Internal LK/RANSAC tracks are used only for consistency diagnostics, so true content motion is preserved while the screen plane remains stable.</a:t>
            </a:r>
          </a:p>
        </p:txBody>
      </p:sp>
      <p:sp>
        <p:nvSpPr>
          <p:cNvPr id="10" name="Rounded Rectangle 9"/>
          <p:cNvSpPr/>
          <p:nvPr/>
        </p:nvSpPr>
        <p:spPr>
          <a:xfrm>
            <a:off x="7351775" y="1280160"/>
            <a:ext cx="4270248" cy="171907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01_pipeline.png"/>
          <p:cNvPicPr>
            <a:picLocks noChangeAspect="1"/>
          </p:cNvPicPr>
          <p:nvPr/>
        </p:nvPicPr>
        <p:blipFill>
          <a:blip r:embed="rId2"/>
          <a:stretch>
            <a:fillRect/>
          </a:stretch>
        </p:blipFill>
        <p:spPr>
          <a:xfrm>
            <a:off x="7424927" y="1417099"/>
            <a:ext cx="4123944" cy="1436049"/>
          </a:xfrm>
          <a:prstGeom prst="rect">
            <a:avLst/>
          </a:prstGeom>
        </p:spPr>
      </p:pic>
      <p:sp>
        <p:nvSpPr>
          <p:cNvPr id="12" name="TextBox 11"/>
          <p:cNvSpPr txBox="1"/>
          <p:nvPr/>
        </p:nvSpPr>
        <p:spPr>
          <a:xfrm>
            <a:off x="7452360" y="2816352"/>
            <a:ext cx="4069080" cy="182880"/>
          </a:xfrm>
          <a:prstGeom prst="rect">
            <a:avLst/>
          </a:prstGeom>
          <a:noFill/>
        </p:spPr>
        <p:txBody>
          <a:bodyPr wrap="square" lIns="0" rIns="0" tIns="0" bIns="0" anchor="t">
            <a:spAutoFit/>
          </a:bodyPr>
          <a:lstStyle/>
          <a:p>
            <a:pPr algn="ctr">
              <a:lnSpc>
                <a:spcPct val="108000"/>
              </a:lnSpc>
              <a:spcBef>
                <a:spcPts val="0"/>
              </a:spcBef>
              <a:spcAft>
                <a:spcPts val="0"/>
              </a:spcAft>
            </a:pPr>
            <a:r>
              <a:rPr sz="819" b="0" i="1">
                <a:solidFill>
                  <a:srgbClr val="555B66"/>
                </a:solidFill>
                <a:latin typeface="Aptos"/>
                <a:ea typeface="Aptos"/>
              </a:rPr>
              <a:t>Repository method figure: border-guided normalization</a:t>
            </a:r>
          </a:p>
        </p:txBody>
      </p:sp>
      <p:sp>
        <p:nvSpPr>
          <p:cNvPr id="13" name="Rounded Rectangle 12"/>
          <p:cNvSpPr/>
          <p:nvPr/>
        </p:nvSpPr>
        <p:spPr>
          <a:xfrm>
            <a:off x="7351775" y="3273552"/>
            <a:ext cx="4270248" cy="226771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nnotated_dataset_mosaic.jpg"/>
          <p:cNvPicPr>
            <a:picLocks noChangeAspect="1"/>
          </p:cNvPicPr>
          <p:nvPr/>
        </p:nvPicPr>
        <p:blipFill>
          <a:blip r:embed="rId3"/>
          <a:srcRect b="48000"/>
          <a:stretch>
            <a:fillRect/>
          </a:stretch>
        </p:blipFill>
        <p:spPr>
          <a:xfrm>
            <a:off x="7424927" y="3346704"/>
            <a:ext cx="4123944" cy="2011680"/>
          </a:xfrm>
          <a:prstGeom prst="rect">
            <a:avLst/>
          </a:prstGeom>
        </p:spPr>
      </p:pic>
      <p:sp>
        <p:nvSpPr>
          <p:cNvPr id="15" name="TextBox 14"/>
          <p:cNvSpPr txBox="1"/>
          <p:nvPr/>
        </p:nvSpPr>
        <p:spPr>
          <a:xfrm>
            <a:off x="7452360" y="5340096"/>
            <a:ext cx="4069080" cy="182880"/>
          </a:xfrm>
          <a:prstGeom prst="rect">
            <a:avLst/>
          </a:prstGeom>
          <a:noFill/>
        </p:spPr>
        <p:txBody>
          <a:bodyPr wrap="square" lIns="0" rIns="0" tIns="0" bIns="0" anchor="t">
            <a:spAutoFit/>
          </a:bodyPr>
          <a:lstStyle/>
          <a:p>
            <a:pPr algn="ctr">
              <a:lnSpc>
                <a:spcPct val="108000"/>
              </a:lnSpc>
              <a:spcBef>
                <a:spcPts val="0"/>
              </a:spcBef>
              <a:spcAft>
                <a:spcPts val="0"/>
              </a:spcAft>
            </a:pPr>
            <a:r>
              <a:rPr sz="819" b="0" i="1">
                <a:solidFill>
                  <a:srgbClr val="555B66"/>
                </a:solidFill>
                <a:latin typeface="Aptos"/>
                <a:ea typeface="Aptos"/>
              </a:rPr>
              <a:t>Self-collected captures with manual corner annotations</a:t>
            </a:r>
          </a:p>
        </p:txBody>
      </p:sp>
      <p:cxnSp>
        <p:nvCxnSpPr>
          <p:cNvPr id="16" name="Connector 15"/>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18" name="TextBox 17"/>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figure_01_pipeline.png; annotated_dataset_mosaic.jpg</a:t>
            </a:r>
          </a:p>
        </p:txBody>
      </p:sp>
      <p:sp>
        <p:nvSpPr>
          <p:cNvPr id="19" name="TextBox 18"/>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WHY BORDER EVIDENCE</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700" b="1" i="0">
                <a:solidFill>
                  <a:srgbClr val="1A1A1A"/>
                </a:solidFill>
                <a:latin typeface="Aptos"/>
                <a:ea typeface="Aptos"/>
              </a:rPr>
              <a:t>The Core Problem: Content Motion ≠ Screen Motion</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project outline; figure_05_qualitative.png</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2</a:t>
            </a:r>
          </a:p>
        </p:txBody>
      </p:sp>
      <p:sp>
        <p:nvSpPr>
          <p:cNvPr id="9" name="Rounded Rectangle 8"/>
          <p:cNvSpPr/>
          <p:nvPr/>
        </p:nvSpPr>
        <p:spPr>
          <a:xfrm>
            <a:off x="594360" y="1426464"/>
            <a:ext cx="3163824" cy="2039112"/>
          </a:xfrm>
          <a:prstGeom prst="roundRect">
            <a:avLst>
              <a:gd name="adj" fmla="val 8000"/>
            </a:avLst>
          </a:prstGeom>
          <a:solidFill>
            <a:srgbClr val="FCEDEA"/>
          </a:solidFill>
          <a:ln w="1397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27632"/>
            <a:ext cx="2724912" cy="329184"/>
          </a:xfrm>
          <a:prstGeom prst="rect">
            <a:avLst/>
          </a:prstGeom>
          <a:noFill/>
        </p:spPr>
        <p:txBody>
          <a:bodyPr wrap="square" lIns="0" rIns="0" tIns="0" bIns="0" anchor="t">
            <a:spAutoFit/>
          </a:bodyPr>
          <a:lstStyle/>
          <a:p>
            <a:pPr algn="l">
              <a:lnSpc>
                <a:spcPct val="108000"/>
              </a:lnSpc>
              <a:spcBef>
                <a:spcPts val="0"/>
              </a:spcBef>
              <a:spcAft>
                <a:spcPts val="0"/>
              </a:spcAft>
            </a:pPr>
            <a:r>
              <a:rPr sz="1700" b="1" i="0">
                <a:solidFill>
                  <a:srgbClr val="C43D2E"/>
                </a:solidFill>
                <a:latin typeface="Aptos"/>
                <a:ea typeface="Aptos"/>
              </a:rPr>
              <a:t>Frame-wise detection</a:t>
            </a:r>
          </a:p>
        </p:txBody>
      </p:sp>
      <p:sp>
        <p:nvSpPr>
          <p:cNvPr id="11" name="TextBox 10"/>
          <p:cNvSpPr txBox="1"/>
          <p:nvPr/>
        </p:nvSpPr>
        <p:spPr>
          <a:xfrm>
            <a:off x="795528" y="2039112"/>
            <a:ext cx="2724912" cy="274320"/>
          </a:xfrm>
          <a:prstGeom prst="rect">
            <a:avLst/>
          </a:prstGeom>
          <a:noFill/>
        </p:spPr>
        <p:txBody>
          <a:bodyPr wrap="square" lIns="0" rIns="0" tIns="0" bIns="0" anchor="t">
            <a:spAutoFit/>
          </a:bodyPr>
          <a:lstStyle/>
          <a:p>
            <a:pPr algn="l">
              <a:lnSpc>
                <a:spcPct val="108000"/>
              </a:lnSpc>
              <a:spcBef>
                <a:spcPts val="0"/>
              </a:spcBef>
              <a:spcAft>
                <a:spcPts val="0"/>
              </a:spcAft>
            </a:pPr>
            <a:r>
              <a:rPr sz="1250" b="1" i="0">
                <a:solidFill>
                  <a:srgbClr val="555B66"/>
                </a:solidFill>
                <a:latin typeface="Aptos"/>
                <a:ea typeface="Aptos"/>
              </a:rPr>
              <a:t>Trusts the current frame</a:t>
            </a:r>
          </a:p>
        </p:txBody>
      </p:sp>
      <p:cxnSp>
        <p:nvCxnSpPr>
          <p:cNvPr id="12" name="Connector 11"/>
          <p:cNvCxnSpPr/>
          <p:nvPr/>
        </p:nvCxnSpPr>
        <p:spPr>
          <a:xfrm>
            <a:off x="795528" y="2414016"/>
            <a:ext cx="2706624"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95528" y="2560320"/>
            <a:ext cx="2724912" cy="658368"/>
          </a:xfrm>
          <a:prstGeom prst="rect">
            <a:avLst/>
          </a:prstGeom>
          <a:noFill/>
        </p:spPr>
        <p:txBody>
          <a:bodyPr wrap="square" lIns="0" rIns="0" tIns="0" bIns="0" anchor="t">
            <a:spAutoFit/>
          </a:bodyPr>
          <a:lstStyle/>
          <a:p>
            <a:pPr algn="l">
              <a:lnSpc>
                <a:spcPct val="114000"/>
              </a:lnSpc>
              <a:spcBef>
                <a:spcPts val="0"/>
              </a:spcBef>
              <a:spcAft>
                <a:spcPts val="0"/>
              </a:spcAft>
            </a:pPr>
            <a:r>
              <a:rPr sz="1320" b="0" i="0">
                <a:solidFill>
                  <a:srgbClr val="1A1A1A"/>
                </a:solidFill>
                <a:latin typeface="Aptos"/>
                <a:ea typeface="Aptos"/>
              </a:rPr>
              <a:t>Detection noise → jitter</a:t>
            </a:r>
          </a:p>
          <a:p>
            <a:pPr algn="l">
              <a:lnSpc>
                <a:spcPct val="114000"/>
              </a:lnSpc>
              <a:spcBef>
                <a:spcPts val="0"/>
              </a:spcBef>
              <a:spcAft>
                <a:spcPts val="0"/>
              </a:spcAft>
            </a:pPr>
            <a:r>
              <a:rPr sz="1320" b="0" i="0">
                <a:solidFill>
                  <a:srgbClr val="1A1A1A"/>
                </a:solidFill>
                <a:latin typeface="Aptos"/>
                <a:ea typeface="Aptos"/>
              </a:rPr>
              <a:t>Weak borders → localization bias</a:t>
            </a:r>
          </a:p>
        </p:txBody>
      </p:sp>
      <p:sp>
        <p:nvSpPr>
          <p:cNvPr id="14" name="Rounded Rectangle 13"/>
          <p:cNvSpPr/>
          <p:nvPr/>
        </p:nvSpPr>
        <p:spPr>
          <a:xfrm>
            <a:off x="4069080" y="1426464"/>
            <a:ext cx="3163824" cy="2039112"/>
          </a:xfrm>
          <a:prstGeom prst="roundRect">
            <a:avLst>
              <a:gd name="adj" fmla="val 8000"/>
            </a:avLst>
          </a:prstGeom>
          <a:solidFill>
            <a:srgbClr val="FFF3E8"/>
          </a:solidFill>
          <a:ln w="13970">
            <a:solidFill>
              <a:srgbClr val="E978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70248" y="1627632"/>
            <a:ext cx="2724912" cy="329184"/>
          </a:xfrm>
          <a:prstGeom prst="rect">
            <a:avLst/>
          </a:prstGeom>
          <a:noFill/>
        </p:spPr>
        <p:txBody>
          <a:bodyPr wrap="square" lIns="0" rIns="0" tIns="0" bIns="0" anchor="t">
            <a:spAutoFit/>
          </a:bodyPr>
          <a:lstStyle/>
          <a:p>
            <a:pPr algn="l">
              <a:lnSpc>
                <a:spcPct val="108000"/>
              </a:lnSpc>
              <a:spcBef>
                <a:spcPts val="0"/>
              </a:spcBef>
              <a:spcAft>
                <a:spcPts val="0"/>
              </a:spcAft>
            </a:pPr>
            <a:r>
              <a:rPr sz="1700" b="1" i="0">
                <a:solidFill>
                  <a:srgbClr val="E97822"/>
                </a:solidFill>
                <a:latin typeface="Aptos"/>
                <a:ea typeface="Aptos"/>
              </a:rPr>
              <a:t>Adjacent optical flow</a:t>
            </a:r>
          </a:p>
        </p:txBody>
      </p:sp>
      <p:sp>
        <p:nvSpPr>
          <p:cNvPr id="16" name="TextBox 15"/>
          <p:cNvSpPr txBox="1"/>
          <p:nvPr/>
        </p:nvSpPr>
        <p:spPr>
          <a:xfrm>
            <a:off x="4270248" y="2039112"/>
            <a:ext cx="2724912" cy="274320"/>
          </a:xfrm>
          <a:prstGeom prst="rect">
            <a:avLst/>
          </a:prstGeom>
          <a:noFill/>
        </p:spPr>
        <p:txBody>
          <a:bodyPr wrap="square" lIns="0" rIns="0" tIns="0" bIns="0" anchor="t">
            <a:spAutoFit/>
          </a:bodyPr>
          <a:lstStyle/>
          <a:p>
            <a:pPr algn="l">
              <a:lnSpc>
                <a:spcPct val="108000"/>
              </a:lnSpc>
              <a:spcBef>
                <a:spcPts val="0"/>
              </a:spcBef>
              <a:spcAft>
                <a:spcPts val="0"/>
              </a:spcAft>
            </a:pPr>
            <a:r>
              <a:rPr sz="1250" b="1" i="0">
                <a:solidFill>
                  <a:srgbClr val="555B66"/>
                </a:solidFill>
                <a:latin typeface="Aptos"/>
                <a:ea typeface="Aptos"/>
              </a:rPr>
              <a:t>Trusts internal texture</a:t>
            </a:r>
          </a:p>
        </p:txBody>
      </p:sp>
      <p:cxnSp>
        <p:nvCxnSpPr>
          <p:cNvPr id="17" name="Connector 16"/>
          <p:cNvCxnSpPr/>
          <p:nvPr/>
        </p:nvCxnSpPr>
        <p:spPr>
          <a:xfrm>
            <a:off x="4270248" y="2414016"/>
            <a:ext cx="2706624"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270248" y="2560320"/>
            <a:ext cx="2724912" cy="658368"/>
          </a:xfrm>
          <a:prstGeom prst="rect">
            <a:avLst/>
          </a:prstGeom>
          <a:noFill/>
        </p:spPr>
        <p:txBody>
          <a:bodyPr wrap="square" lIns="0" rIns="0" tIns="0" bIns="0" anchor="t">
            <a:spAutoFit/>
          </a:bodyPr>
          <a:lstStyle/>
          <a:p>
            <a:pPr algn="l">
              <a:lnSpc>
                <a:spcPct val="114000"/>
              </a:lnSpc>
              <a:spcBef>
                <a:spcPts val="0"/>
              </a:spcBef>
              <a:spcAft>
                <a:spcPts val="0"/>
              </a:spcAft>
            </a:pPr>
            <a:r>
              <a:rPr sz="1320" b="0" i="0">
                <a:solidFill>
                  <a:srgbClr val="1A1A1A"/>
                </a:solidFill>
                <a:latin typeface="Aptos"/>
                <a:ea typeface="Aptos"/>
              </a:rPr>
              <a:t>Page scrolling → content-driven motion</a:t>
            </a:r>
          </a:p>
          <a:p>
            <a:pPr algn="l">
              <a:lnSpc>
                <a:spcPct val="114000"/>
              </a:lnSpc>
              <a:spcBef>
                <a:spcPts val="0"/>
              </a:spcBef>
              <a:spcAft>
                <a:spcPts val="0"/>
              </a:spcAft>
            </a:pPr>
            <a:r>
              <a:rPr sz="1320" b="0" i="0">
                <a:solidFill>
                  <a:srgbClr val="1A1A1A"/>
                </a:solidFill>
                <a:latin typeface="Aptos"/>
                <a:ea typeface="Aptos"/>
              </a:rPr>
              <a:t>Frame propagation → accumulated drift</a:t>
            </a:r>
          </a:p>
        </p:txBody>
      </p:sp>
      <p:sp>
        <p:nvSpPr>
          <p:cNvPr id="19" name="Rounded Rectangle 18"/>
          <p:cNvSpPr/>
          <p:nvPr/>
        </p:nvSpPr>
        <p:spPr>
          <a:xfrm>
            <a:off x="7543800" y="1426464"/>
            <a:ext cx="3163824" cy="2039112"/>
          </a:xfrm>
          <a:prstGeom prst="roundRect">
            <a:avLst>
              <a:gd name="adj" fmla="val 8000"/>
            </a:avLst>
          </a:prstGeom>
          <a:solidFill>
            <a:srgbClr val="E8EFFB"/>
          </a:solidFill>
          <a:ln w="1397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44968" y="1627632"/>
            <a:ext cx="2724912" cy="329184"/>
          </a:xfrm>
          <a:prstGeom prst="rect">
            <a:avLst/>
          </a:prstGeom>
          <a:noFill/>
        </p:spPr>
        <p:txBody>
          <a:bodyPr wrap="square" lIns="0" rIns="0" tIns="0" bIns="0" anchor="t">
            <a:spAutoFit/>
          </a:bodyPr>
          <a:lstStyle/>
          <a:p>
            <a:pPr algn="l">
              <a:lnSpc>
                <a:spcPct val="108000"/>
              </a:lnSpc>
              <a:spcBef>
                <a:spcPts val="0"/>
              </a:spcBef>
              <a:spcAft>
                <a:spcPts val="0"/>
              </a:spcAft>
            </a:pPr>
            <a:r>
              <a:rPr sz="1700" b="1" i="0">
                <a:solidFill>
                  <a:srgbClr val="1F57C4"/>
                </a:solidFill>
                <a:latin typeface="Aptos"/>
                <a:ea typeface="Aptos"/>
              </a:rPr>
              <a:t>Border-guided (ours)</a:t>
            </a:r>
          </a:p>
        </p:txBody>
      </p:sp>
      <p:sp>
        <p:nvSpPr>
          <p:cNvPr id="21" name="TextBox 20"/>
          <p:cNvSpPr txBox="1"/>
          <p:nvPr/>
        </p:nvSpPr>
        <p:spPr>
          <a:xfrm>
            <a:off x="7744968" y="2039112"/>
            <a:ext cx="2724912" cy="274320"/>
          </a:xfrm>
          <a:prstGeom prst="rect">
            <a:avLst/>
          </a:prstGeom>
          <a:noFill/>
        </p:spPr>
        <p:txBody>
          <a:bodyPr wrap="square" lIns="0" rIns="0" tIns="0" bIns="0" anchor="t">
            <a:spAutoFit/>
          </a:bodyPr>
          <a:lstStyle/>
          <a:p>
            <a:pPr algn="l">
              <a:lnSpc>
                <a:spcPct val="108000"/>
              </a:lnSpc>
              <a:spcBef>
                <a:spcPts val="0"/>
              </a:spcBef>
              <a:spcAft>
                <a:spcPts val="0"/>
              </a:spcAft>
            </a:pPr>
            <a:r>
              <a:rPr sz="1250" b="1" i="0">
                <a:solidFill>
                  <a:srgbClr val="555B66"/>
                </a:solidFill>
                <a:latin typeface="Aptos"/>
                <a:ea typeface="Aptos"/>
              </a:rPr>
              <a:t>Trusts the physical boundary</a:t>
            </a:r>
          </a:p>
        </p:txBody>
      </p:sp>
      <p:cxnSp>
        <p:nvCxnSpPr>
          <p:cNvPr id="22" name="Connector 21"/>
          <p:cNvCxnSpPr/>
          <p:nvPr/>
        </p:nvCxnSpPr>
        <p:spPr>
          <a:xfrm>
            <a:off x="7744968" y="2414016"/>
            <a:ext cx="2706624"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44968" y="2560320"/>
            <a:ext cx="2724912" cy="658368"/>
          </a:xfrm>
          <a:prstGeom prst="rect">
            <a:avLst/>
          </a:prstGeom>
          <a:noFill/>
        </p:spPr>
        <p:txBody>
          <a:bodyPr wrap="square" lIns="0" rIns="0" tIns="0" bIns="0" anchor="t">
            <a:spAutoFit/>
          </a:bodyPr>
          <a:lstStyle/>
          <a:p>
            <a:pPr algn="l">
              <a:lnSpc>
                <a:spcPct val="114000"/>
              </a:lnSpc>
              <a:spcBef>
                <a:spcPts val="0"/>
              </a:spcBef>
              <a:spcAft>
                <a:spcPts val="0"/>
              </a:spcAft>
            </a:pPr>
            <a:r>
              <a:rPr sz="1320" b="0" i="0">
                <a:solidFill>
                  <a:srgbClr val="1A1A1A"/>
                </a:solidFill>
                <a:latin typeface="Aptos"/>
                <a:ea typeface="Aptos"/>
              </a:rPr>
              <a:t>Border defines the quadrilateral</a:t>
            </a:r>
          </a:p>
          <a:p>
            <a:pPr algn="l">
              <a:lnSpc>
                <a:spcPct val="114000"/>
              </a:lnSpc>
              <a:spcBef>
                <a:spcPts val="0"/>
              </a:spcBef>
              <a:spcAft>
                <a:spcPts val="0"/>
              </a:spcAft>
            </a:pPr>
            <a:r>
              <a:rPr sz="1320" b="0" i="0">
                <a:solidFill>
                  <a:srgbClr val="1A1A1A"/>
                </a:solidFill>
                <a:latin typeface="Aptos"/>
                <a:ea typeface="Aptos"/>
              </a:rPr>
              <a:t>Internal flow is diagnostic only</a:t>
            </a:r>
          </a:p>
        </p:txBody>
      </p:sp>
      <p:sp>
        <p:nvSpPr>
          <p:cNvPr id="24" name="TextBox 23"/>
          <p:cNvSpPr txBox="1"/>
          <p:nvPr/>
        </p:nvSpPr>
        <p:spPr>
          <a:xfrm>
            <a:off x="640080" y="3730752"/>
            <a:ext cx="5669280" cy="256032"/>
          </a:xfrm>
          <a:prstGeom prst="rect">
            <a:avLst/>
          </a:prstGeom>
          <a:noFill/>
        </p:spPr>
        <p:txBody>
          <a:bodyPr wrap="square" lIns="0" rIns="0" tIns="0" bIns="0" anchor="t">
            <a:spAutoFit/>
          </a:bodyPr>
          <a:lstStyle/>
          <a:p>
            <a:pPr algn="l">
              <a:lnSpc>
                <a:spcPct val="108000"/>
              </a:lnSpc>
              <a:spcBef>
                <a:spcPts val="0"/>
              </a:spcBef>
              <a:spcAft>
                <a:spcPts val="0"/>
              </a:spcAft>
            </a:pPr>
            <a:r>
              <a:rPr sz="1140" b="1" i="0">
                <a:solidFill>
                  <a:srgbClr val="1F57C4"/>
                </a:solidFill>
                <a:latin typeface="Aptos"/>
                <a:ea typeface="Aptos"/>
              </a:rPr>
              <a:t>Same moment on a scrolling page: input + three methods</a:t>
            </a:r>
          </a:p>
        </p:txBody>
      </p:sp>
      <p:sp>
        <p:nvSpPr>
          <p:cNvPr id="25" name="Rounded Rectangle 24"/>
          <p:cNvSpPr/>
          <p:nvPr/>
        </p:nvSpPr>
        <p:spPr>
          <a:xfrm>
            <a:off x="594360" y="4023360"/>
            <a:ext cx="11000232" cy="199339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figure_05_qualitative.png"/>
          <p:cNvPicPr>
            <a:picLocks noChangeAspect="1"/>
          </p:cNvPicPr>
          <p:nvPr/>
        </p:nvPicPr>
        <p:blipFill>
          <a:blip r:embed="rId2"/>
          <a:srcRect t="20500" b="61500"/>
          <a:stretch>
            <a:fillRect/>
          </a:stretch>
        </p:blipFill>
        <p:spPr>
          <a:xfrm>
            <a:off x="694944" y="4123944"/>
            <a:ext cx="10799064" cy="1755648"/>
          </a:xfrm>
          <a:prstGeom prst="rect">
            <a:avLst/>
          </a:prstGeom>
        </p:spPr>
      </p:pic>
      <p:sp>
        <p:nvSpPr>
          <p:cNvPr id="27" name="TextBox 26"/>
          <p:cNvSpPr txBox="1"/>
          <p:nvPr/>
        </p:nvSpPr>
        <p:spPr>
          <a:xfrm>
            <a:off x="704088" y="5998464"/>
            <a:ext cx="10771632" cy="237744"/>
          </a:xfrm>
          <a:prstGeom prst="rect">
            <a:avLst/>
          </a:prstGeom>
          <a:noFill/>
        </p:spPr>
        <p:txBody>
          <a:bodyPr wrap="square" lIns="0" rIns="0" tIns="0" bIns="0" anchor="t">
            <a:spAutoFit/>
          </a:bodyPr>
          <a:lstStyle/>
          <a:p>
            <a:pPr algn="ctr">
              <a:lnSpc>
                <a:spcPct val="108000"/>
              </a:lnSpc>
              <a:spcBef>
                <a:spcPts val="0"/>
              </a:spcBef>
              <a:spcAft>
                <a:spcPts val="0"/>
              </a:spcAft>
            </a:pPr>
            <a:r>
              <a:rPr sz="1000" b="0" i="1">
                <a:solidFill>
                  <a:srgbClr val="555B66"/>
                </a:solidFill>
                <a:latin typeface="Aptos"/>
                <a:ea typeface="Aptos"/>
              </a:rPr>
              <a:t>Check whether the full screen is preserved, the border drifts, and the scrolling content remains intact.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METHOD</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00" b="1" i="0">
                <a:solidFill>
                  <a:srgbClr val="1A1A1A"/>
                </a:solidFill>
                <a:latin typeface="Aptos"/>
                <a:ea typeface="Aptos"/>
              </a:rPr>
              <a:t>The Current Border-Guided Pipeline</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figure_01_pipeline.png</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3</a:t>
            </a:r>
          </a:p>
        </p:txBody>
      </p:sp>
      <p:sp>
        <p:nvSpPr>
          <p:cNvPr id="9" name="Rounded Rectangle 8"/>
          <p:cNvSpPr/>
          <p:nvPr/>
        </p:nvSpPr>
        <p:spPr>
          <a:xfrm>
            <a:off x="566928" y="1371600"/>
            <a:ext cx="11045952" cy="331927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1_pipeline.png"/>
          <p:cNvPicPr>
            <a:picLocks noChangeAspect="1"/>
          </p:cNvPicPr>
          <p:nvPr/>
        </p:nvPicPr>
        <p:blipFill>
          <a:blip r:embed="rId2"/>
          <a:stretch>
            <a:fillRect/>
          </a:stretch>
        </p:blipFill>
        <p:spPr>
          <a:xfrm>
            <a:off x="1599601" y="1463040"/>
            <a:ext cx="8980604" cy="3127248"/>
          </a:xfrm>
          <a:prstGeom prst="rect">
            <a:avLst/>
          </a:prstGeom>
        </p:spPr>
      </p:pic>
      <p:sp>
        <p:nvSpPr>
          <p:cNvPr id="11" name="Rounded Rectangle 10"/>
          <p:cNvSpPr/>
          <p:nvPr/>
        </p:nvSpPr>
        <p:spPr>
          <a:xfrm>
            <a:off x="603504" y="4937760"/>
            <a:ext cx="3291840" cy="117043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5129784"/>
            <a:ext cx="457200" cy="274320"/>
          </a:xfrm>
          <a:prstGeom prst="rect">
            <a:avLst/>
          </a:prstGeom>
          <a:noFill/>
        </p:spPr>
        <p:txBody>
          <a:bodyPr wrap="square" lIns="0" rIns="0" tIns="0" bIns="0" anchor="t">
            <a:spAutoFit/>
          </a:bodyPr>
          <a:lstStyle/>
          <a:p>
            <a:pPr algn="l">
              <a:lnSpc>
                <a:spcPct val="108000"/>
              </a:lnSpc>
              <a:spcBef>
                <a:spcPts val="0"/>
              </a:spcBef>
              <a:spcAft>
                <a:spcPts val="0"/>
              </a:spcAft>
            </a:pPr>
            <a:r>
              <a:rPr sz="1120" b="1" i="0">
                <a:solidFill>
                  <a:srgbClr val="1F57C4"/>
                </a:solidFill>
                <a:latin typeface="Aptos"/>
                <a:ea typeface="Aptos"/>
              </a:rPr>
              <a:t>01</a:t>
            </a:r>
          </a:p>
        </p:txBody>
      </p:sp>
      <p:sp>
        <p:nvSpPr>
          <p:cNvPr id="13" name="TextBox 12"/>
          <p:cNvSpPr txBox="1"/>
          <p:nvPr/>
        </p:nvSpPr>
        <p:spPr>
          <a:xfrm>
            <a:off x="1207008" y="5084064"/>
            <a:ext cx="2450592" cy="310896"/>
          </a:xfrm>
          <a:prstGeom prst="rect">
            <a:avLst/>
          </a:prstGeom>
          <a:noFill/>
        </p:spPr>
        <p:txBody>
          <a:bodyPr wrap="square" lIns="0" rIns="0" tIns="0" bIns="0" anchor="t">
            <a:spAutoFit/>
          </a:bodyPr>
          <a:lstStyle/>
          <a:p>
            <a:pPr algn="l">
              <a:lnSpc>
                <a:spcPct val="108000"/>
              </a:lnSpc>
              <a:spcBef>
                <a:spcPts val="0"/>
              </a:spcBef>
              <a:spcAft>
                <a:spcPts val="0"/>
              </a:spcAft>
            </a:pPr>
            <a:r>
              <a:rPr sz="1310" b="1" i="0">
                <a:solidFill>
                  <a:srgbClr val="1A1A1A"/>
                </a:solidFill>
                <a:latin typeface="Aptos"/>
                <a:ea typeface="Aptos"/>
              </a:rPr>
              <a:t>Physical borders define H</a:t>
            </a:r>
          </a:p>
        </p:txBody>
      </p:sp>
      <p:sp>
        <p:nvSpPr>
          <p:cNvPr id="14" name="TextBox 13"/>
          <p:cNvSpPr txBox="1"/>
          <p:nvPr/>
        </p:nvSpPr>
        <p:spPr>
          <a:xfrm>
            <a:off x="768096" y="5504688"/>
            <a:ext cx="2852928" cy="402336"/>
          </a:xfrm>
          <a:prstGeom prst="rect">
            <a:avLst/>
          </a:prstGeom>
          <a:noFill/>
        </p:spPr>
        <p:txBody>
          <a:bodyPr wrap="square" lIns="0" rIns="0" tIns="0" bIns="0" anchor="t">
            <a:spAutoFit/>
          </a:bodyPr>
          <a:lstStyle/>
          <a:p>
            <a:pPr algn="l">
              <a:lnSpc>
                <a:spcPct val="108000"/>
              </a:lnSpc>
              <a:spcBef>
                <a:spcPts val="0"/>
              </a:spcBef>
              <a:spcAft>
                <a:spcPts val="0"/>
              </a:spcAft>
            </a:pPr>
            <a:r>
              <a:rPr sz="1050" b="0" i="0">
                <a:solidFill>
                  <a:srgbClr val="555B66"/>
                </a:solidFill>
                <a:latin typeface="Aptos"/>
                <a:ea typeface="Aptos"/>
              </a:rPr>
              <a:t>Sample profiles near predicted borders, fit four lines, and intersect them.</a:t>
            </a:r>
          </a:p>
        </p:txBody>
      </p:sp>
      <p:sp>
        <p:nvSpPr>
          <p:cNvPr id="15" name="Rounded Rectangle 14"/>
          <p:cNvSpPr/>
          <p:nvPr/>
        </p:nvSpPr>
        <p:spPr>
          <a:xfrm>
            <a:off x="4160520" y="4937760"/>
            <a:ext cx="3291840" cy="117043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5112" y="5129784"/>
            <a:ext cx="457200" cy="274320"/>
          </a:xfrm>
          <a:prstGeom prst="rect">
            <a:avLst/>
          </a:prstGeom>
          <a:noFill/>
        </p:spPr>
        <p:txBody>
          <a:bodyPr wrap="square" lIns="0" rIns="0" tIns="0" bIns="0" anchor="t">
            <a:spAutoFit/>
          </a:bodyPr>
          <a:lstStyle/>
          <a:p>
            <a:pPr algn="l">
              <a:lnSpc>
                <a:spcPct val="108000"/>
              </a:lnSpc>
              <a:spcBef>
                <a:spcPts val="0"/>
              </a:spcBef>
              <a:spcAft>
                <a:spcPts val="0"/>
              </a:spcAft>
            </a:pPr>
            <a:r>
              <a:rPr sz="1120" b="1" i="0">
                <a:solidFill>
                  <a:srgbClr val="1F57C4"/>
                </a:solidFill>
                <a:latin typeface="Aptos"/>
                <a:ea typeface="Aptos"/>
              </a:rPr>
              <a:t>02</a:t>
            </a:r>
          </a:p>
        </p:txBody>
      </p:sp>
      <p:sp>
        <p:nvSpPr>
          <p:cNvPr id="17" name="TextBox 16"/>
          <p:cNvSpPr txBox="1"/>
          <p:nvPr/>
        </p:nvSpPr>
        <p:spPr>
          <a:xfrm>
            <a:off x="4764024" y="5084064"/>
            <a:ext cx="2450592" cy="310896"/>
          </a:xfrm>
          <a:prstGeom prst="rect">
            <a:avLst/>
          </a:prstGeom>
          <a:noFill/>
        </p:spPr>
        <p:txBody>
          <a:bodyPr wrap="square" lIns="0" rIns="0" tIns="0" bIns="0" anchor="t">
            <a:spAutoFit/>
          </a:bodyPr>
          <a:lstStyle/>
          <a:p>
            <a:pPr algn="l">
              <a:lnSpc>
                <a:spcPct val="108000"/>
              </a:lnSpc>
              <a:spcBef>
                <a:spcPts val="0"/>
              </a:spcBef>
              <a:spcAft>
                <a:spcPts val="0"/>
              </a:spcAft>
            </a:pPr>
            <a:r>
              <a:rPr sz="1310" b="1" i="0">
                <a:solidFill>
                  <a:srgbClr val="1A1A1A"/>
                </a:solidFill>
                <a:latin typeface="Aptos"/>
                <a:ea typeface="Aptos"/>
              </a:rPr>
              <a:t>LK/RANSAC is diagnostic</a:t>
            </a:r>
          </a:p>
        </p:txBody>
      </p:sp>
      <p:sp>
        <p:nvSpPr>
          <p:cNvPr id="18" name="TextBox 17"/>
          <p:cNvSpPr txBox="1"/>
          <p:nvPr/>
        </p:nvSpPr>
        <p:spPr>
          <a:xfrm>
            <a:off x="4325112" y="5504688"/>
            <a:ext cx="2852928" cy="402336"/>
          </a:xfrm>
          <a:prstGeom prst="rect">
            <a:avLst/>
          </a:prstGeom>
          <a:noFill/>
        </p:spPr>
        <p:txBody>
          <a:bodyPr wrap="square" lIns="0" rIns="0" tIns="0" bIns="0" anchor="t">
            <a:spAutoFit/>
          </a:bodyPr>
          <a:lstStyle/>
          <a:p>
            <a:pPr algn="l">
              <a:lnSpc>
                <a:spcPct val="108000"/>
              </a:lnSpc>
              <a:spcBef>
                <a:spcPts val="0"/>
              </a:spcBef>
              <a:spcAft>
                <a:spcPts val="0"/>
              </a:spcAft>
            </a:pPr>
            <a:r>
              <a:rPr sz="1050" b="0" i="0">
                <a:solidFill>
                  <a:srgbClr val="555B66"/>
                </a:solidFill>
                <a:latin typeface="Aptos"/>
                <a:ea typeface="Aptos"/>
              </a:rPr>
              <a:t>Detect internal-motion conflict without letting scrolling content control the plane.</a:t>
            </a:r>
          </a:p>
        </p:txBody>
      </p:sp>
      <p:sp>
        <p:nvSpPr>
          <p:cNvPr id="19" name="Rounded Rectangle 18"/>
          <p:cNvSpPr/>
          <p:nvPr/>
        </p:nvSpPr>
        <p:spPr>
          <a:xfrm>
            <a:off x="7717536" y="4937760"/>
            <a:ext cx="3291840" cy="1170432"/>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82127" y="5129784"/>
            <a:ext cx="457200" cy="274320"/>
          </a:xfrm>
          <a:prstGeom prst="rect">
            <a:avLst/>
          </a:prstGeom>
          <a:noFill/>
        </p:spPr>
        <p:txBody>
          <a:bodyPr wrap="square" lIns="0" rIns="0" tIns="0" bIns="0" anchor="t">
            <a:spAutoFit/>
          </a:bodyPr>
          <a:lstStyle/>
          <a:p>
            <a:pPr algn="l">
              <a:lnSpc>
                <a:spcPct val="108000"/>
              </a:lnSpc>
              <a:spcBef>
                <a:spcPts val="0"/>
              </a:spcBef>
              <a:spcAft>
                <a:spcPts val="0"/>
              </a:spcAft>
            </a:pPr>
            <a:r>
              <a:rPr sz="1120" b="1" i="0">
                <a:solidFill>
                  <a:srgbClr val="1F57C4"/>
                </a:solidFill>
                <a:latin typeface="Aptos"/>
                <a:ea typeface="Aptos"/>
              </a:rPr>
              <a:t>03</a:t>
            </a:r>
          </a:p>
        </p:txBody>
      </p:sp>
      <p:sp>
        <p:nvSpPr>
          <p:cNvPr id="21" name="TextBox 20"/>
          <p:cNvSpPr txBox="1"/>
          <p:nvPr/>
        </p:nvSpPr>
        <p:spPr>
          <a:xfrm>
            <a:off x="8321040" y="5084064"/>
            <a:ext cx="2450592" cy="310896"/>
          </a:xfrm>
          <a:prstGeom prst="rect">
            <a:avLst/>
          </a:prstGeom>
          <a:noFill/>
        </p:spPr>
        <p:txBody>
          <a:bodyPr wrap="square" lIns="0" rIns="0" tIns="0" bIns="0" anchor="t">
            <a:spAutoFit/>
          </a:bodyPr>
          <a:lstStyle/>
          <a:p>
            <a:pPr algn="l">
              <a:lnSpc>
                <a:spcPct val="108000"/>
              </a:lnSpc>
              <a:spcBef>
                <a:spcPts val="0"/>
              </a:spcBef>
              <a:spcAft>
                <a:spcPts val="0"/>
              </a:spcAft>
            </a:pPr>
            <a:r>
              <a:rPr sz="1310" b="1" i="0">
                <a:solidFill>
                  <a:srgbClr val="1A1A1A"/>
                </a:solidFill>
                <a:latin typeface="Aptos"/>
                <a:ea typeface="Aptos"/>
              </a:rPr>
              <a:t>Gating, redetection, smoothing</a:t>
            </a:r>
          </a:p>
        </p:txBody>
      </p:sp>
      <p:sp>
        <p:nvSpPr>
          <p:cNvPr id="22" name="TextBox 21"/>
          <p:cNvSpPr txBox="1"/>
          <p:nvPr/>
        </p:nvSpPr>
        <p:spPr>
          <a:xfrm>
            <a:off x="7882127" y="5504688"/>
            <a:ext cx="2852928" cy="402336"/>
          </a:xfrm>
          <a:prstGeom prst="rect">
            <a:avLst/>
          </a:prstGeom>
          <a:noFill/>
        </p:spPr>
        <p:txBody>
          <a:bodyPr wrap="square" lIns="0" rIns="0" tIns="0" bIns="0" anchor="t">
            <a:spAutoFit/>
          </a:bodyPr>
          <a:lstStyle/>
          <a:p>
            <a:pPr algn="l">
              <a:lnSpc>
                <a:spcPct val="108000"/>
              </a:lnSpc>
              <a:spcBef>
                <a:spcPts val="0"/>
              </a:spcBef>
              <a:spcAft>
                <a:spcPts val="0"/>
              </a:spcAft>
            </a:pPr>
            <a:r>
              <a:rPr sz="1050" b="0" i="0">
                <a:solidFill>
                  <a:srgbClr val="555B66"/>
                </a:solidFill>
                <a:latin typeface="Aptos"/>
                <a:ea typeface="Aptos"/>
              </a:rPr>
              <a:t>Reject invalid quadrilaterals, redetect when needed, and smooth the final trajectory.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EVALUATION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900" b="1" i="0">
                <a:solidFill>
                  <a:srgbClr val="1A1A1A"/>
                </a:solidFill>
                <a:latin typeface="Aptos"/>
                <a:ea typeface="Aptos"/>
              </a:rPr>
              <a:t>Dataset &amp; Experimental Setup</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project outline; annotated_dataset_mosaic.jpg</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4</a:t>
            </a:r>
          </a:p>
        </p:txBody>
      </p:sp>
      <p:sp>
        <p:nvSpPr>
          <p:cNvPr id="9" name="Rounded Rectangle 8"/>
          <p:cNvSpPr/>
          <p:nvPr/>
        </p:nvSpPr>
        <p:spPr>
          <a:xfrm>
            <a:off x="621792" y="1417320"/>
            <a:ext cx="1709928" cy="1097280"/>
          </a:xfrm>
          <a:prstGeom prst="roundRect">
            <a:avLst>
              <a:gd name="adj" fmla="val 8000"/>
            </a:avLst>
          </a:prstGeom>
          <a:solidFill>
            <a:srgbClr val="E8EFFB"/>
          </a:solidFill>
          <a:ln w="10160">
            <a:solidFill>
              <a:srgbClr val="E8EF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1453896" cy="438912"/>
          </a:xfrm>
          <a:prstGeom prst="rect">
            <a:avLst/>
          </a:prstGeom>
          <a:noFill/>
        </p:spPr>
        <p:txBody>
          <a:bodyPr wrap="square" lIns="0" rIns="0" tIns="0" bIns="0" anchor="ctr">
            <a:spAutoFit/>
          </a:bodyPr>
          <a:lstStyle/>
          <a:p>
            <a:pPr algn="ctr">
              <a:lnSpc>
                <a:spcPct val="108000"/>
              </a:lnSpc>
              <a:spcBef>
                <a:spcPts val="0"/>
              </a:spcBef>
              <a:spcAft>
                <a:spcPts val="0"/>
              </a:spcAft>
            </a:pPr>
            <a:r>
              <a:rPr sz="2400" b="1" i="0">
                <a:solidFill>
                  <a:srgbClr val="1F57C4"/>
                </a:solidFill>
                <a:latin typeface="Aptos"/>
                <a:ea typeface="Aptos"/>
              </a:rPr>
              <a:t>50</a:t>
            </a:r>
          </a:p>
        </p:txBody>
      </p:sp>
      <p:sp>
        <p:nvSpPr>
          <p:cNvPr id="11" name="TextBox 10"/>
          <p:cNvSpPr txBox="1"/>
          <p:nvPr/>
        </p:nvSpPr>
        <p:spPr>
          <a:xfrm>
            <a:off x="713232" y="2048256"/>
            <a:ext cx="1527048" cy="219456"/>
          </a:xfrm>
          <a:prstGeom prst="rect">
            <a:avLst/>
          </a:prstGeom>
          <a:noFill/>
        </p:spPr>
        <p:txBody>
          <a:bodyPr wrap="square" lIns="0" rIns="0" tIns="0" bIns="0" anchor="t">
            <a:spAutoFit/>
          </a:bodyPr>
          <a:lstStyle/>
          <a:p>
            <a:pPr algn="ctr">
              <a:lnSpc>
                <a:spcPct val="108000"/>
              </a:lnSpc>
              <a:spcBef>
                <a:spcPts val="0"/>
              </a:spcBef>
              <a:spcAft>
                <a:spcPts val="0"/>
              </a:spcAft>
            </a:pPr>
            <a:r>
              <a:rPr sz="1019" b="0" i="0">
                <a:solidFill>
                  <a:srgbClr val="555B66"/>
                </a:solidFill>
                <a:latin typeface="Aptos"/>
                <a:ea typeface="Aptos"/>
              </a:rPr>
              <a:t>self-collected clips</a:t>
            </a:r>
          </a:p>
        </p:txBody>
      </p:sp>
      <p:sp>
        <p:nvSpPr>
          <p:cNvPr id="12" name="Rounded Rectangle 11"/>
          <p:cNvSpPr/>
          <p:nvPr/>
        </p:nvSpPr>
        <p:spPr>
          <a:xfrm>
            <a:off x="2532888" y="1417320"/>
            <a:ext cx="1947672" cy="1097280"/>
          </a:xfrm>
          <a:prstGeom prst="roundRect">
            <a:avLst>
              <a:gd name="adj" fmla="val 8000"/>
            </a:avLst>
          </a:prstGeom>
          <a:solidFill>
            <a:srgbClr val="E8EFFB"/>
          </a:solidFill>
          <a:ln w="10160">
            <a:solidFill>
              <a:srgbClr val="E8EF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60904" y="1572768"/>
            <a:ext cx="1691640" cy="438912"/>
          </a:xfrm>
          <a:prstGeom prst="rect">
            <a:avLst/>
          </a:prstGeom>
          <a:noFill/>
        </p:spPr>
        <p:txBody>
          <a:bodyPr wrap="square" lIns="0" rIns="0" tIns="0" bIns="0" anchor="ctr">
            <a:spAutoFit/>
          </a:bodyPr>
          <a:lstStyle/>
          <a:p>
            <a:pPr algn="ctr">
              <a:lnSpc>
                <a:spcPct val="108000"/>
              </a:lnSpc>
              <a:spcBef>
                <a:spcPts val="0"/>
              </a:spcBef>
              <a:spcAft>
                <a:spcPts val="0"/>
              </a:spcAft>
            </a:pPr>
            <a:r>
              <a:rPr sz="2400" b="1" i="0">
                <a:solidFill>
                  <a:srgbClr val="1F57C4"/>
                </a:solidFill>
                <a:latin typeface="Aptos"/>
                <a:ea typeface="Aptos"/>
              </a:rPr>
              <a:t>14,985</a:t>
            </a:r>
          </a:p>
        </p:txBody>
      </p:sp>
      <p:sp>
        <p:nvSpPr>
          <p:cNvPr id="14" name="TextBox 13"/>
          <p:cNvSpPr txBox="1"/>
          <p:nvPr/>
        </p:nvSpPr>
        <p:spPr>
          <a:xfrm>
            <a:off x="2624328" y="2048256"/>
            <a:ext cx="1764792" cy="219456"/>
          </a:xfrm>
          <a:prstGeom prst="rect">
            <a:avLst/>
          </a:prstGeom>
          <a:noFill/>
        </p:spPr>
        <p:txBody>
          <a:bodyPr wrap="square" lIns="0" rIns="0" tIns="0" bIns="0" anchor="t">
            <a:spAutoFit/>
          </a:bodyPr>
          <a:lstStyle/>
          <a:p>
            <a:pPr algn="ctr">
              <a:lnSpc>
                <a:spcPct val="108000"/>
              </a:lnSpc>
              <a:spcBef>
                <a:spcPts val="0"/>
              </a:spcBef>
              <a:spcAft>
                <a:spcPts val="0"/>
              </a:spcAft>
            </a:pPr>
            <a:r>
              <a:rPr sz="1019" b="0" i="0">
                <a:solidFill>
                  <a:srgbClr val="555B66"/>
                </a:solidFill>
                <a:latin typeface="Aptos"/>
                <a:ea typeface="Aptos"/>
              </a:rPr>
              <a:t>total frames</a:t>
            </a:r>
          </a:p>
        </p:txBody>
      </p:sp>
      <p:sp>
        <p:nvSpPr>
          <p:cNvPr id="15" name="Rounded Rectangle 14"/>
          <p:cNvSpPr/>
          <p:nvPr/>
        </p:nvSpPr>
        <p:spPr>
          <a:xfrm>
            <a:off x="4718304" y="1417320"/>
            <a:ext cx="1709928" cy="1097280"/>
          </a:xfrm>
          <a:prstGeom prst="roundRect">
            <a:avLst>
              <a:gd name="adj" fmla="val 8000"/>
            </a:avLst>
          </a:prstGeom>
          <a:solidFill>
            <a:srgbClr val="E8EFFB"/>
          </a:solidFill>
          <a:ln w="10160">
            <a:solidFill>
              <a:srgbClr val="E8EF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0" y="1572768"/>
            <a:ext cx="1453896" cy="438912"/>
          </a:xfrm>
          <a:prstGeom prst="rect">
            <a:avLst/>
          </a:prstGeom>
          <a:noFill/>
        </p:spPr>
        <p:txBody>
          <a:bodyPr wrap="square" lIns="0" rIns="0" tIns="0" bIns="0" anchor="ctr">
            <a:spAutoFit/>
          </a:bodyPr>
          <a:lstStyle/>
          <a:p>
            <a:pPr algn="ctr">
              <a:lnSpc>
                <a:spcPct val="108000"/>
              </a:lnSpc>
              <a:spcBef>
                <a:spcPts val="0"/>
              </a:spcBef>
              <a:spcAft>
                <a:spcPts val="0"/>
              </a:spcAft>
            </a:pPr>
            <a:r>
              <a:rPr sz="2400" b="1" i="0">
                <a:solidFill>
                  <a:srgbClr val="1F57C4"/>
                </a:solidFill>
                <a:latin typeface="Aptos"/>
                <a:ea typeface="Aptos"/>
              </a:rPr>
              <a:t>10</a:t>
            </a:r>
          </a:p>
        </p:txBody>
      </p:sp>
      <p:sp>
        <p:nvSpPr>
          <p:cNvPr id="17" name="TextBox 16"/>
          <p:cNvSpPr txBox="1"/>
          <p:nvPr/>
        </p:nvSpPr>
        <p:spPr>
          <a:xfrm>
            <a:off x="4809744" y="2048256"/>
            <a:ext cx="1527048" cy="219456"/>
          </a:xfrm>
          <a:prstGeom prst="rect">
            <a:avLst/>
          </a:prstGeom>
          <a:noFill/>
        </p:spPr>
        <p:txBody>
          <a:bodyPr wrap="square" lIns="0" rIns="0" tIns="0" bIns="0" anchor="t">
            <a:spAutoFit/>
          </a:bodyPr>
          <a:lstStyle/>
          <a:p>
            <a:pPr algn="ctr">
              <a:lnSpc>
                <a:spcPct val="108000"/>
              </a:lnSpc>
              <a:spcBef>
                <a:spcPts val="0"/>
              </a:spcBef>
              <a:spcAft>
                <a:spcPts val="0"/>
              </a:spcAft>
            </a:pPr>
            <a:r>
              <a:rPr sz="1019" b="0" i="0">
                <a:solidFill>
                  <a:srgbClr val="555B66"/>
                </a:solidFill>
                <a:latin typeface="Aptos"/>
                <a:ea typeface="Aptos"/>
              </a:rPr>
              <a:t>annotated evaluation clips</a:t>
            </a:r>
          </a:p>
        </p:txBody>
      </p:sp>
      <p:sp>
        <p:nvSpPr>
          <p:cNvPr id="18" name="TextBox 17"/>
          <p:cNvSpPr txBox="1"/>
          <p:nvPr/>
        </p:nvSpPr>
        <p:spPr>
          <a:xfrm>
            <a:off x="630936" y="2761488"/>
            <a:ext cx="2560320" cy="256032"/>
          </a:xfrm>
          <a:prstGeom prst="rect">
            <a:avLst/>
          </a:prstGeom>
          <a:noFill/>
        </p:spPr>
        <p:txBody>
          <a:bodyPr wrap="square" lIns="0" rIns="0" tIns="0" bIns="0" anchor="t">
            <a:spAutoFit/>
          </a:bodyPr>
          <a:lstStyle/>
          <a:p>
            <a:pPr algn="l">
              <a:lnSpc>
                <a:spcPct val="108000"/>
              </a:lnSpc>
              <a:spcBef>
                <a:spcPts val="0"/>
              </a:spcBef>
              <a:spcAft>
                <a:spcPts val="0"/>
              </a:spcAft>
            </a:pPr>
            <a:r>
              <a:rPr sz="1350" b="1" i="0">
                <a:solidFill>
                  <a:srgbClr val="1F57C4"/>
                </a:solidFill>
                <a:latin typeface="Aptos"/>
                <a:ea typeface="Aptos"/>
              </a:rPr>
              <a:t>Five capture conditions</a:t>
            </a:r>
          </a:p>
        </p:txBody>
      </p:sp>
      <p:sp>
        <p:nvSpPr>
          <p:cNvPr id="19" name="Rounded Rectangle 18"/>
          <p:cNvSpPr/>
          <p:nvPr/>
        </p:nvSpPr>
        <p:spPr>
          <a:xfrm>
            <a:off x="621792" y="3136392"/>
            <a:ext cx="1078992" cy="1115568"/>
          </a:xfrm>
          <a:prstGeom prst="roundRect">
            <a:avLst>
              <a:gd name="adj" fmla="val 8000"/>
            </a:avLst>
          </a:prstGeom>
          <a:solidFill>
            <a:srgbClr val="E8EFFB"/>
          </a:solidFill>
          <a:ln w="1270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3300984"/>
            <a:ext cx="932688" cy="182880"/>
          </a:xfrm>
          <a:prstGeom prst="rect">
            <a:avLst/>
          </a:prstGeom>
          <a:noFill/>
        </p:spPr>
        <p:txBody>
          <a:bodyPr wrap="square" lIns="0" rIns="0" tIns="0" bIns="0" anchor="t">
            <a:spAutoFit/>
          </a:bodyPr>
          <a:lstStyle/>
          <a:p>
            <a:pPr algn="ctr">
              <a:lnSpc>
                <a:spcPct val="108000"/>
              </a:lnSpc>
              <a:spcBef>
                <a:spcPts val="0"/>
              </a:spcBef>
              <a:spcAft>
                <a:spcPts val="0"/>
              </a:spcAft>
            </a:pPr>
            <a:r>
              <a:rPr sz="780" b="1" i="0">
                <a:solidFill>
                  <a:srgbClr val="1F57C4"/>
                </a:solidFill>
                <a:latin typeface="Aptos"/>
                <a:ea typeface="Aptos"/>
              </a:rPr>
              <a:t>CLASS 1</a:t>
            </a:r>
          </a:p>
        </p:txBody>
      </p:sp>
      <p:sp>
        <p:nvSpPr>
          <p:cNvPr id="21" name="TextBox 20"/>
          <p:cNvSpPr txBox="1"/>
          <p:nvPr/>
        </p:nvSpPr>
        <p:spPr>
          <a:xfrm>
            <a:off x="694944" y="3611880"/>
            <a:ext cx="932688" cy="384048"/>
          </a:xfrm>
          <a:prstGeom prst="rect">
            <a:avLst/>
          </a:prstGeom>
          <a:noFill/>
        </p:spPr>
        <p:txBody>
          <a:bodyPr wrap="square" lIns="0" rIns="0" tIns="0" bIns="0" anchor="ctr">
            <a:spAutoFit/>
          </a:bodyPr>
          <a:lstStyle/>
          <a:p>
            <a:pPr algn="ctr">
              <a:lnSpc>
                <a:spcPct val="108000"/>
              </a:lnSpc>
              <a:spcBef>
                <a:spcPts val="0"/>
              </a:spcBef>
              <a:spcAft>
                <a:spcPts val="0"/>
              </a:spcAft>
            </a:pPr>
            <a:r>
              <a:rPr sz="969" b="1" i="0">
                <a:solidFill>
                  <a:srgbClr val="1A1A1A"/>
                </a:solidFill>
                <a:latin typeface="Aptos"/>
                <a:ea typeface="Aptos"/>
              </a:rPr>
              <a:t>Static page</a:t>
            </a:r>
          </a:p>
        </p:txBody>
      </p:sp>
      <p:sp>
        <p:nvSpPr>
          <p:cNvPr id="22" name="Rounded Rectangle 21"/>
          <p:cNvSpPr/>
          <p:nvPr/>
        </p:nvSpPr>
        <p:spPr>
          <a:xfrm>
            <a:off x="1865376" y="3136392"/>
            <a:ext cx="1078992" cy="1115568"/>
          </a:xfrm>
          <a:prstGeom prst="roundRect">
            <a:avLst>
              <a:gd name="adj" fmla="val 8000"/>
            </a:avLst>
          </a:prstGeom>
          <a:solidFill>
            <a:srgbClr val="E8EFFB"/>
          </a:solidFill>
          <a:ln w="1270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38528" y="3300984"/>
            <a:ext cx="932688" cy="182880"/>
          </a:xfrm>
          <a:prstGeom prst="rect">
            <a:avLst/>
          </a:prstGeom>
          <a:noFill/>
        </p:spPr>
        <p:txBody>
          <a:bodyPr wrap="square" lIns="0" rIns="0" tIns="0" bIns="0" anchor="t">
            <a:spAutoFit/>
          </a:bodyPr>
          <a:lstStyle/>
          <a:p>
            <a:pPr algn="ctr">
              <a:lnSpc>
                <a:spcPct val="108000"/>
              </a:lnSpc>
              <a:spcBef>
                <a:spcPts val="0"/>
              </a:spcBef>
              <a:spcAft>
                <a:spcPts val="0"/>
              </a:spcAft>
            </a:pPr>
            <a:r>
              <a:rPr sz="780" b="1" i="0">
                <a:solidFill>
                  <a:srgbClr val="1F57C4"/>
                </a:solidFill>
                <a:latin typeface="Aptos"/>
                <a:ea typeface="Aptos"/>
              </a:rPr>
              <a:t>CLASS 2</a:t>
            </a:r>
          </a:p>
        </p:txBody>
      </p:sp>
      <p:sp>
        <p:nvSpPr>
          <p:cNvPr id="24" name="TextBox 23"/>
          <p:cNvSpPr txBox="1"/>
          <p:nvPr/>
        </p:nvSpPr>
        <p:spPr>
          <a:xfrm>
            <a:off x="1938528" y="3611880"/>
            <a:ext cx="932688" cy="384048"/>
          </a:xfrm>
          <a:prstGeom prst="rect">
            <a:avLst/>
          </a:prstGeom>
          <a:noFill/>
        </p:spPr>
        <p:txBody>
          <a:bodyPr wrap="square" lIns="0" rIns="0" tIns="0" bIns="0" anchor="ctr">
            <a:spAutoFit/>
          </a:bodyPr>
          <a:lstStyle/>
          <a:p>
            <a:pPr algn="ctr">
              <a:lnSpc>
                <a:spcPct val="108000"/>
              </a:lnSpc>
              <a:spcBef>
                <a:spcPts val="0"/>
              </a:spcBef>
              <a:spcAft>
                <a:spcPts val="0"/>
              </a:spcAft>
            </a:pPr>
            <a:r>
              <a:rPr sz="969" b="1" i="0">
                <a:solidFill>
                  <a:srgbClr val="1A1A1A"/>
                </a:solidFill>
                <a:latin typeface="Aptos"/>
                <a:ea typeface="Aptos"/>
              </a:rPr>
              <a:t>Scrolling</a:t>
            </a:r>
          </a:p>
        </p:txBody>
      </p:sp>
      <p:sp>
        <p:nvSpPr>
          <p:cNvPr id="25" name="Rounded Rectangle 24"/>
          <p:cNvSpPr/>
          <p:nvPr/>
        </p:nvSpPr>
        <p:spPr>
          <a:xfrm>
            <a:off x="3108960" y="3136392"/>
            <a:ext cx="1078992" cy="1115568"/>
          </a:xfrm>
          <a:prstGeom prst="roundRect">
            <a:avLst>
              <a:gd name="adj" fmla="val 8000"/>
            </a:avLst>
          </a:prstGeom>
          <a:solidFill>
            <a:srgbClr val="E8EFFB"/>
          </a:solidFill>
          <a:ln w="1270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82112" y="3300984"/>
            <a:ext cx="932688" cy="182880"/>
          </a:xfrm>
          <a:prstGeom prst="rect">
            <a:avLst/>
          </a:prstGeom>
          <a:noFill/>
        </p:spPr>
        <p:txBody>
          <a:bodyPr wrap="square" lIns="0" rIns="0" tIns="0" bIns="0" anchor="t">
            <a:spAutoFit/>
          </a:bodyPr>
          <a:lstStyle/>
          <a:p>
            <a:pPr algn="ctr">
              <a:lnSpc>
                <a:spcPct val="108000"/>
              </a:lnSpc>
              <a:spcBef>
                <a:spcPts val="0"/>
              </a:spcBef>
              <a:spcAft>
                <a:spcPts val="0"/>
              </a:spcAft>
            </a:pPr>
            <a:r>
              <a:rPr sz="780" b="1" i="0">
                <a:solidFill>
                  <a:srgbClr val="1F57C4"/>
                </a:solidFill>
                <a:latin typeface="Aptos"/>
                <a:ea typeface="Aptos"/>
              </a:rPr>
              <a:t>CLASS 3</a:t>
            </a:r>
          </a:p>
        </p:txBody>
      </p:sp>
      <p:sp>
        <p:nvSpPr>
          <p:cNvPr id="27" name="TextBox 26"/>
          <p:cNvSpPr txBox="1"/>
          <p:nvPr/>
        </p:nvSpPr>
        <p:spPr>
          <a:xfrm>
            <a:off x="3182112" y="3611880"/>
            <a:ext cx="932688" cy="384048"/>
          </a:xfrm>
          <a:prstGeom prst="rect">
            <a:avLst/>
          </a:prstGeom>
          <a:noFill/>
        </p:spPr>
        <p:txBody>
          <a:bodyPr wrap="square" lIns="0" rIns="0" tIns="0" bIns="0" anchor="ctr">
            <a:spAutoFit/>
          </a:bodyPr>
          <a:lstStyle/>
          <a:p>
            <a:pPr algn="ctr">
              <a:lnSpc>
                <a:spcPct val="108000"/>
              </a:lnSpc>
              <a:spcBef>
                <a:spcPts val="0"/>
              </a:spcBef>
              <a:spcAft>
                <a:spcPts val="0"/>
              </a:spcAft>
            </a:pPr>
            <a:r>
              <a:rPr sz="969" b="1" i="0">
                <a:solidFill>
                  <a:srgbClr val="1A1A1A"/>
                </a:solidFill>
                <a:latin typeface="Aptos"/>
                <a:ea typeface="Aptos"/>
              </a:rPr>
              <a:t>In-screen video</a:t>
            </a:r>
          </a:p>
        </p:txBody>
      </p:sp>
      <p:sp>
        <p:nvSpPr>
          <p:cNvPr id="28" name="Rounded Rectangle 27"/>
          <p:cNvSpPr/>
          <p:nvPr/>
        </p:nvSpPr>
        <p:spPr>
          <a:xfrm>
            <a:off x="4352544" y="3136392"/>
            <a:ext cx="1078992" cy="1115568"/>
          </a:xfrm>
          <a:prstGeom prst="roundRect">
            <a:avLst>
              <a:gd name="adj" fmla="val 8000"/>
            </a:avLst>
          </a:prstGeom>
          <a:solidFill>
            <a:srgbClr val="E8EFFB"/>
          </a:solidFill>
          <a:ln w="1270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25696" y="3300984"/>
            <a:ext cx="932688" cy="182880"/>
          </a:xfrm>
          <a:prstGeom prst="rect">
            <a:avLst/>
          </a:prstGeom>
          <a:noFill/>
        </p:spPr>
        <p:txBody>
          <a:bodyPr wrap="square" lIns="0" rIns="0" tIns="0" bIns="0" anchor="t">
            <a:spAutoFit/>
          </a:bodyPr>
          <a:lstStyle/>
          <a:p>
            <a:pPr algn="ctr">
              <a:lnSpc>
                <a:spcPct val="108000"/>
              </a:lnSpc>
              <a:spcBef>
                <a:spcPts val="0"/>
              </a:spcBef>
              <a:spcAft>
                <a:spcPts val="0"/>
              </a:spcAft>
            </a:pPr>
            <a:r>
              <a:rPr sz="780" b="1" i="0">
                <a:solidFill>
                  <a:srgbClr val="1F57C4"/>
                </a:solidFill>
                <a:latin typeface="Aptos"/>
                <a:ea typeface="Aptos"/>
              </a:rPr>
              <a:t>CLASS 4</a:t>
            </a:r>
          </a:p>
        </p:txBody>
      </p:sp>
      <p:sp>
        <p:nvSpPr>
          <p:cNvPr id="30" name="TextBox 29"/>
          <p:cNvSpPr txBox="1"/>
          <p:nvPr/>
        </p:nvSpPr>
        <p:spPr>
          <a:xfrm>
            <a:off x="4425696" y="3611880"/>
            <a:ext cx="932688" cy="384048"/>
          </a:xfrm>
          <a:prstGeom prst="rect">
            <a:avLst/>
          </a:prstGeom>
          <a:noFill/>
        </p:spPr>
        <p:txBody>
          <a:bodyPr wrap="square" lIns="0" rIns="0" tIns="0" bIns="0" anchor="ctr">
            <a:spAutoFit/>
          </a:bodyPr>
          <a:lstStyle/>
          <a:p>
            <a:pPr algn="ctr">
              <a:lnSpc>
                <a:spcPct val="108000"/>
              </a:lnSpc>
              <a:spcBef>
                <a:spcPts val="0"/>
              </a:spcBef>
              <a:spcAft>
                <a:spcPts val="0"/>
              </a:spcAft>
            </a:pPr>
            <a:r>
              <a:rPr sz="969" b="1" i="0">
                <a:solidFill>
                  <a:srgbClr val="1A1A1A"/>
                </a:solidFill>
                <a:latin typeface="Aptos"/>
                <a:ea typeface="Aptos"/>
              </a:rPr>
              <a:t>Weak border</a:t>
            </a:r>
          </a:p>
        </p:txBody>
      </p:sp>
      <p:sp>
        <p:nvSpPr>
          <p:cNvPr id="31" name="Rounded Rectangle 30"/>
          <p:cNvSpPr/>
          <p:nvPr/>
        </p:nvSpPr>
        <p:spPr>
          <a:xfrm>
            <a:off x="5596128" y="3136392"/>
            <a:ext cx="1078992" cy="1115568"/>
          </a:xfrm>
          <a:prstGeom prst="roundRect">
            <a:avLst>
              <a:gd name="adj" fmla="val 8000"/>
            </a:avLst>
          </a:prstGeom>
          <a:solidFill>
            <a:srgbClr val="FCEDEA"/>
          </a:solidFill>
          <a:ln w="1270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0" y="3300984"/>
            <a:ext cx="932688" cy="182880"/>
          </a:xfrm>
          <a:prstGeom prst="rect">
            <a:avLst/>
          </a:prstGeom>
          <a:noFill/>
        </p:spPr>
        <p:txBody>
          <a:bodyPr wrap="square" lIns="0" rIns="0" tIns="0" bIns="0" anchor="t">
            <a:spAutoFit/>
          </a:bodyPr>
          <a:lstStyle/>
          <a:p>
            <a:pPr algn="ctr">
              <a:lnSpc>
                <a:spcPct val="108000"/>
              </a:lnSpc>
              <a:spcBef>
                <a:spcPts val="0"/>
              </a:spcBef>
              <a:spcAft>
                <a:spcPts val="0"/>
              </a:spcAft>
            </a:pPr>
            <a:r>
              <a:rPr sz="780" b="1" i="0">
                <a:solidFill>
                  <a:srgbClr val="C43D2E"/>
                </a:solidFill>
                <a:latin typeface="Aptos"/>
                <a:ea typeface="Aptos"/>
              </a:rPr>
              <a:t>CLASS 5</a:t>
            </a:r>
          </a:p>
        </p:txBody>
      </p:sp>
      <p:sp>
        <p:nvSpPr>
          <p:cNvPr id="33" name="TextBox 32"/>
          <p:cNvSpPr txBox="1"/>
          <p:nvPr/>
        </p:nvSpPr>
        <p:spPr>
          <a:xfrm>
            <a:off x="5669280" y="3611880"/>
            <a:ext cx="932688" cy="384048"/>
          </a:xfrm>
          <a:prstGeom prst="rect">
            <a:avLst/>
          </a:prstGeom>
          <a:noFill/>
        </p:spPr>
        <p:txBody>
          <a:bodyPr wrap="square" lIns="0" rIns="0" tIns="0" bIns="0" anchor="ctr">
            <a:spAutoFit/>
          </a:bodyPr>
          <a:lstStyle/>
          <a:p>
            <a:pPr algn="ctr">
              <a:lnSpc>
                <a:spcPct val="108000"/>
              </a:lnSpc>
              <a:spcBef>
                <a:spcPts val="0"/>
              </a:spcBef>
              <a:spcAft>
                <a:spcPts val="0"/>
              </a:spcAft>
            </a:pPr>
            <a:r>
              <a:rPr sz="969" b="1" i="0">
                <a:solidFill>
                  <a:srgbClr val="1A1A1A"/>
                </a:solidFill>
                <a:latin typeface="Aptos"/>
                <a:ea typeface="Aptos"/>
              </a:rPr>
              <a:t>Challenging</a:t>
            </a:r>
          </a:p>
        </p:txBody>
      </p:sp>
      <p:sp>
        <p:nvSpPr>
          <p:cNvPr id="34" name="Rounded Rectangle 33"/>
          <p:cNvSpPr/>
          <p:nvPr/>
        </p:nvSpPr>
        <p:spPr>
          <a:xfrm>
            <a:off x="621792" y="4517136"/>
            <a:ext cx="6016752" cy="1426464"/>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4709160"/>
            <a:ext cx="5532120" cy="411480"/>
          </a:xfrm>
          <a:prstGeom prst="rect">
            <a:avLst/>
          </a:prstGeom>
          <a:noFill/>
        </p:spPr>
        <p:txBody>
          <a:bodyPr wrap="square" lIns="0" rIns="0" tIns="0" bIns="0" anchor="t">
            <a:spAutoFit/>
          </a:bodyPr>
          <a:lstStyle/>
          <a:p>
            <a:pPr algn="l">
              <a:spcBef>
                <a:spcPts val="0"/>
              </a:spcBef>
              <a:spcAft>
                <a:spcPts val="0"/>
              </a:spcAft>
            </a:pPr>
            <a:r>
              <a:rPr sz="1170" b="1" i="0">
                <a:solidFill>
                  <a:srgbClr val="1F57C4"/>
                </a:solidFill>
                <a:latin typeface="Aptos"/>
                <a:ea typeface="Aptos"/>
              </a:rPr>
              <a:t>Fair comparison. </a:t>
            </a:r>
            <a:r>
              <a:rPr sz="1170" b="0" i="0">
                <a:solidFill>
                  <a:srgbClr val="1A1A1A"/>
                </a:solidFill>
                <a:latin typeface="Aptos"/>
                <a:ea typeface="Aptos"/>
              </a:rPr>
              <a:t>All three methods share the same input, initialization, canvas, annotations, and metric code.</a:t>
            </a:r>
          </a:p>
        </p:txBody>
      </p:sp>
      <p:sp>
        <p:nvSpPr>
          <p:cNvPr id="36" name="TextBox 35"/>
          <p:cNvSpPr txBox="1"/>
          <p:nvPr/>
        </p:nvSpPr>
        <p:spPr>
          <a:xfrm>
            <a:off x="841248" y="5230368"/>
            <a:ext cx="5468112" cy="402336"/>
          </a:xfrm>
          <a:prstGeom prst="rect">
            <a:avLst/>
          </a:prstGeom>
          <a:noFill/>
        </p:spPr>
        <p:txBody>
          <a:bodyPr wrap="square" lIns="0" rIns="0" tIns="0" bIns="0" anchor="t">
            <a:spAutoFit/>
          </a:bodyPr>
          <a:lstStyle/>
          <a:p>
            <a:pPr algn="l">
              <a:lnSpc>
                <a:spcPct val="108000"/>
              </a:lnSpc>
              <a:spcBef>
                <a:spcPts val="0"/>
              </a:spcBef>
              <a:spcAft>
                <a:spcPts val="0"/>
              </a:spcAft>
            </a:pPr>
            <a:r>
              <a:rPr sz="1060" b="0" i="0">
                <a:solidFill>
                  <a:srgbClr val="555B66"/>
                </a:solidFill>
                <a:latin typeface="Aptos"/>
                <a:ea typeface="Aptos"/>
              </a:rPr>
              <a:t>Geometry excludes initialization frame 0. We take medians within each clip, then aggregate across clips.</a:t>
            </a:r>
          </a:p>
        </p:txBody>
      </p:sp>
      <p:sp>
        <p:nvSpPr>
          <p:cNvPr id="37" name="Rounded Rectangle 36"/>
          <p:cNvSpPr/>
          <p:nvPr/>
        </p:nvSpPr>
        <p:spPr>
          <a:xfrm>
            <a:off x="6976872" y="1417320"/>
            <a:ext cx="4617720" cy="4526280"/>
          </a:xfrm>
          <a:prstGeom prst="roundRect">
            <a:avLst>
              <a:gd name="adj" fmla="val 8000"/>
            </a:avLst>
          </a:prstGeom>
          <a:solidFill>
            <a:srgbClr val="1A1A1A"/>
          </a:solidFill>
          <a:ln w="1016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annotated_dataset_mosaic.jpg"/>
          <p:cNvPicPr>
            <a:picLocks noChangeAspect="1"/>
          </p:cNvPicPr>
          <p:nvPr/>
        </p:nvPicPr>
        <p:blipFill>
          <a:blip r:embed="rId2"/>
          <a:stretch>
            <a:fillRect/>
          </a:stretch>
        </p:blipFill>
        <p:spPr>
          <a:xfrm>
            <a:off x="7378790" y="1508760"/>
            <a:ext cx="3813882" cy="4297680"/>
          </a:xfrm>
          <a:prstGeom prst="rect">
            <a:avLst/>
          </a:prstGeom>
        </p:spPr>
      </p:pic>
      <p:sp>
        <p:nvSpPr>
          <p:cNvPr id="39" name="TextBox 38"/>
          <p:cNvSpPr txBox="1"/>
          <p:nvPr/>
        </p:nvSpPr>
        <p:spPr>
          <a:xfrm>
            <a:off x="7159752" y="5742432"/>
            <a:ext cx="4251960" cy="219456"/>
          </a:xfrm>
          <a:prstGeom prst="rect">
            <a:avLst/>
          </a:prstGeom>
          <a:noFill/>
        </p:spPr>
        <p:txBody>
          <a:bodyPr wrap="square" lIns="0" rIns="0" tIns="0" bIns="0" anchor="t">
            <a:spAutoFit/>
          </a:bodyPr>
          <a:lstStyle/>
          <a:p>
            <a:pPr algn="ctr">
              <a:lnSpc>
                <a:spcPct val="108000"/>
              </a:lnSpc>
              <a:spcBef>
                <a:spcPts val="0"/>
              </a:spcBef>
              <a:spcAft>
                <a:spcPts val="0"/>
              </a:spcAft>
            </a:pPr>
            <a:r>
              <a:rPr sz="850" b="0" i="1">
                <a:solidFill>
                  <a:srgbClr val="D3DAE6"/>
                </a:solidFill>
                <a:latin typeface="Aptos"/>
                <a:ea typeface="Aptos"/>
              </a:rPr>
              <a:t>Repository dataset mosaic; green quadrilaterals mark manual screen boundaries.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MAIN RESULTS</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700" b="1" i="0">
                <a:solidFill>
                  <a:srgbClr val="1A1A1A"/>
                </a:solidFill>
                <a:latin typeface="Aptos"/>
                <a:ea typeface="Aptos"/>
              </a:rPr>
              <a:t>Overall Results: More Accurate and More Stable</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figure_02_overall_results.png</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5</a:t>
            </a:r>
          </a:p>
        </p:txBody>
      </p:sp>
      <p:sp>
        <p:nvSpPr>
          <p:cNvPr id="9" name="Rounded Rectangle 8"/>
          <p:cNvSpPr/>
          <p:nvPr/>
        </p:nvSpPr>
        <p:spPr>
          <a:xfrm>
            <a:off x="585216" y="1399032"/>
            <a:ext cx="7699248" cy="455371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2_overall_results.png"/>
          <p:cNvPicPr>
            <a:picLocks noChangeAspect="1"/>
          </p:cNvPicPr>
          <p:nvPr/>
        </p:nvPicPr>
        <p:blipFill>
          <a:blip r:embed="rId2"/>
          <a:stretch>
            <a:fillRect/>
          </a:stretch>
        </p:blipFill>
        <p:spPr>
          <a:xfrm>
            <a:off x="685800" y="2198911"/>
            <a:ext cx="7498079" cy="2935665"/>
          </a:xfrm>
          <a:prstGeom prst="rect">
            <a:avLst/>
          </a:prstGeom>
        </p:spPr>
      </p:pic>
      <p:sp>
        <p:nvSpPr>
          <p:cNvPr id="11" name="Rounded Rectangle 10"/>
          <p:cNvSpPr/>
          <p:nvPr/>
        </p:nvSpPr>
        <p:spPr>
          <a:xfrm>
            <a:off x="8522208" y="1399032"/>
            <a:ext cx="3081528" cy="4553712"/>
          </a:xfrm>
          <a:prstGeom prst="roundRect">
            <a:avLst>
              <a:gd name="adj" fmla="val 8000"/>
            </a:avLst>
          </a:prstGeom>
          <a:solidFill>
            <a:srgbClr val="E8EFFB"/>
          </a:solidFill>
          <a:ln w="10160">
            <a:solidFill>
              <a:srgbClr val="E8EF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23960" y="1700784"/>
            <a:ext cx="2487168" cy="438912"/>
          </a:xfrm>
          <a:prstGeom prst="rect">
            <a:avLst/>
          </a:prstGeom>
          <a:noFill/>
        </p:spPr>
        <p:txBody>
          <a:bodyPr wrap="square" lIns="0" rIns="0" tIns="0" bIns="0" anchor="t">
            <a:spAutoFit/>
          </a:bodyPr>
          <a:lstStyle/>
          <a:p>
            <a:pPr algn="l">
              <a:lnSpc>
                <a:spcPct val="108000"/>
              </a:lnSpc>
              <a:spcBef>
                <a:spcPts val="0"/>
              </a:spcBef>
              <a:spcAft>
                <a:spcPts val="0"/>
              </a:spcAft>
            </a:pPr>
            <a:r>
              <a:rPr sz="2300" b="1" i="0">
                <a:solidFill>
                  <a:srgbClr val="1F57C4"/>
                </a:solidFill>
                <a:latin typeface="Aptos"/>
                <a:ea typeface="Aptos"/>
              </a:rPr>
              <a:t>3.87 px</a:t>
            </a:r>
          </a:p>
        </p:txBody>
      </p:sp>
      <p:sp>
        <p:nvSpPr>
          <p:cNvPr id="13" name="TextBox 12"/>
          <p:cNvSpPr txBox="1"/>
          <p:nvPr/>
        </p:nvSpPr>
        <p:spPr>
          <a:xfrm>
            <a:off x="8823960" y="2148840"/>
            <a:ext cx="2011680" cy="228600"/>
          </a:xfrm>
          <a:prstGeom prst="rect">
            <a:avLst/>
          </a:prstGeom>
          <a:noFill/>
        </p:spPr>
        <p:txBody>
          <a:bodyPr wrap="square" lIns="0" rIns="0" tIns="0" bIns="0" anchor="t">
            <a:spAutoFit/>
          </a:bodyPr>
          <a:lstStyle/>
          <a:p>
            <a:pPr algn="l">
              <a:lnSpc>
                <a:spcPct val="108000"/>
              </a:lnSpc>
              <a:spcBef>
                <a:spcPts val="0"/>
              </a:spcBef>
              <a:spcAft>
                <a:spcPts val="0"/>
              </a:spcAft>
            </a:pPr>
            <a:r>
              <a:rPr sz="1080" b="1" i="0">
                <a:solidFill>
                  <a:srgbClr val="1A1A1A"/>
                </a:solidFill>
                <a:latin typeface="Aptos"/>
                <a:ea typeface="Aptos"/>
              </a:rPr>
              <a:t>Corner RMSE</a:t>
            </a:r>
          </a:p>
        </p:txBody>
      </p:sp>
      <p:sp>
        <p:nvSpPr>
          <p:cNvPr id="14" name="Rounded Rectangle 13"/>
          <p:cNvSpPr/>
          <p:nvPr/>
        </p:nvSpPr>
        <p:spPr>
          <a:xfrm>
            <a:off x="10680192" y="2121408"/>
            <a:ext cx="713232" cy="228600"/>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0" y="2157984"/>
            <a:ext cx="676656" cy="146304"/>
          </a:xfrm>
          <a:prstGeom prst="rect">
            <a:avLst/>
          </a:prstGeom>
          <a:noFill/>
        </p:spPr>
        <p:txBody>
          <a:bodyPr wrap="square" lIns="0" rIns="0" tIns="0" bIns="0" anchor="t">
            <a:spAutoFit/>
          </a:bodyPr>
          <a:lstStyle/>
          <a:p>
            <a:pPr algn="ctr">
              <a:lnSpc>
                <a:spcPct val="108000"/>
              </a:lnSpc>
              <a:spcBef>
                <a:spcPts val="0"/>
              </a:spcBef>
              <a:spcAft>
                <a:spcPts val="0"/>
              </a:spcAft>
            </a:pPr>
            <a:r>
              <a:rPr sz="660" b="1" i="0">
                <a:solidFill>
                  <a:srgbClr val="1F57C4"/>
                </a:solidFill>
                <a:latin typeface="Aptos"/>
                <a:ea typeface="Aptos"/>
              </a:rPr>
              <a:t>LOWEST</a:t>
            </a:r>
          </a:p>
        </p:txBody>
      </p:sp>
      <p:sp>
        <p:nvSpPr>
          <p:cNvPr id="16" name="TextBox 15"/>
          <p:cNvSpPr txBox="1"/>
          <p:nvPr/>
        </p:nvSpPr>
        <p:spPr>
          <a:xfrm>
            <a:off x="8823960" y="2688336"/>
            <a:ext cx="2487168" cy="438912"/>
          </a:xfrm>
          <a:prstGeom prst="rect">
            <a:avLst/>
          </a:prstGeom>
          <a:noFill/>
        </p:spPr>
        <p:txBody>
          <a:bodyPr wrap="square" lIns="0" rIns="0" tIns="0" bIns="0" anchor="t">
            <a:spAutoFit/>
          </a:bodyPr>
          <a:lstStyle/>
          <a:p>
            <a:pPr algn="l">
              <a:lnSpc>
                <a:spcPct val="108000"/>
              </a:lnSpc>
              <a:spcBef>
                <a:spcPts val="0"/>
              </a:spcBef>
              <a:spcAft>
                <a:spcPts val="0"/>
              </a:spcAft>
            </a:pPr>
            <a:r>
              <a:rPr sz="2300" b="1" i="0">
                <a:solidFill>
                  <a:srgbClr val="2E8579"/>
                </a:solidFill>
                <a:latin typeface="Aptos"/>
                <a:ea typeface="Aptos"/>
              </a:rPr>
              <a:t>0.996</a:t>
            </a:r>
          </a:p>
        </p:txBody>
      </p:sp>
      <p:sp>
        <p:nvSpPr>
          <p:cNvPr id="17" name="TextBox 16"/>
          <p:cNvSpPr txBox="1"/>
          <p:nvPr/>
        </p:nvSpPr>
        <p:spPr>
          <a:xfrm>
            <a:off x="8823960" y="3136392"/>
            <a:ext cx="2011680" cy="228600"/>
          </a:xfrm>
          <a:prstGeom prst="rect">
            <a:avLst/>
          </a:prstGeom>
          <a:noFill/>
        </p:spPr>
        <p:txBody>
          <a:bodyPr wrap="square" lIns="0" rIns="0" tIns="0" bIns="0" anchor="t">
            <a:spAutoFit/>
          </a:bodyPr>
          <a:lstStyle/>
          <a:p>
            <a:pPr algn="l">
              <a:lnSpc>
                <a:spcPct val="108000"/>
              </a:lnSpc>
              <a:spcBef>
                <a:spcPts val="0"/>
              </a:spcBef>
              <a:spcAft>
                <a:spcPts val="0"/>
              </a:spcAft>
            </a:pPr>
            <a:r>
              <a:rPr sz="1080" b="1" i="0">
                <a:solidFill>
                  <a:srgbClr val="1A1A1A"/>
                </a:solidFill>
                <a:latin typeface="Aptos"/>
                <a:ea typeface="Aptos"/>
              </a:rPr>
              <a:t>Quadrilateral IoU</a:t>
            </a:r>
          </a:p>
        </p:txBody>
      </p:sp>
      <p:sp>
        <p:nvSpPr>
          <p:cNvPr id="18" name="Rounded Rectangle 17"/>
          <p:cNvSpPr/>
          <p:nvPr/>
        </p:nvSpPr>
        <p:spPr>
          <a:xfrm>
            <a:off x="10680192" y="3108960"/>
            <a:ext cx="713232" cy="228600"/>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0" y="3145536"/>
            <a:ext cx="676656" cy="146304"/>
          </a:xfrm>
          <a:prstGeom prst="rect">
            <a:avLst/>
          </a:prstGeom>
          <a:noFill/>
        </p:spPr>
        <p:txBody>
          <a:bodyPr wrap="square" lIns="0" rIns="0" tIns="0" bIns="0" anchor="t">
            <a:spAutoFit/>
          </a:bodyPr>
          <a:lstStyle/>
          <a:p>
            <a:pPr algn="ctr">
              <a:lnSpc>
                <a:spcPct val="108000"/>
              </a:lnSpc>
              <a:spcBef>
                <a:spcPts val="0"/>
              </a:spcBef>
              <a:spcAft>
                <a:spcPts val="0"/>
              </a:spcAft>
            </a:pPr>
            <a:r>
              <a:rPr sz="660" b="1" i="0">
                <a:solidFill>
                  <a:srgbClr val="2E8579"/>
                </a:solidFill>
                <a:latin typeface="Aptos"/>
                <a:ea typeface="Aptos"/>
              </a:rPr>
              <a:t>HIGHEST</a:t>
            </a:r>
          </a:p>
        </p:txBody>
      </p:sp>
      <p:sp>
        <p:nvSpPr>
          <p:cNvPr id="20" name="TextBox 19"/>
          <p:cNvSpPr txBox="1"/>
          <p:nvPr/>
        </p:nvSpPr>
        <p:spPr>
          <a:xfrm>
            <a:off x="8823960" y="3675888"/>
            <a:ext cx="2487168" cy="438912"/>
          </a:xfrm>
          <a:prstGeom prst="rect">
            <a:avLst/>
          </a:prstGeom>
          <a:noFill/>
        </p:spPr>
        <p:txBody>
          <a:bodyPr wrap="square" lIns="0" rIns="0" tIns="0" bIns="0" anchor="t">
            <a:spAutoFit/>
          </a:bodyPr>
          <a:lstStyle/>
          <a:p>
            <a:pPr algn="l">
              <a:lnSpc>
                <a:spcPct val="108000"/>
              </a:lnSpc>
              <a:spcBef>
                <a:spcPts val="0"/>
              </a:spcBef>
              <a:spcAft>
                <a:spcPts val="0"/>
              </a:spcAft>
            </a:pPr>
            <a:r>
              <a:rPr sz="2300" b="1" i="0">
                <a:solidFill>
                  <a:srgbClr val="1F57C4"/>
                </a:solidFill>
                <a:latin typeface="Aptos"/>
                <a:ea typeface="Aptos"/>
              </a:rPr>
              <a:t>2.45</a:t>
            </a:r>
          </a:p>
        </p:txBody>
      </p:sp>
      <p:sp>
        <p:nvSpPr>
          <p:cNvPr id="21" name="TextBox 20"/>
          <p:cNvSpPr txBox="1"/>
          <p:nvPr/>
        </p:nvSpPr>
        <p:spPr>
          <a:xfrm>
            <a:off x="8823960" y="4123944"/>
            <a:ext cx="2011680" cy="228600"/>
          </a:xfrm>
          <a:prstGeom prst="rect">
            <a:avLst/>
          </a:prstGeom>
          <a:noFill/>
        </p:spPr>
        <p:txBody>
          <a:bodyPr wrap="square" lIns="0" rIns="0" tIns="0" bIns="0" anchor="t">
            <a:spAutoFit/>
          </a:bodyPr>
          <a:lstStyle/>
          <a:p>
            <a:pPr algn="l">
              <a:lnSpc>
                <a:spcPct val="108000"/>
              </a:lnSpc>
              <a:spcBef>
                <a:spcPts val="0"/>
              </a:spcBef>
              <a:spcAft>
                <a:spcPts val="0"/>
              </a:spcAft>
            </a:pPr>
            <a:r>
              <a:rPr sz="1080" b="1" i="0">
                <a:solidFill>
                  <a:srgbClr val="1A1A1A"/>
                </a:solidFill>
                <a:latin typeface="Aptos"/>
                <a:ea typeface="Aptos"/>
              </a:rPr>
              <a:t>px/frame translation variation</a:t>
            </a:r>
          </a:p>
        </p:txBody>
      </p:sp>
      <p:sp>
        <p:nvSpPr>
          <p:cNvPr id="22" name="Rounded Rectangle 21"/>
          <p:cNvSpPr/>
          <p:nvPr/>
        </p:nvSpPr>
        <p:spPr>
          <a:xfrm>
            <a:off x="10680192" y="4096512"/>
            <a:ext cx="713232" cy="228600"/>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98480" y="4133088"/>
            <a:ext cx="676656" cy="146304"/>
          </a:xfrm>
          <a:prstGeom prst="rect">
            <a:avLst/>
          </a:prstGeom>
          <a:noFill/>
        </p:spPr>
        <p:txBody>
          <a:bodyPr wrap="square" lIns="0" rIns="0" tIns="0" bIns="0" anchor="t">
            <a:spAutoFit/>
          </a:bodyPr>
          <a:lstStyle/>
          <a:p>
            <a:pPr algn="ctr">
              <a:lnSpc>
                <a:spcPct val="108000"/>
              </a:lnSpc>
              <a:spcBef>
                <a:spcPts val="0"/>
              </a:spcBef>
              <a:spcAft>
                <a:spcPts val="0"/>
              </a:spcAft>
            </a:pPr>
            <a:r>
              <a:rPr sz="660" b="1" i="0">
                <a:solidFill>
                  <a:srgbClr val="1F57C4"/>
                </a:solidFill>
                <a:latin typeface="Aptos"/>
                <a:ea typeface="Aptos"/>
              </a:rPr>
              <a:t>LOWEST</a:t>
            </a:r>
          </a:p>
        </p:txBody>
      </p:sp>
      <p:cxnSp>
        <p:nvCxnSpPr>
          <p:cNvPr id="24" name="Connector 23"/>
          <p:cNvCxnSpPr/>
          <p:nvPr/>
        </p:nvCxnSpPr>
        <p:spPr>
          <a:xfrm>
            <a:off x="8823960" y="4626864"/>
            <a:ext cx="2496312" cy="0"/>
          </a:xfrm>
          <a:prstGeom prst="line">
            <a:avLst/>
          </a:prstGeom>
          <a:ln w="10160">
            <a:solidFill>
              <a:srgbClr val="D3DAE6"/>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823960" y="4846320"/>
            <a:ext cx="1005840" cy="219456"/>
          </a:xfrm>
          <a:prstGeom prst="rect">
            <a:avLst/>
          </a:prstGeom>
          <a:noFill/>
        </p:spPr>
        <p:txBody>
          <a:bodyPr wrap="square" lIns="0" rIns="0" tIns="0" bIns="0" anchor="t">
            <a:spAutoFit/>
          </a:bodyPr>
          <a:lstStyle/>
          <a:p>
            <a:pPr algn="l">
              <a:lnSpc>
                <a:spcPct val="108000"/>
              </a:lnSpc>
              <a:spcBef>
                <a:spcPts val="0"/>
              </a:spcBef>
              <a:spcAft>
                <a:spcPts val="0"/>
              </a:spcAft>
            </a:pPr>
            <a:r>
              <a:rPr sz="940" b="1" i="0">
                <a:solidFill>
                  <a:srgbClr val="1F57C4"/>
                </a:solidFill>
                <a:latin typeface="Aptos"/>
                <a:ea typeface="Aptos"/>
              </a:rPr>
              <a:t>TAKEAWAY</a:t>
            </a:r>
          </a:p>
        </p:txBody>
      </p:sp>
      <p:sp>
        <p:nvSpPr>
          <p:cNvPr id="26" name="TextBox 25"/>
          <p:cNvSpPr txBox="1"/>
          <p:nvPr/>
        </p:nvSpPr>
        <p:spPr>
          <a:xfrm>
            <a:off x="8823960" y="5148072"/>
            <a:ext cx="2487168" cy="603504"/>
          </a:xfrm>
          <a:prstGeom prst="rect">
            <a:avLst/>
          </a:prstGeom>
          <a:noFill/>
        </p:spPr>
        <p:txBody>
          <a:bodyPr wrap="square" lIns="0" rIns="0" tIns="0" bIns="0" anchor="t">
            <a:spAutoFit/>
          </a:bodyPr>
          <a:lstStyle/>
          <a:p>
            <a:pPr algn="l">
              <a:lnSpc>
                <a:spcPct val="108000"/>
              </a:lnSpc>
              <a:spcBef>
                <a:spcPts val="0"/>
              </a:spcBef>
              <a:spcAft>
                <a:spcPts val="0"/>
              </a:spcAft>
            </a:pPr>
            <a:r>
              <a:rPr sz="1080" b="0" i="0">
                <a:solidFill>
                  <a:srgbClr val="1A1A1A"/>
                </a:solidFill>
                <a:latin typeface="Aptos"/>
                <a:ea typeface="Aptos"/>
              </a:rPr>
              <a:t>The result is not merely smoother—the estimated quadrilateral is also much closer to the annotation.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WHERE IT HELPS</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650" b="1" i="0">
                <a:solidFill>
                  <a:srgbClr val="1A1A1A"/>
                </a:solidFill>
                <a:latin typeface="Aptos"/>
                <a:ea typeface="Aptos"/>
              </a:rPr>
              <a:t>Largest Gains on Scrolling and Weak-Border Scenes</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figure_03_category_results.png</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6</a:t>
            </a:r>
          </a:p>
        </p:txBody>
      </p:sp>
      <p:sp>
        <p:nvSpPr>
          <p:cNvPr id="9" name="Rounded Rectangle 8"/>
          <p:cNvSpPr/>
          <p:nvPr/>
        </p:nvSpPr>
        <p:spPr>
          <a:xfrm>
            <a:off x="585216" y="1399032"/>
            <a:ext cx="8074152" cy="4553712"/>
          </a:xfrm>
          <a:prstGeom prst="roundRect">
            <a:avLst>
              <a:gd name="adj" fmla="val 8000"/>
            </a:avLst>
          </a:prstGeom>
          <a:solidFill>
            <a:srgbClr val="FFFFFF"/>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03_category_results.png"/>
          <p:cNvPicPr>
            <a:picLocks noChangeAspect="1"/>
          </p:cNvPicPr>
          <p:nvPr/>
        </p:nvPicPr>
        <p:blipFill>
          <a:blip r:embed="rId2"/>
          <a:stretch>
            <a:fillRect/>
          </a:stretch>
        </p:blipFill>
        <p:spPr>
          <a:xfrm>
            <a:off x="694944" y="1806044"/>
            <a:ext cx="7854696" cy="3721399"/>
          </a:xfrm>
          <a:prstGeom prst="rect">
            <a:avLst/>
          </a:prstGeom>
        </p:spPr>
      </p:pic>
      <p:sp>
        <p:nvSpPr>
          <p:cNvPr id="11" name="Rounded Rectangle 10"/>
          <p:cNvSpPr/>
          <p:nvPr/>
        </p:nvSpPr>
        <p:spPr>
          <a:xfrm>
            <a:off x="8887968" y="1399032"/>
            <a:ext cx="2715768" cy="1444752"/>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5712" y="1627632"/>
            <a:ext cx="2194560" cy="256032"/>
          </a:xfrm>
          <a:prstGeom prst="rect">
            <a:avLst/>
          </a:prstGeom>
          <a:noFill/>
        </p:spPr>
        <p:txBody>
          <a:bodyPr wrap="square" lIns="0" rIns="0" tIns="0" bIns="0" anchor="t">
            <a:spAutoFit/>
          </a:bodyPr>
          <a:lstStyle/>
          <a:p>
            <a:pPr algn="l">
              <a:lnSpc>
                <a:spcPct val="108000"/>
              </a:lnSpc>
              <a:spcBef>
                <a:spcPts val="0"/>
              </a:spcBef>
              <a:spcAft>
                <a:spcPts val="0"/>
              </a:spcAft>
            </a:pPr>
            <a:r>
              <a:rPr sz="1280" b="1" i="0">
                <a:solidFill>
                  <a:srgbClr val="1F57C4"/>
                </a:solidFill>
                <a:latin typeface="Aptos"/>
                <a:ea typeface="Aptos"/>
              </a:rPr>
              <a:t>SCROLLING PAGE</a:t>
            </a:r>
          </a:p>
        </p:txBody>
      </p:sp>
      <p:sp>
        <p:nvSpPr>
          <p:cNvPr id="13" name="TextBox 12"/>
          <p:cNvSpPr txBox="1"/>
          <p:nvPr/>
        </p:nvSpPr>
        <p:spPr>
          <a:xfrm>
            <a:off x="9125712" y="1993392"/>
            <a:ext cx="2194560" cy="283464"/>
          </a:xfrm>
          <a:prstGeom prst="rect">
            <a:avLst/>
          </a:prstGeom>
          <a:noFill/>
        </p:spPr>
        <p:txBody>
          <a:bodyPr wrap="square" lIns="0" rIns="0" tIns="0" bIns="0" anchor="t">
            <a:spAutoFit/>
          </a:bodyPr>
          <a:lstStyle/>
          <a:p>
            <a:pPr algn="l">
              <a:lnSpc>
                <a:spcPct val="108000"/>
              </a:lnSpc>
              <a:spcBef>
                <a:spcPts val="0"/>
              </a:spcBef>
              <a:spcAft>
                <a:spcPts val="0"/>
              </a:spcAft>
            </a:pPr>
            <a:r>
              <a:rPr sz="1639" b="1" i="0">
                <a:solidFill>
                  <a:srgbClr val="1A1A1A"/>
                </a:solidFill>
                <a:latin typeface="Aptos"/>
                <a:ea typeface="Aptos"/>
              </a:rPr>
              <a:t>RMSE  2.87 px</a:t>
            </a:r>
          </a:p>
        </p:txBody>
      </p:sp>
      <p:sp>
        <p:nvSpPr>
          <p:cNvPr id="14" name="TextBox 13"/>
          <p:cNvSpPr txBox="1"/>
          <p:nvPr/>
        </p:nvSpPr>
        <p:spPr>
          <a:xfrm>
            <a:off x="9125712" y="2377440"/>
            <a:ext cx="2194560" cy="201168"/>
          </a:xfrm>
          <a:prstGeom prst="rect">
            <a:avLst/>
          </a:prstGeom>
          <a:noFill/>
        </p:spPr>
        <p:txBody>
          <a:bodyPr wrap="square" lIns="0" rIns="0" tIns="0" bIns="0" anchor="t">
            <a:spAutoFit/>
          </a:bodyPr>
          <a:lstStyle/>
          <a:p>
            <a:pPr algn="l">
              <a:lnSpc>
                <a:spcPct val="108000"/>
              </a:lnSpc>
              <a:spcBef>
                <a:spcPts val="0"/>
              </a:spcBef>
              <a:spcAft>
                <a:spcPts val="0"/>
              </a:spcAft>
            </a:pPr>
            <a:r>
              <a:rPr sz="880" b="0" i="0">
                <a:solidFill>
                  <a:srgbClr val="555B66"/>
                </a:solidFill>
                <a:latin typeface="Aptos"/>
                <a:ea typeface="Aptos"/>
              </a:rPr>
              <a:t>Frame-wise 31.76 · Flow 81.67</a:t>
            </a:r>
          </a:p>
        </p:txBody>
      </p:sp>
      <p:sp>
        <p:nvSpPr>
          <p:cNvPr id="15" name="Rounded Rectangle 14"/>
          <p:cNvSpPr/>
          <p:nvPr/>
        </p:nvSpPr>
        <p:spPr>
          <a:xfrm>
            <a:off x="8887968" y="3017520"/>
            <a:ext cx="2715768" cy="1444752"/>
          </a:xfrm>
          <a:prstGeom prst="roundRect">
            <a:avLst>
              <a:gd name="adj" fmla="val 8000"/>
            </a:avLst>
          </a:prstGeom>
          <a:solidFill>
            <a:srgbClr val="E6F3F1"/>
          </a:solidFill>
          <a:ln w="10160">
            <a:solidFill>
              <a:srgbClr val="2E85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25712" y="3246120"/>
            <a:ext cx="2194560" cy="256032"/>
          </a:xfrm>
          <a:prstGeom prst="rect">
            <a:avLst/>
          </a:prstGeom>
          <a:noFill/>
        </p:spPr>
        <p:txBody>
          <a:bodyPr wrap="square" lIns="0" rIns="0" tIns="0" bIns="0" anchor="t">
            <a:spAutoFit/>
          </a:bodyPr>
          <a:lstStyle/>
          <a:p>
            <a:pPr algn="l">
              <a:lnSpc>
                <a:spcPct val="108000"/>
              </a:lnSpc>
              <a:spcBef>
                <a:spcPts val="0"/>
              </a:spcBef>
              <a:spcAft>
                <a:spcPts val="0"/>
              </a:spcAft>
            </a:pPr>
            <a:r>
              <a:rPr sz="1280" b="1" i="0">
                <a:solidFill>
                  <a:srgbClr val="2E8579"/>
                </a:solidFill>
                <a:latin typeface="Aptos"/>
                <a:ea typeface="Aptos"/>
              </a:rPr>
              <a:t>WEAK BORDER</a:t>
            </a:r>
          </a:p>
        </p:txBody>
      </p:sp>
      <p:sp>
        <p:nvSpPr>
          <p:cNvPr id="17" name="TextBox 16"/>
          <p:cNvSpPr txBox="1"/>
          <p:nvPr/>
        </p:nvSpPr>
        <p:spPr>
          <a:xfrm>
            <a:off x="9125712" y="3611880"/>
            <a:ext cx="2194560" cy="283464"/>
          </a:xfrm>
          <a:prstGeom prst="rect">
            <a:avLst/>
          </a:prstGeom>
          <a:noFill/>
        </p:spPr>
        <p:txBody>
          <a:bodyPr wrap="square" lIns="0" rIns="0" tIns="0" bIns="0" anchor="t">
            <a:spAutoFit/>
          </a:bodyPr>
          <a:lstStyle/>
          <a:p>
            <a:pPr algn="l">
              <a:lnSpc>
                <a:spcPct val="108000"/>
              </a:lnSpc>
              <a:spcBef>
                <a:spcPts val="0"/>
              </a:spcBef>
              <a:spcAft>
                <a:spcPts val="0"/>
              </a:spcAft>
            </a:pPr>
            <a:r>
              <a:rPr sz="1639" b="1" i="0">
                <a:solidFill>
                  <a:srgbClr val="1A1A1A"/>
                </a:solidFill>
                <a:latin typeface="Aptos"/>
                <a:ea typeface="Aptos"/>
              </a:rPr>
              <a:t>RMSE  9.35 px</a:t>
            </a:r>
          </a:p>
        </p:txBody>
      </p:sp>
      <p:sp>
        <p:nvSpPr>
          <p:cNvPr id="18" name="TextBox 17"/>
          <p:cNvSpPr txBox="1"/>
          <p:nvPr/>
        </p:nvSpPr>
        <p:spPr>
          <a:xfrm>
            <a:off x="9125712" y="3995928"/>
            <a:ext cx="2194560" cy="201168"/>
          </a:xfrm>
          <a:prstGeom prst="rect">
            <a:avLst/>
          </a:prstGeom>
          <a:noFill/>
        </p:spPr>
        <p:txBody>
          <a:bodyPr wrap="square" lIns="0" rIns="0" tIns="0" bIns="0" anchor="t">
            <a:spAutoFit/>
          </a:bodyPr>
          <a:lstStyle/>
          <a:p>
            <a:pPr algn="l">
              <a:lnSpc>
                <a:spcPct val="108000"/>
              </a:lnSpc>
              <a:spcBef>
                <a:spcPts val="0"/>
              </a:spcBef>
              <a:spcAft>
                <a:spcPts val="0"/>
              </a:spcAft>
            </a:pPr>
            <a:r>
              <a:rPr sz="880" b="0" i="0">
                <a:solidFill>
                  <a:srgbClr val="555B66"/>
                </a:solidFill>
                <a:latin typeface="Aptos"/>
                <a:ea typeface="Aptos"/>
              </a:rPr>
              <a:t>Both comparison methods &gt;155 px</a:t>
            </a:r>
          </a:p>
        </p:txBody>
      </p:sp>
      <p:sp>
        <p:nvSpPr>
          <p:cNvPr id="19" name="Rounded Rectangle 18"/>
          <p:cNvSpPr/>
          <p:nvPr/>
        </p:nvSpPr>
        <p:spPr>
          <a:xfrm>
            <a:off x="8887968" y="4636008"/>
            <a:ext cx="2715768" cy="1316736"/>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25712" y="4818888"/>
            <a:ext cx="2194560" cy="347472"/>
          </a:xfrm>
          <a:prstGeom prst="rect">
            <a:avLst/>
          </a:prstGeom>
          <a:noFill/>
        </p:spPr>
        <p:txBody>
          <a:bodyPr wrap="square" lIns="0" rIns="0" tIns="0" bIns="0" anchor="t">
            <a:spAutoFit/>
          </a:bodyPr>
          <a:lstStyle/>
          <a:p>
            <a:pPr algn="l">
              <a:lnSpc>
                <a:spcPct val="108000"/>
              </a:lnSpc>
              <a:spcBef>
                <a:spcPts val="0"/>
              </a:spcBef>
              <a:spcAft>
                <a:spcPts val="0"/>
              </a:spcAft>
            </a:pPr>
            <a:r>
              <a:rPr sz="980" b="1" i="0">
                <a:solidFill>
                  <a:srgbClr val="C43D2E"/>
                </a:solidFill>
                <a:latin typeface="Aptos"/>
                <a:ea typeface="Aptos"/>
              </a:rPr>
              <a:t>CHALLENGING SCENES REMAIN A LIMIT</a:t>
            </a:r>
          </a:p>
        </p:txBody>
      </p:sp>
      <p:sp>
        <p:nvSpPr>
          <p:cNvPr id="21" name="TextBox 20"/>
          <p:cNvSpPr txBox="1"/>
          <p:nvPr/>
        </p:nvSpPr>
        <p:spPr>
          <a:xfrm>
            <a:off x="9125712" y="5248656"/>
            <a:ext cx="2194560" cy="530352"/>
          </a:xfrm>
          <a:prstGeom prst="rect">
            <a:avLst/>
          </a:prstGeom>
          <a:noFill/>
        </p:spPr>
        <p:txBody>
          <a:bodyPr wrap="square" lIns="0" rIns="0" tIns="0" bIns="0" anchor="t">
            <a:spAutoFit/>
          </a:bodyPr>
          <a:lstStyle/>
          <a:p>
            <a:pPr algn="l">
              <a:lnSpc>
                <a:spcPct val="106000"/>
              </a:lnSpc>
              <a:spcBef>
                <a:spcPts val="0"/>
              </a:spcBef>
              <a:spcAft>
                <a:spcPts val="0"/>
              </a:spcAft>
            </a:pPr>
            <a:r>
              <a:rPr sz="910" b="0" i="0">
                <a:solidFill>
                  <a:srgbClr val="555B66"/>
                </a:solidFill>
                <a:latin typeface="Aptos"/>
                <a:ea typeface="Aptos"/>
              </a:rPr>
              <a:t>Geometry is slightly worse than frame-wise detection, but translation variation is 3.74 versus 5.19 / 8.56.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ABLATION</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450" b="1" i="0">
                <a:solidFill>
                  <a:srgbClr val="1A1A1A"/>
                </a:solidFill>
                <a:latin typeface="Aptos"/>
                <a:ea typeface="Aptos"/>
              </a:rPr>
              <a:t>Filtering Adds Stability; Other Modules Form a Safety Net</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proposal_border_ablation_2026-07-14.md</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7</a:t>
            </a:r>
          </a:p>
        </p:txBody>
      </p:sp>
      <p:graphicFrame>
        <p:nvGraphicFramePr>
          <p:cNvPr id="9" name="Table 8"/>
          <p:cNvGraphicFramePr>
            <a:graphicFrameLocks noGrp="1"/>
          </p:cNvGraphicFramePr>
          <p:nvPr/>
        </p:nvGraphicFramePr>
        <p:xfrm>
          <a:off x="603504" y="1481328"/>
          <a:ext cx="7543799" cy="4224528"/>
        </p:xfrm>
        <a:graphic>
          <a:graphicData uri="http://schemas.openxmlformats.org/drawingml/2006/table">
            <a:tbl>
              <a:tblPr firstRow="1" bandRow="1">
                <a:tableStyleId>{5C22544A-7EE6-4342-B048-85BDC9FD1C3A}</a:tableStyleId>
              </a:tblPr>
              <a:tblGrid>
                <a:gridCol w="2834640"/>
                <a:gridCol w="1408176"/>
                <a:gridCol w="1408176"/>
                <a:gridCol w="1892807"/>
              </a:tblGrid>
              <a:tr h="704088">
                <a:tc>
                  <a:txBody>
                    <a:bodyPr anchor="ctr"/>
                    <a:lstStyle/>
                    <a:p>
                      <a:pPr algn="ctr"/>
                      <a:r>
                        <a:rPr sz="1130" b="1" i="0">
                          <a:solidFill>
                            <a:srgbClr val="FFFFFF"/>
                          </a:solidFill>
                          <a:latin typeface="Aptos"/>
                          <a:ea typeface="Aptos"/>
                        </a:rPr>
                        <a:t>Variant</a:t>
                      </a:r>
                    </a:p>
                  </a:txBody>
                  <a:tcPr marL="54864" marR="54864" marT="36576" marB="36576">
                    <a:solidFill>
                      <a:srgbClr val="17479E"/>
                    </a:solidFill>
                  </a:tcPr>
                </a:tc>
                <a:tc>
                  <a:txBody>
                    <a:bodyPr anchor="ctr"/>
                    <a:lstStyle/>
                    <a:p>
                      <a:pPr algn="ctr"/>
                      <a:r>
                        <a:rPr sz="1130" b="1" i="0">
                          <a:solidFill>
                            <a:srgbClr val="FFFFFF"/>
                          </a:solidFill>
                          <a:latin typeface="Aptos"/>
                          <a:ea typeface="Aptos"/>
                        </a:rPr>
                        <a:t>RMSE ↓</a:t>
                      </a:r>
                    </a:p>
                  </a:txBody>
                  <a:tcPr marL="54864" marR="54864" marT="36576" marB="36576">
                    <a:solidFill>
                      <a:srgbClr val="17479E"/>
                    </a:solidFill>
                  </a:tcPr>
                </a:tc>
                <a:tc>
                  <a:txBody>
                    <a:bodyPr anchor="ctr"/>
                    <a:lstStyle/>
                    <a:p>
                      <a:pPr algn="ctr"/>
                      <a:r>
                        <a:rPr sz="1130" b="1" i="0">
                          <a:solidFill>
                            <a:srgbClr val="FFFFFF"/>
                          </a:solidFill>
                          <a:latin typeface="Aptos"/>
                          <a:ea typeface="Aptos"/>
                        </a:rPr>
                        <a:t>IoU ↑</a:t>
                      </a:r>
                    </a:p>
                  </a:txBody>
                  <a:tcPr marL="54864" marR="54864" marT="36576" marB="36576">
                    <a:solidFill>
                      <a:srgbClr val="17479E"/>
                    </a:solidFill>
                  </a:tcPr>
                </a:tc>
                <a:tc>
                  <a:txBody>
                    <a:bodyPr anchor="ctr"/>
                    <a:lstStyle/>
                    <a:p>
                      <a:pPr algn="ctr"/>
                      <a:r>
                        <a:rPr sz="1130" b="1" i="0">
                          <a:solidFill>
                            <a:srgbClr val="FFFFFF"/>
                          </a:solidFill>
                          <a:latin typeface="Aptos"/>
                          <a:ea typeface="Aptos"/>
                        </a:rPr>
                        <a:t>Translation ↓</a:t>
                      </a:r>
                    </a:p>
                  </a:txBody>
                  <a:tcPr marL="54864" marR="54864" marT="36576" marB="36576">
                    <a:solidFill>
                      <a:srgbClr val="17479E"/>
                    </a:solidFill>
                  </a:tcPr>
                </a:tc>
              </a:tr>
              <a:tr h="704088">
                <a:tc>
                  <a:txBody>
                    <a:bodyPr anchor="ctr"/>
                    <a:lstStyle/>
                    <a:p>
                      <a:pPr algn="l"/>
                      <a:r>
                        <a:rPr sz="1120" b="1" i="0">
                          <a:solidFill>
                            <a:srgbClr val="1A1A1A"/>
                          </a:solidFill>
                          <a:latin typeface="Aptos"/>
                          <a:ea typeface="Aptos"/>
                        </a:rPr>
                        <a:t>Full method: Profile border</a:t>
                      </a:r>
                    </a:p>
                  </a:txBody>
                  <a:tcPr marL="54864" marR="54864" marT="36576" marB="36576">
                    <a:solidFill>
                      <a:srgbClr val="E8EFFB"/>
                    </a:solidFill>
                  </a:tcPr>
                </a:tc>
                <a:tc>
                  <a:txBody>
                    <a:bodyPr anchor="ctr"/>
                    <a:lstStyle/>
                    <a:p>
                      <a:pPr algn="ctr"/>
                      <a:r>
                        <a:rPr sz="1100" b="1" i="0">
                          <a:solidFill>
                            <a:srgbClr val="1F57C4"/>
                          </a:solidFill>
                          <a:latin typeface="Aptos"/>
                          <a:ea typeface="Aptos"/>
                        </a:rPr>
                        <a:t>3.253</a:t>
                      </a:r>
                    </a:p>
                  </a:txBody>
                  <a:tcPr marL="54864" marR="54864" marT="36576" marB="36576">
                    <a:solidFill>
                      <a:srgbClr val="E8EFFB"/>
                    </a:solidFill>
                  </a:tcPr>
                </a:tc>
                <a:tc>
                  <a:txBody>
                    <a:bodyPr anchor="ctr"/>
                    <a:lstStyle/>
                    <a:p>
                      <a:pPr algn="ctr"/>
                      <a:r>
                        <a:rPr sz="1100" b="1" i="0">
                          <a:solidFill>
                            <a:srgbClr val="1F57C4"/>
                          </a:solidFill>
                          <a:latin typeface="Aptos"/>
                          <a:ea typeface="Aptos"/>
                        </a:rPr>
                        <a:t>0.996038</a:t>
                      </a:r>
                    </a:p>
                  </a:txBody>
                  <a:tcPr marL="54864" marR="54864" marT="36576" marB="36576">
                    <a:solidFill>
                      <a:srgbClr val="E8EFFB"/>
                    </a:solidFill>
                  </a:tcPr>
                </a:tc>
                <a:tc>
                  <a:txBody>
                    <a:bodyPr anchor="ctr"/>
                    <a:lstStyle/>
                    <a:p>
                      <a:pPr algn="ctr"/>
                      <a:r>
                        <a:rPr sz="1100" b="1" i="0">
                          <a:solidFill>
                            <a:srgbClr val="1F57C4"/>
                          </a:solidFill>
                          <a:latin typeface="Aptos"/>
                          <a:ea typeface="Aptos"/>
                        </a:rPr>
                        <a:t>0.752</a:t>
                      </a:r>
                    </a:p>
                  </a:txBody>
                  <a:tcPr marL="54864" marR="54864" marT="36576" marB="36576">
                    <a:solidFill>
                      <a:srgbClr val="E8EFFB"/>
                    </a:solidFill>
                  </a:tcPr>
                </a:tc>
              </a:tr>
              <a:tr h="704088">
                <a:tc>
                  <a:txBody>
                    <a:bodyPr anchor="ctr"/>
                    <a:lstStyle/>
                    <a:p>
                      <a:pPr algn="l"/>
                      <a:r>
                        <a:rPr sz="1120" b="1" i="0">
                          <a:solidFill>
                            <a:srgbClr val="1A1A1A"/>
                          </a:solidFill>
                          <a:latin typeface="Aptos"/>
                          <a:ea typeface="Aptos"/>
                        </a:rPr>
                        <a:t>No trajectory smoothing</a:t>
                      </a:r>
                    </a:p>
                  </a:txBody>
                  <a:tcPr marL="54864" marR="54864" marT="36576" marB="36576">
                    <a:solidFill>
                      <a:srgbClr val="FCEDEA"/>
                    </a:solidFill>
                  </a:tcPr>
                </a:tc>
                <a:tc>
                  <a:txBody>
                    <a:bodyPr anchor="ctr"/>
                    <a:lstStyle/>
                    <a:p>
                      <a:pPr algn="ctr"/>
                      <a:r>
                        <a:rPr sz="1100" b="1" i="0">
                          <a:solidFill>
                            <a:srgbClr val="1A1A1A"/>
                          </a:solidFill>
                          <a:latin typeface="Aptos"/>
                          <a:ea typeface="Aptos"/>
                        </a:rPr>
                        <a:t>2.932</a:t>
                      </a:r>
                    </a:p>
                  </a:txBody>
                  <a:tcPr marL="54864" marR="54864" marT="36576" marB="36576">
                    <a:solidFill>
                      <a:srgbClr val="FCEDEA"/>
                    </a:solidFill>
                  </a:tcPr>
                </a:tc>
                <a:tc>
                  <a:txBody>
                    <a:bodyPr anchor="ctr"/>
                    <a:lstStyle/>
                    <a:p>
                      <a:pPr algn="ctr"/>
                      <a:r>
                        <a:rPr sz="1100" b="1" i="0">
                          <a:solidFill>
                            <a:srgbClr val="1A1A1A"/>
                          </a:solidFill>
                          <a:latin typeface="Aptos"/>
                          <a:ea typeface="Aptos"/>
                        </a:rPr>
                        <a:t>0.996585</a:t>
                      </a:r>
                    </a:p>
                  </a:txBody>
                  <a:tcPr marL="54864" marR="54864" marT="36576" marB="36576">
                    <a:solidFill>
                      <a:srgbClr val="FCEDEA"/>
                    </a:solidFill>
                  </a:tcPr>
                </a:tc>
                <a:tc>
                  <a:txBody>
                    <a:bodyPr anchor="ctr"/>
                    <a:lstStyle/>
                    <a:p>
                      <a:pPr algn="ctr"/>
                      <a:r>
                        <a:rPr sz="1100" b="1" i="0">
                          <a:solidFill>
                            <a:srgbClr val="1A1A1A"/>
                          </a:solidFill>
                          <a:latin typeface="Aptos"/>
                          <a:ea typeface="Aptos"/>
                        </a:rPr>
                        <a:t>1.430</a:t>
                      </a:r>
                    </a:p>
                  </a:txBody>
                  <a:tcPr marL="54864" marR="54864" marT="36576" marB="36576">
                    <a:solidFill>
                      <a:srgbClr val="FCEDEA"/>
                    </a:solidFill>
                  </a:tcPr>
                </a:tc>
              </a:tr>
              <a:tr h="704088">
                <a:tc>
                  <a:txBody>
                    <a:bodyPr anchor="ctr"/>
                    <a:lstStyle/>
                    <a:p>
                      <a:pPr algn="l"/>
                      <a:r>
                        <a:rPr sz="1120" b="0" i="0">
                          <a:solidFill>
                            <a:srgbClr val="1A1A1A"/>
                          </a:solidFill>
                          <a:latin typeface="Aptos"/>
                          <a:ea typeface="Aptos"/>
                        </a:rPr>
                        <a:t>No LK consistency diagnostic</a:t>
                      </a:r>
                    </a:p>
                  </a:txBody>
                  <a:tcPr marL="54864" marR="54864" marT="36576" marB="36576">
                    <a:solidFill>
                      <a:srgbClr val="F6F8FB"/>
                    </a:solidFill>
                  </a:tcPr>
                </a:tc>
                <a:tc>
                  <a:txBody>
                    <a:bodyPr anchor="ctr"/>
                    <a:lstStyle/>
                    <a:p>
                      <a:pPr algn="ctr"/>
                      <a:r>
                        <a:rPr sz="1100" b="0" i="0">
                          <a:solidFill>
                            <a:srgbClr val="1A1A1A"/>
                          </a:solidFill>
                          <a:latin typeface="Aptos"/>
                          <a:ea typeface="Aptos"/>
                        </a:rPr>
                        <a:t>3.253</a:t>
                      </a:r>
                    </a:p>
                  </a:txBody>
                  <a:tcPr marL="54864" marR="54864" marT="36576" marB="36576">
                    <a:solidFill>
                      <a:srgbClr val="F6F8FB"/>
                    </a:solidFill>
                  </a:tcPr>
                </a:tc>
                <a:tc>
                  <a:txBody>
                    <a:bodyPr anchor="ctr"/>
                    <a:lstStyle/>
                    <a:p>
                      <a:pPr algn="ctr"/>
                      <a:r>
                        <a:rPr sz="1100" b="0" i="0">
                          <a:solidFill>
                            <a:srgbClr val="1A1A1A"/>
                          </a:solidFill>
                          <a:latin typeface="Aptos"/>
                          <a:ea typeface="Aptos"/>
                        </a:rPr>
                        <a:t>0.996038</a:t>
                      </a:r>
                    </a:p>
                  </a:txBody>
                  <a:tcPr marL="54864" marR="54864" marT="36576" marB="36576">
                    <a:solidFill>
                      <a:srgbClr val="F6F8FB"/>
                    </a:solidFill>
                  </a:tcPr>
                </a:tc>
                <a:tc>
                  <a:txBody>
                    <a:bodyPr anchor="ctr"/>
                    <a:lstStyle/>
                    <a:p>
                      <a:pPr algn="ctr"/>
                      <a:r>
                        <a:rPr sz="1100" b="0" i="0">
                          <a:solidFill>
                            <a:srgbClr val="1A1A1A"/>
                          </a:solidFill>
                          <a:latin typeface="Aptos"/>
                          <a:ea typeface="Aptos"/>
                        </a:rPr>
                        <a:t>0.752</a:t>
                      </a:r>
                    </a:p>
                  </a:txBody>
                  <a:tcPr marL="54864" marR="54864" marT="36576" marB="36576">
                    <a:solidFill>
                      <a:srgbClr val="F6F8FB"/>
                    </a:solidFill>
                  </a:tcPr>
                </a:tc>
              </a:tr>
              <a:tr h="704088">
                <a:tc>
                  <a:txBody>
                    <a:bodyPr anchor="ctr"/>
                    <a:lstStyle/>
                    <a:p>
                      <a:pPr algn="l"/>
                      <a:r>
                        <a:rPr sz="1120" b="0" i="0">
                          <a:solidFill>
                            <a:srgbClr val="1A1A1A"/>
                          </a:solidFill>
                          <a:latin typeface="Aptos"/>
                          <a:ea typeface="Aptos"/>
                        </a:rPr>
                        <a:t>No redetection fallback</a:t>
                      </a:r>
                    </a:p>
                  </a:txBody>
                  <a:tcPr marL="54864" marR="54864" marT="36576" marB="36576">
                    <a:solidFill>
                      <a:srgbClr val="F6F8FB"/>
                    </a:solidFill>
                  </a:tcPr>
                </a:tc>
                <a:tc>
                  <a:txBody>
                    <a:bodyPr anchor="ctr"/>
                    <a:lstStyle/>
                    <a:p>
                      <a:pPr algn="ctr"/>
                      <a:r>
                        <a:rPr sz="1100" b="0" i="0">
                          <a:solidFill>
                            <a:srgbClr val="1A1A1A"/>
                          </a:solidFill>
                          <a:latin typeface="Aptos"/>
                          <a:ea typeface="Aptos"/>
                        </a:rPr>
                        <a:t>3.253</a:t>
                      </a:r>
                    </a:p>
                  </a:txBody>
                  <a:tcPr marL="54864" marR="54864" marT="36576" marB="36576">
                    <a:solidFill>
                      <a:srgbClr val="F6F8FB"/>
                    </a:solidFill>
                  </a:tcPr>
                </a:tc>
                <a:tc>
                  <a:txBody>
                    <a:bodyPr anchor="ctr"/>
                    <a:lstStyle/>
                    <a:p>
                      <a:pPr algn="ctr"/>
                      <a:r>
                        <a:rPr sz="1100" b="0" i="0">
                          <a:solidFill>
                            <a:srgbClr val="1A1A1A"/>
                          </a:solidFill>
                          <a:latin typeface="Aptos"/>
                          <a:ea typeface="Aptos"/>
                        </a:rPr>
                        <a:t>0.996038</a:t>
                      </a:r>
                    </a:p>
                  </a:txBody>
                  <a:tcPr marL="54864" marR="54864" marT="36576" marB="36576">
                    <a:solidFill>
                      <a:srgbClr val="F6F8FB"/>
                    </a:solidFill>
                  </a:tcPr>
                </a:tc>
                <a:tc>
                  <a:txBody>
                    <a:bodyPr anchor="ctr"/>
                    <a:lstStyle/>
                    <a:p>
                      <a:pPr algn="ctr"/>
                      <a:r>
                        <a:rPr sz="1100" b="0" i="0">
                          <a:solidFill>
                            <a:srgbClr val="1A1A1A"/>
                          </a:solidFill>
                          <a:latin typeface="Aptos"/>
                          <a:ea typeface="Aptos"/>
                        </a:rPr>
                        <a:t>0.752</a:t>
                      </a:r>
                    </a:p>
                  </a:txBody>
                  <a:tcPr marL="54864" marR="54864" marT="36576" marB="36576">
                    <a:solidFill>
                      <a:srgbClr val="F6F8FB"/>
                    </a:solidFill>
                  </a:tcPr>
                </a:tc>
              </a:tr>
              <a:tr h="704088">
                <a:tc>
                  <a:txBody>
                    <a:bodyPr anchor="ctr"/>
                    <a:lstStyle/>
                    <a:p>
                      <a:pPr algn="l"/>
                      <a:r>
                        <a:rPr sz="1120" b="0" i="0">
                          <a:solidFill>
                            <a:srgbClr val="1A1A1A"/>
                          </a:solidFill>
                          <a:latin typeface="Aptos"/>
                          <a:ea typeface="Aptos"/>
                        </a:rPr>
                        <a:t>Loose edge gates</a:t>
                      </a:r>
                    </a:p>
                  </a:txBody>
                  <a:tcPr marL="54864" marR="54864" marT="36576" marB="36576">
                    <a:solidFill>
                      <a:srgbClr val="F6F8FB"/>
                    </a:solidFill>
                  </a:tcPr>
                </a:tc>
                <a:tc>
                  <a:txBody>
                    <a:bodyPr anchor="ctr"/>
                    <a:lstStyle/>
                    <a:p>
                      <a:pPr algn="ctr"/>
                      <a:r>
                        <a:rPr sz="1100" b="0" i="0">
                          <a:solidFill>
                            <a:srgbClr val="1A1A1A"/>
                          </a:solidFill>
                          <a:latin typeface="Aptos"/>
                          <a:ea typeface="Aptos"/>
                        </a:rPr>
                        <a:t>3.253</a:t>
                      </a:r>
                    </a:p>
                  </a:txBody>
                  <a:tcPr marL="54864" marR="54864" marT="36576" marB="36576">
                    <a:solidFill>
                      <a:srgbClr val="F6F8FB"/>
                    </a:solidFill>
                  </a:tcPr>
                </a:tc>
                <a:tc>
                  <a:txBody>
                    <a:bodyPr anchor="ctr"/>
                    <a:lstStyle/>
                    <a:p>
                      <a:pPr algn="ctr"/>
                      <a:r>
                        <a:rPr sz="1100" b="0" i="0">
                          <a:solidFill>
                            <a:srgbClr val="1A1A1A"/>
                          </a:solidFill>
                          <a:latin typeface="Aptos"/>
                          <a:ea typeface="Aptos"/>
                        </a:rPr>
                        <a:t>0.996038</a:t>
                      </a:r>
                    </a:p>
                  </a:txBody>
                  <a:tcPr marL="54864" marR="54864" marT="36576" marB="36576">
                    <a:solidFill>
                      <a:srgbClr val="F6F8FB"/>
                    </a:solidFill>
                  </a:tcPr>
                </a:tc>
                <a:tc>
                  <a:txBody>
                    <a:bodyPr anchor="ctr"/>
                    <a:lstStyle/>
                    <a:p>
                      <a:pPr algn="ctr"/>
                      <a:r>
                        <a:rPr sz="1100" b="0" i="0">
                          <a:solidFill>
                            <a:srgbClr val="1A1A1A"/>
                          </a:solidFill>
                          <a:latin typeface="Aptos"/>
                          <a:ea typeface="Aptos"/>
                        </a:rPr>
                        <a:t>0.752</a:t>
                      </a:r>
                    </a:p>
                  </a:txBody>
                  <a:tcPr marL="54864" marR="54864" marT="36576" marB="36576">
                    <a:solidFill>
                      <a:srgbClr val="F6F8FB"/>
                    </a:solidFill>
                  </a:tcPr>
                </a:tc>
              </a:tr>
            </a:tbl>
          </a:graphicData>
        </a:graphic>
      </p:graphicFrame>
      <p:sp>
        <p:nvSpPr>
          <p:cNvPr id="10" name="Rounded Rectangle 9"/>
          <p:cNvSpPr/>
          <p:nvPr/>
        </p:nvSpPr>
        <p:spPr>
          <a:xfrm>
            <a:off x="8412480" y="1481328"/>
            <a:ext cx="3182112" cy="1874519"/>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68512" y="1792224"/>
            <a:ext cx="2660904" cy="402336"/>
          </a:xfrm>
          <a:prstGeom prst="rect">
            <a:avLst/>
          </a:prstGeom>
          <a:noFill/>
        </p:spPr>
        <p:txBody>
          <a:bodyPr wrap="square" lIns="0" rIns="0" tIns="0" bIns="0" anchor="t">
            <a:spAutoFit/>
          </a:bodyPr>
          <a:lstStyle/>
          <a:p>
            <a:pPr algn="ctr">
              <a:lnSpc>
                <a:spcPct val="108000"/>
              </a:lnSpc>
              <a:spcBef>
                <a:spcPts val="0"/>
              </a:spcBef>
              <a:spcAft>
                <a:spcPts val="0"/>
              </a:spcAft>
            </a:pPr>
            <a:r>
              <a:rPr sz="2200" b="1" i="0">
                <a:solidFill>
                  <a:srgbClr val="1F57C4"/>
                </a:solidFill>
                <a:latin typeface="Aptos"/>
                <a:ea typeface="Aptos"/>
              </a:rPr>
              <a:t>0.752  →  1.430</a:t>
            </a:r>
          </a:p>
        </p:txBody>
      </p:sp>
      <p:sp>
        <p:nvSpPr>
          <p:cNvPr id="12" name="TextBox 11"/>
          <p:cNvSpPr txBox="1"/>
          <p:nvPr/>
        </p:nvSpPr>
        <p:spPr>
          <a:xfrm>
            <a:off x="8677656" y="2286000"/>
            <a:ext cx="2642616" cy="512064"/>
          </a:xfrm>
          <a:prstGeom prst="rect">
            <a:avLst/>
          </a:prstGeom>
          <a:noFill/>
        </p:spPr>
        <p:txBody>
          <a:bodyPr wrap="square" lIns="0" rIns="0" tIns="0" bIns="0" anchor="t">
            <a:spAutoFit/>
          </a:bodyPr>
          <a:lstStyle/>
          <a:p>
            <a:pPr algn="ctr">
              <a:lnSpc>
                <a:spcPct val="108000"/>
              </a:lnSpc>
              <a:spcBef>
                <a:spcPts val="0"/>
              </a:spcBef>
              <a:spcAft>
                <a:spcPts val="0"/>
              </a:spcAft>
            </a:pPr>
            <a:r>
              <a:rPr sz="1040" b="1" i="0">
                <a:solidFill>
                  <a:srgbClr val="1A1A1A"/>
                </a:solidFill>
                <a:latin typeface="Aptos"/>
                <a:ea typeface="Aptos"/>
              </a:rPr>
              <a:t>Translation variation nearly doubles without smoothing</a:t>
            </a:r>
          </a:p>
        </p:txBody>
      </p:sp>
      <p:sp>
        <p:nvSpPr>
          <p:cNvPr id="13" name="TextBox 12"/>
          <p:cNvSpPr txBox="1"/>
          <p:nvPr/>
        </p:nvSpPr>
        <p:spPr>
          <a:xfrm>
            <a:off x="8668512" y="2807208"/>
            <a:ext cx="2660904" cy="384048"/>
          </a:xfrm>
          <a:prstGeom prst="rect">
            <a:avLst/>
          </a:prstGeom>
          <a:noFill/>
        </p:spPr>
        <p:txBody>
          <a:bodyPr wrap="square" lIns="0" rIns="0" tIns="0" bIns="0" anchor="t">
            <a:spAutoFit/>
          </a:bodyPr>
          <a:lstStyle/>
          <a:p>
            <a:pPr algn="ctr">
              <a:lnSpc>
                <a:spcPct val="108000"/>
              </a:lnSpc>
              <a:spcBef>
                <a:spcPts val="0"/>
              </a:spcBef>
              <a:spcAft>
                <a:spcPts val="0"/>
              </a:spcAft>
            </a:pPr>
            <a:r>
              <a:rPr sz="840" b="0" i="0">
                <a:solidFill>
                  <a:srgbClr val="555B66"/>
                </a:solidFill>
                <a:latin typeface="Aptos"/>
                <a:ea typeface="Aptos"/>
              </a:rPr>
              <a:t>Trade-off: sparse-frame RMSE improves slightly, but frame-to-frame jitter increases.</a:t>
            </a:r>
          </a:p>
        </p:txBody>
      </p:sp>
      <p:sp>
        <p:nvSpPr>
          <p:cNvPr id="14" name="Rounded Rectangle 13"/>
          <p:cNvSpPr/>
          <p:nvPr/>
        </p:nvSpPr>
        <p:spPr>
          <a:xfrm>
            <a:off x="8412480" y="3593592"/>
            <a:ext cx="3182112" cy="2112264"/>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68512" y="3877056"/>
            <a:ext cx="2660904" cy="310896"/>
          </a:xfrm>
          <a:prstGeom prst="rect">
            <a:avLst/>
          </a:prstGeom>
          <a:noFill/>
        </p:spPr>
        <p:txBody>
          <a:bodyPr wrap="square" lIns="0" rIns="0" tIns="0" bIns="0" anchor="t">
            <a:spAutoFit/>
          </a:bodyPr>
          <a:lstStyle/>
          <a:p>
            <a:pPr algn="ctr">
              <a:lnSpc>
                <a:spcPct val="108000"/>
              </a:lnSpc>
              <a:spcBef>
                <a:spcPts val="0"/>
              </a:spcBef>
              <a:spcAft>
                <a:spcPts val="0"/>
              </a:spcAft>
            </a:pPr>
            <a:r>
              <a:rPr sz="1500" b="1" i="0">
                <a:solidFill>
                  <a:srgbClr val="1A1A1A"/>
                </a:solidFill>
                <a:latin typeface="Aptos"/>
                <a:ea typeface="Aptos"/>
              </a:rPr>
              <a:t>LK / REDETECTION / GATING</a:t>
            </a:r>
          </a:p>
        </p:txBody>
      </p:sp>
      <p:sp>
        <p:nvSpPr>
          <p:cNvPr id="16" name="TextBox 15"/>
          <p:cNvSpPr txBox="1"/>
          <p:nvPr/>
        </p:nvSpPr>
        <p:spPr>
          <a:xfrm>
            <a:off x="8668512" y="4325112"/>
            <a:ext cx="2660904" cy="310896"/>
          </a:xfrm>
          <a:prstGeom prst="rect">
            <a:avLst/>
          </a:prstGeom>
          <a:noFill/>
        </p:spPr>
        <p:txBody>
          <a:bodyPr wrap="square" lIns="0" rIns="0" tIns="0" bIns="0" anchor="t">
            <a:spAutoFit/>
          </a:bodyPr>
          <a:lstStyle/>
          <a:p>
            <a:pPr algn="ctr">
              <a:lnSpc>
                <a:spcPct val="108000"/>
              </a:lnSpc>
              <a:spcBef>
                <a:spcPts val="0"/>
              </a:spcBef>
              <a:spcAft>
                <a:spcPts val="0"/>
              </a:spcAft>
            </a:pPr>
            <a:r>
              <a:rPr sz="1000" b="1" i="0">
                <a:solidFill>
                  <a:srgbClr val="1F57C4"/>
                </a:solidFill>
                <a:latin typeface="Aptos"/>
                <a:ea typeface="Aptos"/>
              </a:rPr>
              <a:t>No metric change on this scrolling clip</a:t>
            </a:r>
          </a:p>
        </p:txBody>
      </p:sp>
      <p:sp>
        <p:nvSpPr>
          <p:cNvPr id="17" name="TextBox 16"/>
          <p:cNvSpPr txBox="1"/>
          <p:nvPr/>
        </p:nvSpPr>
        <p:spPr>
          <a:xfrm>
            <a:off x="8686800" y="4736592"/>
            <a:ext cx="2624328" cy="685800"/>
          </a:xfrm>
          <a:prstGeom prst="rect">
            <a:avLst/>
          </a:prstGeom>
          <a:noFill/>
        </p:spPr>
        <p:txBody>
          <a:bodyPr wrap="square" lIns="0" rIns="0" tIns="0" bIns="0" anchor="t">
            <a:spAutoFit/>
          </a:bodyPr>
          <a:lstStyle/>
          <a:p>
            <a:pPr algn="ctr">
              <a:lnSpc>
                <a:spcPct val="110000"/>
              </a:lnSpc>
              <a:spcBef>
                <a:spcPts val="0"/>
              </a:spcBef>
              <a:spcAft>
                <a:spcPts val="0"/>
              </a:spcAft>
            </a:pPr>
            <a:r>
              <a:rPr sz="930" b="0" i="0">
                <a:solidFill>
                  <a:srgbClr val="555B66"/>
                </a:solidFill>
                <a:latin typeface="Aptos"/>
                <a:ea typeface="Aptos"/>
              </a:rPr>
              <a:t>Profile border evidence succeeds on every frame here. These modules mainly handle abnormal detection and recovery rather than normal-frame estimation.</a:t>
            </a:r>
          </a:p>
        </p:txBody>
      </p:sp>
      <p:sp>
        <p:nvSpPr>
          <p:cNvPr id="18" name="TextBox 17"/>
          <p:cNvSpPr txBox="1"/>
          <p:nvPr/>
        </p:nvSpPr>
        <p:spPr>
          <a:xfrm>
            <a:off x="630936" y="5916168"/>
            <a:ext cx="7452360" cy="219456"/>
          </a:xfrm>
          <a:prstGeom prst="rect">
            <a:avLst/>
          </a:prstGeom>
          <a:noFill/>
        </p:spPr>
        <p:txBody>
          <a:bodyPr wrap="square" lIns="0" rIns="0" tIns="0" bIns="0" anchor="t">
            <a:spAutoFit/>
          </a:bodyPr>
          <a:lstStyle/>
          <a:p>
            <a:pPr algn="l">
              <a:lnSpc>
                <a:spcPct val="108000"/>
              </a:lnSpc>
              <a:spcBef>
                <a:spcPts val="0"/>
              </a:spcBef>
              <a:spcAft>
                <a:spcPts val="0"/>
              </a:spcAft>
            </a:pPr>
            <a:r>
              <a:rPr sz="860" b="0" i="1">
                <a:solidFill>
                  <a:srgbClr val="555B66"/>
                </a:solidFill>
                <a:latin typeface="Aptos"/>
                <a:ea typeface="Aptos"/>
              </a:rPr>
              <a:t>All values are transcribed directly from the repository's Proposal Border Ablation document.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7863840" cy="256032"/>
          </a:xfrm>
          <a:prstGeom prst="rect">
            <a:avLst/>
          </a:prstGeom>
          <a:noFill/>
        </p:spPr>
        <p:txBody>
          <a:bodyPr wrap="square" lIns="0" rIns="0" tIns="0" bIns="0" anchor="t">
            <a:spAutoFit/>
          </a:bodyPr>
          <a:lstStyle/>
          <a:p>
            <a:pPr algn="l">
              <a:lnSpc>
                <a:spcPct val="108000"/>
              </a:lnSpc>
              <a:spcBef>
                <a:spcPts val="0"/>
              </a:spcBef>
              <a:spcAft>
                <a:spcPts val="0"/>
              </a:spcAft>
            </a:pPr>
            <a:r>
              <a:rPr sz="1150" b="1" i="0">
                <a:solidFill>
                  <a:srgbClr val="1F57C4"/>
                </a:solidFill>
                <a:latin typeface="Aptos"/>
                <a:ea typeface="Aptos"/>
              </a:rPr>
              <a:t>LIMITS &amp; TAKEAWAY</a:t>
            </a:r>
          </a:p>
        </p:txBody>
      </p:sp>
      <p:sp>
        <p:nvSpPr>
          <p:cNvPr id="3" name="TextBox 2"/>
          <p:cNvSpPr txBox="1"/>
          <p:nvPr/>
        </p:nvSpPr>
        <p:spPr>
          <a:xfrm>
            <a:off x="566928" y="612648"/>
            <a:ext cx="10972800" cy="530352"/>
          </a:xfrm>
          <a:prstGeom prst="rect">
            <a:avLst/>
          </a:prstGeom>
          <a:noFill/>
        </p:spPr>
        <p:txBody>
          <a:bodyPr wrap="square" lIns="0" rIns="0" tIns="0" bIns="0" anchor="ctr">
            <a:spAutoFit/>
          </a:bodyPr>
          <a:lstStyle/>
          <a:p>
            <a:pPr algn="l">
              <a:lnSpc>
                <a:spcPct val="108000"/>
              </a:lnSpc>
              <a:spcBef>
                <a:spcPts val="0"/>
              </a:spcBef>
              <a:spcAft>
                <a:spcPts val="0"/>
              </a:spcAft>
            </a:pPr>
            <a:r>
              <a:rPr sz="2350" b="1" i="0">
                <a:solidFill>
                  <a:srgbClr val="1A1A1A"/>
                </a:solidFill>
                <a:latin typeface="Aptos"/>
                <a:ea typeface="Aptos"/>
              </a:rPr>
              <a:t>Boundary Evidence Is Still the Limitation—but the Conclusion Is Clear</a:t>
            </a:r>
          </a:p>
        </p:txBody>
      </p:sp>
      <p:cxnSp>
        <p:nvCxnSpPr>
          <p:cNvPr id="4" name="Connector 3"/>
          <p:cNvCxnSpPr/>
          <p:nvPr/>
        </p:nvCxnSpPr>
        <p:spPr>
          <a:xfrm>
            <a:off x="585216" y="1152144"/>
            <a:ext cx="832104" cy="0"/>
          </a:xfrm>
          <a:prstGeom prst="line">
            <a:avLst/>
          </a:prstGeom>
          <a:ln w="30480">
            <a:solidFill>
              <a:srgbClr val="1F5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66928" y="6419088"/>
            <a:ext cx="11045952" cy="0"/>
          </a:xfrm>
          <a:prstGeom prst="line">
            <a:avLst/>
          </a:prstGeom>
          <a:ln w="6350">
            <a:solidFill>
              <a:srgbClr val="D3DA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600200" cy="173736"/>
          </a:xfrm>
          <a:prstGeom prst="rect">
            <a:avLst/>
          </a:prstGeom>
          <a:noFill/>
        </p:spPr>
        <p:txBody>
          <a:bodyPr wrap="square" lIns="0" rIns="0" tIns="0" bIns="0" anchor="t">
            <a:spAutoFit/>
          </a:bodyPr>
          <a:lstStyle/>
          <a:p>
            <a:pPr algn="l">
              <a:lnSpc>
                <a:spcPct val="108000"/>
              </a:lnSpc>
              <a:spcBef>
                <a:spcPts val="0"/>
              </a:spcBef>
              <a:spcAft>
                <a:spcPts val="0"/>
              </a:spcAft>
            </a:pPr>
            <a:r>
              <a:rPr sz="720" b="0" i="0">
                <a:solidFill>
                  <a:srgbClr val="555B66"/>
                </a:solidFill>
                <a:latin typeface="Aptos"/>
                <a:ea typeface="Aptos"/>
              </a:rPr>
              <a:t>ECE4512 Final Project · 2026</a:t>
            </a:r>
          </a:p>
        </p:txBody>
      </p:sp>
      <p:sp>
        <p:nvSpPr>
          <p:cNvPr id="7" name="TextBox 6"/>
          <p:cNvSpPr txBox="1"/>
          <p:nvPr/>
        </p:nvSpPr>
        <p:spPr>
          <a:xfrm>
            <a:off x="1993392" y="6446520"/>
            <a:ext cx="9189720" cy="246888"/>
          </a:xfrm>
          <a:prstGeom prst="rect">
            <a:avLst/>
          </a:prstGeom>
          <a:noFill/>
        </p:spPr>
        <p:txBody>
          <a:bodyPr wrap="square" lIns="0" rIns="0" tIns="0" bIns="0" anchor="t">
            <a:spAutoFit/>
          </a:bodyPr>
          <a:lstStyle/>
          <a:p>
            <a:pPr algn="l">
              <a:lnSpc>
                <a:spcPct val="108000"/>
              </a:lnSpc>
              <a:spcBef>
                <a:spcPts val="0"/>
              </a:spcBef>
              <a:spcAft>
                <a:spcPts val="0"/>
              </a:spcAft>
            </a:pPr>
            <a:r>
              <a:rPr sz="640" b="0" i="0">
                <a:solidFill>
                  <a:srgbClr val="555B66"/>
                </a:solidFill>
                <a:latin typeface="Aptos"/>
                <a:ea typeface="Aptos"/>
              </a:rPr>
              <a:t>Source: project outline §§4–5</a:t>
            </a:r>
          </a:p>
        </p:txBody>
      </p:sp>
      <p:sp>
        <p:nvSpPr>
          <p:cNvPr id="8" name="TextBox 7"/>
          <p:cNvSpPr txBox="1"/>
          <p:nvPr/>
        </p:nvSpPr>
        <p:spPr>
          <a:xfrm>
            <a:off x="11384280" y="6473952"/>
            <a:ext cx="228600" cy="173736"/>
          </a:xfrm>
          <a:prstGeom prst="rect">
            <a:avLst/>
          </a:prstGeom>
          <a:noFill/>
        </p:spPr>
        <p:txBody>
          <a:bodyPr wrap="square" lIns="0" rIns="0" tIns="0" bIns="0" anchor="t">
            <a:spAutoFit/>
          </a:bodyPr>
          <a:lstStyle/>
          <a:p>
            <a:pPr algn="r">
              <a:lnSpc>
                <a:spcPct val="108000"/>
              </a:lnSpc>
              <a:spcBef>
                <a:spcPts val="0"/>
              </a:spcBef>
              <a:spcAft>
                <a:spcPts val="0"/>
              </a:spcAft>
            </a:pPr>
            <a:r>
              <a:rPr sz="760" b="0" i="0">
                <a:solidFill>
                  <a:srgbClr val="555B66"/>
                </a:solidFill>
                <a:latin typeface="Aptos"/>
                <a:ea typeface="Aptos"/>
              </a:rPr>
              <a:t>8</a:t>
            </a:r>
          </a:p>
        </p:txBody>
      </p:sp>
      <p:sp>
        <p:nvSpPr>
          <p:cNvPr id="9" name="Rounded Rectangle 8"/>
          <p:cNvSpPr/>
          <p:nvPr/>
        </p:nvSpPr>
        <p:spPr>
          <a:xfrm>
            <a:off x="603504" y="1444752"/>
            <a:ext cx="5321808" cy="1856231"/>
          </a:xfrm>
          <a:prstGeom prst="roundRect">
            <a:avLst>
              <a:gd name="adj" fmla="val 8000"/>
            </a:avLst>
          </a:prstGeom>
          <a:solidFill>
            <a:srgbClr val="FCEDEA"/>
          </a:solidFill>
          <a:ln w="10160">
            <a:solidFill>
              <a:srgbClr val="C43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09928"/>
            <a:ext cx="1965960" cy="283464"/>
          </a:xfrm>
          <a:prstGeom prst="rect">
            <a:avLst/>
          </a:prstGeom>
          <a:noFill/>
        </p:spPr>
        <p:txBody>
          <a:bodyPr wrap="square" lIns="0" rIns="0" tIns="0" bIns="0" anchor="t">
            <a:spAutoFit/>
          </a:bodyPr>
          <a:lstStyle/>
          <a:p>
            <a:pPr algn="l">
              <a:lnSpc>
                <a:spcPct val="108000"/>
              </a:lnSpc>
              <a:spcBef>
                <a:spcPts val="0"/>
              </a:spcBef>
              <a:spcAft>
                <a:spcPts val="0"/>
              </a:spcAft>
            </a:pPr>
            <a:r>
              <a:rPr sz="1350" b="1" i="0">
                <a:solidFill>
                  <a:srgbClr val="C43D2E"/>
                </a:solidFill>
                <a:latin typeface="Aptos"/>
                <a:ea typeface="Aptos"/>
              </a:rPr>
              <a:t>MAIN LIMITATIONS</a:t>
            </a:r>
          </a:p>
        </p:txBody>
      </p:sp>
      <p:sp>
        <p:nvSpPr>
          <p:cNvPr id="11" name="TextBox 10"/>
          <p:cNvSpPr txBox="1"/>
          <p:nvPr/>
        </p:nvSpPr>
        <p:spPr>
          <a:xfrm>
            <a:off x="859536" y="2103120"/>
            <a:ext cx="4718304" cy="960120"/>
          </a:xfrm>
          <a:prstGeom prst="rect">
            <a:avLst/>
          </a:prstGeom>
          <a:noFill/>
        </p:spPr>
        <p:txBody>
          <a:bodyPr wrap="square" lIns="0" rIns="0" tIns="0" bIns="0" anchor="t">
            <a:spAutoFit/>
          </a:bodyPr>
          <a:lstStyle/>
          <a:p>
            <a:pPr algn="l">
              <a:lnSpc>
                <a:spcPct val="110000"/>
              </a:lnSpc>
              <a:spcBef>
                <a:spcPts val="0"/>
              </a:spcBef>
              <a:spcAft>
                <a:spcPts val="0"/>
              </a:spcAft>
            </a:pPr>
            <a:r>
              <a:rPr sz="1060" b="0" i="0">
                <a:solidFill>
                  <a:srgbClr val="1A1A1A"/>
                </a:solidFill>
                <a:latin typeface="Aptos"/>
                <a:ea typeface="Aptos"/>
              </a:rPr>
              <a:t>• Weak edges / very low contrast: true gradients fade and background texture may become the stronger candidate</a:t>
            </a:r>
          </a:p>
          <a:p>
            <a:pPr algn="l">
              <a:lnSpc>
                <a:spcPct val="110000"/>
              </a:lnSpc>
              <a:spcBef>
                <a:spcPts val="0"/>
              </a:spcBef>
              <a:spcAft>
                <a:spcPts val="0"/>
              </a:spcAft>
            </a:pPr>
            <a:r>
              <a:rPr sz="1060" b="0" i="0">
                <a:solidFill>
                  <a:srgbClr val="1A1A1A"/>
                </a:solidFill>
                <a:latin typeface="Aptos"/>
                <a:ea typeface="Aptos"/>
              </a:rPr>
              <a:t>• Strong glare / occlusion: false gradients can shift a fitted line or trigger redetection and hold</a:t>
            </a:r>
          </a:p>
        </p:txBody>
      </p:sp>
      <p:sp>
        <p:nvSpPr>
          <p:cNvPr id="12" name="Rounded Rectangle 11"/>
          <p:cNvSpPr/>
          <p:nvPr/>
        </p:nvSpPr>
        <p:spPr>
          <a:xfrm>
            <a:off x="6190488" y="1444752"/>
            <a:ext cx="5404104" cy="1856231"/>
          </a:xfrm>
          <a:prstGeom prst="roundRect">
            <a:avLst>
              <a:gd name="adj" fmla="val 8000"/>
            </a:avLst>
          </a:prstGeom>
          <a:solidFill>
            <a:srgbClr val="E8EFFB"/>
          </a:solidFill>
          <a:ln w="10160">
            <a:solidFill>
              <a:srgbClr val="1F5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709928"/>
            <a:ext cx="1965960" cy="283464"/>
          </a:xfrm>
          <a:prstGeom prst="rect">
            <a:avLst/>
          </a:prstGeom>
          <a:noFill/>
        </p:spPr>
        <p:txBody>
          <a:bodyPr wrap="square" lIns="0" rIns="0" tIns="0" bIns="0" anchor="t">
            <a:spAutoFit/>
          </a:bodyPr>
          <a:lstStyle/>
          <a:p>
            <a:pPr algn="l">
              <a:lnSpc>
                <a:spcPct val="108000"/>
              </a:lnSpc>
              <a:spcBef>
                <a:spcPts val="0"/>
              </a:spcBef>
              <a:spcAft>
                <a:spcPts val="0"/>
              </a:spcAft>
            </a:pPr>
            <a:r>
              <a:rPr sz="1350" b="1" i="0">
                <a:solidFill>
                  <a:srgbClr val="1F57C4"/>
                </a:solidFill>
                <a:latin typeface="Aptos"/>
                <a:ea typeface="Aptos"/>
              </a:rPr>
              <a:t>FINAL CONCLUSION</a:t>
            </a:r>
          </a:p>
        </p:txBody>
      </p:sp>
      <p:sp>
        <p:nvSpPr>
          <p:cNvPr id="14" name="TextBox 13"/>
          <p:cNvSpPr txBox="1"/>
          <p:nvPr/>
        </p:nvSpPr>
        <p:spPr>
          <a:xfrm>
            <a:off x="6464808" y="2084831"/>
            <a:ext cx="4828032" cy="914400"/>
          </a:xfrm>
          <a:prstGeom prst="rect">
            <a:avLst/>
          </a:prstGeom>
          <a:noFill/>
        </p:spPr>
        <p:txBody>
          <a:bodyPr wrap="square" lIns="0" rIns="0" tIns="0" bIns="0" anchor="ctr">
            <a:spAutoFit/>
          </a:bodyPr>
          <a:lstStyle/>
          <a:p>
            <a:pPr algn="ctr">
              <a:lnSpc>
                <a:spcPct val="110000"/>
              </a:lnSpc>
              <a:spcBef>
                <a:spcPts val="0"/>
              </a:spcBef>
              <a:spcAft>
                <a:spcPts val="0"/>
              </a:spcAft>
            </a:pPr>
            <a:r>
              <a:rPr sz="1410" b="1" i="0">
                <a:solidFill>
                  <a:srgbClr val="1A1A1A"/>
                </a:solidFill>
                <a:latin typeface="Aptos"/>
                <a:ea typeface="Aptos"/>
              </a:rPr>
              <a:t>The physical screen border is a better primary cue for the screen plane than independent frame detection or internal-content optical flow.</a:t>
            </a:r>
          </a:p>
        </p:txBody>
      </p:sp>
      <p:sp>
        <p:nvSpPr>
          <p:cNvPr id="15" name="TextBox 14"/>
          <p:cNvSpPr txBox="1"/>
          <p:nvPr/>
        </p:nvSpPr>
        <p:spPr>
          <a:xfrm>
            <a:off x="630936" y="3657600"/>
            <a:ext cx="1234440" cy="256032"/>
          </a:xfrm>
          <a:prstGeom prst="rect">
            <a:avLst/>
          </a:prstGeom>
          <a:noFill/>
        </p:spPr>
        <p:txBody>
          <a:bodyPr wrap="square" lIns="0" rIns="0" tIns="0" bIns="0" anchor="t">
            <a:spAutoFit/>
          </a:bodyPr>
          <a:lstStyle/>
          <a:p>
            <a:pPr algn="l">
              <a:lnSpc>
                <a:spcPct val="108000"/>
              </a:lnSpc>
              <a:spcBef>
                <a:spcPts val="0"/>
              </a:spcBef>
              <a:spcAft>
                <a:spcPts val="0"/>
              </a:spcAft>
            </a:pPr>
            <a:r>
              <a:rPr sz="1350" b="1" i="0">
                <a:solidFill>
                  <a:srgbClr val="1F57C4"/>
                </a:solidFill>
                <a:latin typeface="Aptos"/>
                <a:ea typeface="Aptos"/>
              </a:rPr>
              <a:t>NEXT STEPS</a:t>
            </a:r>
          </a:p>
        </p:txBody>
      </p:sp>
      <p:sp>
        <p:nvSpPr>
          <p:cNvPr id="16" name="Rounded Rectangle 15"/>
          <p:cNvSpPr/>
          <p:nvPr/>
        </p:nvSpPr>
        <p:spPr>
          <a:xfrm>
            <a:off x="621792" y="4041648"/>
            <a:ext cx="3273552" cy="148132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251960"/>
            <a:ext cx="438912" cy="237744"/>
          </a:xfrm>
          <a:prstGeom prst="rect">
            <a:avLst/>
          </a:prstGeom>
          <a:noFill/>
        </p:spPr>
        <p:txBody>
          <a:bodyPr wrap="square" lIns="0" rIns="0" tIns="0" bIns="0" anchor="t">
            <a:spAutoFit/>
          </a:bodyPr>
          <a:lstStyle/>
          <a:p>
            <a:pPr algn="l">
              <a:lnSpc>
                <a:spcPct val="108000"/>
              </a:lnSpc>
              <a:spcBef>
                <a:spcPts val="0"/>
              </a:spcBef>
              <a:spcAft>
                <a:spcPts val="0"/>
              </a:spcAft>
            </a:pPr>
            <a:r>
              <a:rPr sz="1050" b="1" i="0">
                <a:solidFill>
                  <a:srgbClr val="1F57C4"/>
                </a:solidFill>
                <a:latin typeface="Aptos"/>
                <a:ea typeface="Aptos"/>
              </a:rPr>
              <a:t>01</a:t>
            </a:r>
          </a:p>
        </p:txBody>
      </p:sp>
      <p:sp>
        <p:nvSpPr>
          <p:cNvPr id="18" name="TextBox 17"/>
          <p:cNvSpPr txBox="1"/>
          <p:nvPr/>
        </p:nvSpPr>
        <p:spPr>
          <a:xfrm>
            <a:off x="1216152" y="4215384"/>
            <a:ext cx="2423160" cy="292608"/>
          </a:xfrm>
          <a:prstGeom prst="rect">
            <a:avLst/>
          </a:prstGeom>
          <a:noFill/>
        </p:spPr>
        <p:txBody>
          <a:bodyPr wrap="square" lIns="0" rIns="0" tIns="0" bIns="0" anchor="t">
            <a:spAutoFit/>
          </a:bodyPr>
          <a:lstStyle/>
          <a:p>
            <a:pPr algn="l">
              <a:lnSpc>
                <a:spcPct val="108000"/>
              </a:lnSpc>
              <a:spcBef>
                <a:spcPts val="0"/>
              </a:spcBef>
              <a:spcAft>
                <a:spcPts val="0"/>
              </a:spcAft>
            </a:pPr>
            <a:r>
              <a:rPr sz="1320" b="1" i="0">
                <a:solidFill>
                  <a:srgbClr val="1A1A1A"/>
                </a:solidFill>
                <a:latin typeface="Aptos"/>
                <a:ea typeface="Aptos"/>
              </a:rPr>
              <a:t>Multi-cue boundary fusion</a:t>
            </a:r>
          </a:p>
        </p:txBody>
      </p:sp>
      <p:sp>
        <p:nvSpPr>
          <p:cNvPr id="19" name="TextBox 18"/>
          <p:cNvSpPr txBox="1"/>
          <p:nvPr/>
        </p:nvSpPr>
        <p:spPr>
          <a:xfrm>
            <a:off x="786384" y="4700016"/>
            <a:ext cx="2852928" cy="493776"/>
          </a:xfrm>
          <a:prstGeom prst="rect">
            <a:avLst/>
          </a:prstGeom>
          <a:noFill/>
        </p:spPr>
        <p:txBody>
          <a:bodyPr wrap="square" lIns="0" rIns="0" tIns="0" bIns="0" anchor="t">
            <a:spAutoFit/>
          </a:bodyPr>
          <a:lstStyle/>
          <a:p>
            <a:pPr algn="l">
              <a:lnSpc>
                <a:spcPct val="110000"/>
              </a:lnSpc>
              <a:spcBef>
                <a:spcPts val="0"/>
              </a:spcBef>
              <a:spcAft>
                <a:spcPts val="0"/>
              </a:spcAft>
            </a:pPr>
            <a:r>
              <a:rPr sz="1050" b="0" i="0">
                <a:solidFill>
                  <a:srgbClr val="555B66"/>
                </a:solidFill>
                <a:latin typeface="Aptos"/>
                <a:ea typeface="Aptos"/>
              </a:rPr>
              <a:t>Combine profiles, long line segments, color differences, and rectangular constraints.</a:t>
            </a:r>
          </a:p>
        </p:txBody>
      </p:sp>
      <p:sp>
        <p:nvSpPr>
          <p:cNvPr id="20" name="Rounded Rectangle 19"/>
          <p:cNvSpPr/>
          <p:nvPr/>
        </p:nvSpPr>
        <p:spPr>
          <a:xfrm>
            <a:off x="4178808" y="4041648"/>
            <a:ext cx="3273552" cy="148132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4251960"/>
            <a:ext cx="438912" cy="237744"/>
          </a:xfrm>
          <a:prstGeom prst="rect">
            <a:avLst/>
          </a:prstGeom>
          <a:noFill/>
        </p:spPr>
        <p:txBody>
          <a:bodyPr wrap="square" lIns="0" rIns="0" tIns="0" bIns="0" anchor="t">
            <a:spAutoFit/>
          </a:bodyPr>
          <a:lstStyle/>
          <a:p>
            <a:pPr algn="l">
              <a:lnSpc>
                <a:spcPct val="108000"/>
              </a:lnSpc>
              <a:spcBef>
                <a:spcPts val="0"/>
              </a:spcBef>
              <a:spcAft>
                <a:spcPts val="0"/>
              </a:spcAft>
            </a:pPr>
            <a:r>
              <a:rPr sz="1050" b="1" i="0">
                <a:solidFill>
                  <a:srgbClr val="1F57C4"/>
                </a:solidFill>
                <a:latin typeface="Aptos"/>
                <a:ea typeface="Aptos"/>
              </a:rPr>
              <a:t>02</a:t>
            </a:r>
          </a:p>
        </p:txBody>
      </p:sp>
      <p:sp>
        <p:nvSpPr>
          <p:cNvPr id="22" name="TextBox 21"/>
          <p:cNvSpPr txBox="1"/>
          <p:nvPr/>
        </p:nvSpPr>
        <p:spPr>
          <a:xfrm>
            <a:off x="4773168" y="4215384"/>
            <a:ext cx="2423160" cy="292608"/>
          </a:xfrm>
          <a:prstGeom prst="rect">
            <a:avLst/>
          </a:prstGeom>
          <a:noFill/>
        </p:spPr>
        <p:txBody>
          <a:bodyPr wrap="square" lIns="0" rIns="0" tIns="0" bIns="0" anchor="t">
            <a:spAutoFit/>
          </a:bodyPr>
          <a:lstStyle/>
          <a:p>
            <a:pPr algn="l">
              <a:lnSpc>
                <a:spcPct val="108000"/>
              </a:lnSpc>
              <a:spcBef>
                <a:spcPts val="0"/>
              </a:spcBef>
              <a:spcAft>
                <a:spcPts val="0"/>
              </a:spcAft>
            </a:pPr>
            <a:r>
              <a:rPr sz="1320" b="1" i="0">
                <a:solidFill>
                  <a:srgbClr val="1A1A1A"/>
                </a:solidFill>
                <a:latin typeface="Aptos"/>
                <a:ea typeface="Aptos"/>
              </a:rPr>
              <a:t>Per-edge confidence</a:t>
            </a:r>
          </a:p>
        </p:txBody>
      </p:sp>
      <p:sp>
        <p:nvSpPr>
          <p:cNvPr id="23" name="TextBox 22"/>
          <p:cNvSpPr txBox="1"/>
          <p:nvPr/>
        </p:nvSpPr>
        <p:spPr>
          <a:xfrm>
            <a:off x="4343400" y="4700016"/>
            <a:ext cx="2852928" cy="493776"/>
          </a:xfrm>
          <a:prstGeom prst="rect">
            <a:avLst/>
          </a:prstGeom>
          <a:noFill/>
        </p:spPr>
        <p:txBody>
          <a:bodyPr wrap="square" lIns="0" rIns="0" tIns="0" bIns="0" anchor="t">
            <a:spAutoFit/>
          </a:bodyPr>
          <a:lstStyle/>
          <a:p>
            <a:pPr algn="l">
              <a:lnSpc>
                <a:spcPct val="110000"/>
              </a:lnSpc>
              <a:spcBef>
                <a:spcPts val="0"/>
              </a:spcBef>
              <a:spcAft>
                <a:spcPts val="0"/>
              </a:spcAft>
            </a:pPr>
            <a:r>
              <a:rPr sz="1050" b="0" i="0">
                <a:solidFill>
                  <a:srgbClr val="555B66"/>
                </a:solidFill>
                <a:latin typeface="Aptos"/>
                <a:ea typeface="Aptos"/>
              </a:rPr>
              <a:t>Estimate confidence for each side and complete low-confidence edges across frames.</a:t>
            </a:r>
          </a:p>
        </p:txBody>
      </p:sp>
      <p:sp>
        <p:nvSpPr>
          <p:cNvPr id="24" name="Rounded Rectangle 23"/>
          <p:cNvSpPr/>
          <p:nvPr/>
        </p:nvSpPr>
        <p:spPr>
          <a:xfrm>
            <a:off x="7735824" y="4041648"/>
            <a:ext cx="3273552" cy="1481328"/>
          </a:xfrm>
          <a:prstGeom prst="roundRect">
            <a:avLst>
              <a:gd name="adj" fmla="val 8000"/>
            </a:avLst>
          </a:prstGeom>
          <a:solidFill>
            <a:srgbClr val="F4F6FA"/>
          </a:solidFill>
          <a:ln w="10160">
            <a:solidFill>
              <a:srgbClr val="D3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0416" y="4251960"/>
            <a:ext cx="438912" cy="237744"/>
          </a:xfrm>
          <a:prstGeom prst="rect">
            <a:avLst/>
          </a:prstGeom>
          <a:noFill/>
        </p:spPr>
        <p:txBody>
          <a:bodyPr wrap="square" lIns="0" rIns="0" tIns="0" bIns="0" anchor="t">
            <a:spAutoFit/>
          </a:bodyPr>
          <a:lstStyle/>
          <a:p>
            <a:pPr algn="l">
              <a:lnSpc>
                <a:spcPct val="108000"/>
              </a:lnSpc>
              <a:spcBef>
                <a:spcPts val="0"/>
              </a:spcBef>
              <a:spcAft>
                <a:spcPts val="0"/>
              </a:spcAft>
            </a:pPr>
            <a:r>
              <a:rPr sz="1050" b="1" i="0">
                <a:solidFill>
                  <a:srgbClr val="1F57C4"/>
                </a:solidFill>
                <a:latin typeface="Aptos"/>
                <a:ea typeface="Aptos"/>
              </a:rPr>
              <a:t>03</a:t>
            </a:r>
          </a:p>
        </p:txBody>
      </p:sp>
      <p:sp>
        <p:nvSpPr>
          <p:cNvPr id="26" name="TextBox 25"/>
          <p:cNvSpPr txBox="1"/>
          <p:nvPr/>
        </p:nvSpPr>
        <p:spPr>
          <a:xfrm>
            <a:off x="8330184" y="4215384"/>
            <a:ext cx="2423160" cy="292608"/>
          </a:xfrm>
          <a:prstGeom prst="rect">
            <a:avLst/>
          </a:prstGeom>
          <a:noFill/>
        </p:spPr>
        <p:txBody>
          <a:bodyPr wrap="square" lIns="0" rIns="0" tIns="0" bIns="0" anchor="t">
            <a:spAutoFit/>
          </a:bodyPr>
          <a:lstStyle/>
          <a:p>
            <a:pPr algn="l">
              <a:lnSpc>
                <a:spcPct val="108000"/>
              </a:lnSpc>
              <a:spcBef>
                <a:spcPts val="0"/>
              </a:spcBef>
              <a:spcAft>
                <a:spcPts val="0"/>
              </a:spcAft>
            </a:pPr>
            <a:r>
              <a:rPr sz="1320" b="1" i="0">
                <a:solidFill>
                  <a:srgbClr val="1A1A1A"/>
                </a:solidFill>
                <a:latin typeface="Aptos"/>
                <a:ea typeface="Aptos"/>
              </a:rPr>
              <a:t>Stronger failure recovery</a:t>
            </a:r>
          </a:p>
        </p:txBody>
      </p:sp>
      <p:sp>
        <p:nvSpPr>
          <p:cNvPr id="27" name="TextBox 26"/>
          <p:cNvSpPr txBox="1"/>
          <p:nvPr/>
        </p:nvSpPr>
        <p:spPr>
          <a:xfrm>
            <a:off x="7900416" y="4700016"/>
            <a:ext cx="2852928" cy="493776"/>
          </a:xfrm>
          <a:prstGeom prst="rect">
            <a:avLst/>
          </a:prstGeom>
          <a:noFill/>
        </p:spPr>
        <p:txBody>
          <a:bodyPr wrap="square" lIns="0" rIns="0" tIns="0" bIns="0" anchor="t">
            <a:spAutoFit/>
          </a:bodyPr>
          <a:lstStyle/>
          <a:p>
            <a:pPr algn="l">
              <a:lnSpc>
                <a:spcPct val="110000"/>
              </a:lnSpc>
              <a:spcBef>
                <a:spcPts val="0"/>
              </a:spcBef>
              <a:spcAft>
                <a:spcPts val="0"/>
              </a:spcAft>
            </a:pPr>
            <a:r>
              <a:rPr sz="1050" b="0" i="0">
                <a:solidFill>
                  <a:srgbClr val="555B66"/>
                </a:solidFill>
                <a:latin typeface="Aptos"/>
                <a:ea typeface="Aptos"/>
              </a:rPr>
              <a:t>Actively reinitialize after repeated failures and expand glare/occlusion annotations.</a:t>
            </a:r>
          </a:p>
        </p:txBody>
      </p:sp>
      <p:sp>
        <p:nvSpPr>
          <p:cNvPr id="28" name="TextBox 27"/>
          <p:cNvSpPr txBox="1"/>
          <p:nvPr/>
        </p:nvSpPr>
        <p:spPr>
          <a:xfrm>
            <a:off x="630936" y="5806440"/>
            <a:ext cx="10899648" cy="384048"/>
          </a:xfrm>
          <a:prstGeom prst="rect">
            <a:avLst/>
          </a:prstGeom>
          <a:noFill/>
        </p:spPr>
        <p:txBody>
          <a:bodyPr wrap="square" lIns="0" rIns="0" tIns="0" bIns="0" anchor="t">
            <a:spAutoFit/>
          </a:bodyPr>
          <a:lstStyle/>
          <a:p>
            <a:pPr algn="ctr">
              <a:lnSpc>
                <a:spcPct val="108000"/>
              </a:lnSpc>
              <a:spcBef>
                <a:spcPts val="0"/>
              </a:spcBef>
              <a:spcAft>
                <a:spcPts val="0"/>
              </a:spcAft>
            </a:pPr>
            <a:r>
              <a:rPr sz="1639" b="1" i="0">
                <a:solidFill>
                  <a:srgbClr val="1F57C4"/>
                </a:solidFill>
                <a:latin typeface="Aptos"/>
                <a:ea typeface="Aptos"/>
              </a:rPr>
              <a:t>3.87 px RMSE   ·   0.996 IoU   ·   2.45 px/frame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