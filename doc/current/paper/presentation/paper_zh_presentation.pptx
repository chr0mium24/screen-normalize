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640080"/>
            <a:ext cx="73152" cy="4023360"/>
          </a:xfrm>
          <a:prstGeom prst="rect">
            <a:avLst/>
          </a:prstGeom>
          <a:solidFill>
            <a:srgbClr val="12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685800"/>
            <a:ext cx="7955279" cy="12344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3000" b="1">
                <a:solidFill>
                  <a:srgbClr val="1F262A"/>
                </a:solidFill>
                <a:latin typeface="Microsoft YaHei"/>
              </a:rPr>
              <a:t>边框主导的
拍屏视频屏幕平面归一化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2121408"/>
            <a:ext cx="786384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0686C"/>
                </a:solidFill>
                <a:latin typeface="Microsoft YaHei"/>
              </a:rPr>
              <a:t>ECE4512 课程项目 · 温荣硕 / 温必华 / 刘明睿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907792"/>
            <a:ext cx="1005840" cy="25603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0504D"/>
                </a:solidFill>
                <a:latin typeface="Microsoft YaHei"/>
              </a:rPr>
              <a:t>方法主张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3273552"/>
            <a:ext cx="6400800" cy="64008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800" b="0">
                <a:solidFill>
                  <a:srgbClr val="1F262A"/>
                </a:solidFill>
                <a:latin typeface="Microsoft YaHei"/>
              </a:rPr>
              <a:t>用物理屏幕边框主导单应矩阵估计，
把 LK/RANSAC 从“跟踪器”改为内容运动冲突诊断。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950976"/>
            <a:ext cx="201168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200" b="1">
                <a:solidFill>
                  <a:srgbClr val="12766C"/>
                </a:solidFill>
                <a:latin typeface="Microsoft YaHei"/>
              </a:rPr>
              <a:t>3.87 px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335024"/>
            <a:ext cx="201168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0686C"/>
                </a:solidFill>
                <a:latin typeface="Microsoft YaHei"/>
              </a:rPr>
              <a:t>角点 RMSE 中位数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157984"/>
            <a:ext cx="201168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200" b="1">
                <a:solidFill>
                  <a:srgbClr val="12766C"/>
                </a:solidFill>
                <a:latin typeface="Microsoft YaHei"/>
              </a:rPr>
              <a:t>0.996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542032"/>
            <a:ext cx="201168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0686C"/>
                </a:solidFill>
                <a:latin typeface="Microsoft YaHei"/>
              </a:rPr>
              <a:t>四边形 IoU 中位数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3364992"/>
            <a:ext cx="201168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200" b="1">
                <a:solidFill>
                  <a:srgbClr val="12766C"/>
                </a:solidFill>
                <a:latin typeface="Microsoft YaHei"/>
              </a:rPr>
              <a:t>2.45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3749040"/>
            <a:ext cx="201168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0686C"/>
                </a:solidFill>
                <a:latin typeface="Microsoft YaHei"/>
              </a:rPr>
              <a:t>px/frame 平移变化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6309360"/>
            <a:ext cx="5486400" cy="16459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700" b="0">
                <a:solidFill>
                  <a:srgbClr val="60686C"/>
                </a:solidFill>
                <a:latin typeface="Microsoft YaHei"/>
              </a:rPr>
              <a:t>Source: doc/current/paper/manuscript/paper_zh.pdf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10896"/>
            <a:ext cx="978408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F262A"/>
                </a:solidFill>
                <a:latin typeface="Microsoft YaHei"/>
              </a:rPr>
              <a:t>拍屏视频的几何前端会被内容运动误导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32688"/>
            <a:ext cx="914400" cy="41148"/>
          </a:xfrm>
          <a:prstGeom prst="rect">
            <a:avLst/>
          </a:prstGeom>
          <a:solidFill>
            <a:srgbClr val="12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146304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问题背景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792224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" y="1783080"/>
            <a:ext cx="441655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A"/>
                </a:solidFill>
                <a:latin typeface="Microsoft YaHei"/>
              </a:rPr>
              <a:t>无法直接录屏时，拍屏视频保留了屏幕内容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31136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2221992"/>
            <a:ext cx="441655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A"/>
                </a:solidFill>
                <a:latin typeface="Microsoft YaHei"/>
              </a:rPr>
              <a:t>相机视角引入透视畸变、抖动、背景和眩光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670048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2660904"/>
            <a:ext cx="441655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A"/>
                </a:solidFill>
                <a:latin typeface="Microsoft YaHei"/>
              </a:rPr>
              <a:t>屏幕内部页面滚动或视频播放会产生独立运动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417320"/>
            <a:ext cx="146304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核心矛盾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792224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1783080"/>
            <a:ext cx="455371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A"/>
                </a:solidFill>
                <a:latin typeface="Microsoft YaHei"/>
              </a:rPr>
              <a:t>显示内容和物理屏幕不服从同一运动模型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231136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1968" y="2221992"/>
            <a:ext cx="455371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A"/>
                </a:solidFill>
                <a:latin typeface="Microsoft YaHei"/>
              </a:rPr>
              <a:t>内容特征越强，越可能把跟踪器拉离屏幕边界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670048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2660904"/>
            <a:ext cx="455371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A"/>
                </a:solidFill>
                <a:latin typeface="Microsoft YaHei"/>
              </a:rPr>
              <a:t>逐帧检测能减少漂移，但容易抖动或弱边框失效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0120" y="5285232"/>
            <a:ext cx="10241280" cy="384048"/>
          </a:xfrm>
          <a:prstGeom prst="rect">
            <a:avLst/>
          </a:prstGeom>
          <a:solidFill>
            <a:srgbClr val="EFF3F1"/>
          </a:solidFill>
          <a:ln w="508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5358384"/>
            <a:ext cx="10021824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0504D"/>
                </a:solidFill>
                <a:latin typeface="Microsoft YaHei"/>
              </a:rPr>
              <a:t>因此，屏幕平面估计应优先回答“物理显示器在哪里”，避免被屏幕内容运动主导。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10896"/>
            <a:ext cx="978408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F262A"/>
                </a:solidFill>
                <a:latin typeface="Microsoft YaHei"/>
              </a:rPr>
              <a:t>三类估计策略的证据来源不同，失败模式也不同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32688"/>
            <a:ext cx="914400" cy="41148"/>
          </a:xfrm>
          <a:prstGeom prst="rect">
            <a:avLst/>
          </a:prstGeom>
          <a:solidFill>
            <a:srgbClr val="12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13232" y="1481328"/>
          <a:ext cx="107442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6050"/>
                <a:gridCol w="2686050"/>
                <a:gridCol w="2686050"/>
                <a:gridCol w="2686050"/>
              </a:tblGrid>
              <a:tr h="514350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1">
                          <a:solidFill>
                            <a:srgbClr val="10504D"/>
                          </a:solidFill>
                          <a:latin typeface="Microsoft YaHei"/>
                        </a:rPr>
                        <a:t>策略</a:t>
                      </a:r>
                    </a:p>
                  </a:txBody>
                  <a:tcPr>
                    <a:solidFill>
                      <a:srgbClr val="E0EAE7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1">
                          <a:solidFill>
                            <a:srgbClr val="10504D"/>
                          </a:solidFill>
                          <a:latin typeface="Microsoft YaHei"/>
                        </a:rPr>
                        <a:t>主要证据</a:t>
                      </a:r>
                    </a:p>
                  </a:txBody>
                  <a:tcPr>
                    <a:solidFill>
                      <a:srgbClr val="E0EAE7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1">
                          <a:solidFill>
                            <a:srgbClr val="10504D"/>
                          </a:solidFill>
                          <a:latin typeface="Microsoft YaHei"/>
                        </a:rPr>
                        <a:t>典型风险</a:t>
                      </a:r>
                    </a:p>
                  </a:txBody>
                  <a:tcPr>
                    <a:solidFill>
                      <a:srgbClr val="E0EAE7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1">
                          <a:solidFill>
                            <a:srgbClr val="10504D"/>
                          </a:solidFill>
                          <a:latin typeface="Microsoft YaHei"/>
                        </a:rPr>
                        <a:t>本文定位</a:t>
                      </a:r>
                    </a:p>
                  </a:txBody>
                  <a:tcPr>
                    <a:solidFill>
                      <a:srgbClr val="E0EAE7"/>
                    </a:solidFill>
                  </a:tcPr>
                </a:tc>
              </a:tr>
              <a:tr h="514350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0">
                          <a:solidFill>
                            <a:srgbClr val="1F262A"/>
                          </a:solidFill>
                          <a:latin typeface="Microsoft YaHei"/>
                        </a:rPr>
                        <a:t>逐帧检测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0">
                          <a:solidFill>
                            <a:srgbClr val="1F262A"/>
                          </a:solidFill>
                          <a:latin typeface="Microsoft YaHei"/>
                        </a:rPr>
                        <a:t>当前帧边界/纹理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0">
                          <a:solidFill>
                            <a:srgbClr val="1F262A"/>
                          </a:solidFill>
                          <a:latin typeface="Microsoft YaHei"/>
                        </a:rPr>
                        <a:t>弱边框或背景干扰下抖动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0">
                          <a:solidFill>
                            <a:srgbClr val="1F262A"/>
                          </a:solidFill>
                          <a:latin typeface="Microsoft YaHei"/>
                        </a:rPr>
                        <a:t>作为基线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</a:tr>
              <a:tr h="514350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0">
                          <a:solidFill>
                            <a:srgbClr val="1F262A"/>
                          </a:solidFill>
                          <a:latin typeface="Microsoft YaHei"/>
                        </a:rPr>
                        <a:t>相邻帧光流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0">
                          <a:solidFill>
                            <a:srgbClr val="1F262A"/>
                          </a:solidFill>
                          <a:latin typeface="Microsoft YaHei"/>
                        </a:rPr>
                        <a:t>内部可跟踪特征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0">
                          <a:solidFill>
                            <a:srgbClr val="1F262A"/>
                          </a:solidFill>
                          <a:latin typeface="Microsoft YaHei"/>
                        </a:rPr>
                        <a:t>页面滚动时跟随内容漂移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0">
                          <a:solidFill>
                            <a:srgbClr val="1F262A"/>
                          </a:solidFill>
                          <a:latin typeface="Microsoft YaHei"/>
                        </a:rPr>
                        <a:t>作为基线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</a:tr>
              <a:tr h="514350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0">
                          <a:solidFill>
                            <a:srgbClr val="1F262A"/>
                          </a:solidFill>
                          <a:latin typeface="Microsoft YaHei"/>
                        </a:rPr>
                        <a:t>边框主导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0">
                          <a:solidFill>
                            <a:srgbClr val="1F262A"/>
                          </a:solidFill>
                          <a:latin typeface="Microsoft YaHei"/>
                        </a:rPr>
                        <a:t>物理屏幕四边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0">
                          <a:solidFill>
                            <a:srgbClr val="1F262A"/>
                          </a:solidFill>
                          <a:latin typeface="Microsoft YaHei"/>
                        </a:rPr>
                        <a:t>依赖可见边界证据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100" b="0">
                          <a:solidFill>
                            <a:srgbClr val="1F262A"/>
                          </a:solidFill>
                          <a:latin typeface="Microsoft YaHei"/>
                        </a:rPr>
                        <a:t>Proposed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914400" y="4251960"/>
            <a:ext cx="10241280" cy="502920"/>
          </a:xfrm>
          <a:prstGeom prst="rect">
            <a:avLst/>
          </a:prstGeom>
          <a:solidFill>
            <a:srgbClr val="EFF3F1"/>
          </a:solidFill>
          <a:ln w="508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4325112"/>
            <a:ext cx="10021824" cy="39319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0504D"/>
                </a:solidFill>
                <a:latin typeface="Microsoft YaHei"/>
              </a:rPr>
              <a:t>对比的关键在于单应矩阵是否仍然贴合物理显示屏，而不能只看轨迹是否平滑。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01183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2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892040"/>
            <a:ext cx="953719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A"/>
                </a:solidFill>
                <a:latin typeface="Microsoft YaHei"/>
              </a:rPr>
              <a:t>逐帧检测偏向局部图像证据，可能稳定性不足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340096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2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" y="5330952"/>
            <a:ext cx="953719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A"/>
                </a:solidFill>
                <a:latin typeface="Microsoft YaHei"/>
              </a:rPr>
              <a:t>光流偏向强纹理，容易被屏幕内部内容吸引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779008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2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1288" y="5769864"/>
            <a:ext cx="953719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A"/>
                </a:solidFill>
                <a:latin typeface="Microsoft YaHei"/>
              </a:rPr>
              <a:t>Proposed 把 LK/RANSAC 降级为冲突诊断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10896"/>
            <a:ext cx="978408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F262A"/>
                </a:solidFill>
                <a:latin typeface="Microsoft YaHei"/>
              </a:rPr>
              <a:t>本文把边框证据作为屏幕平面的主线索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32688"/>
            <a:ext cx="914400" cy="41148"/>
          </a:xfrm>
          <a:prstGeom prst="rect">
            <a:avLst/>
          </a:prstGeom>
          <a:solidFill>
            <a:srgbClr val="12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21792" y="1417320"/>
            <a:ext cx="2062886" cy="17830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63624"/>
            <a:ext cx="1843430" cy="25603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10504D"/>
                </a:solidFill>
                <a:latin typeface="Microsoft YaHei"/>
              </a:rPr>
              <a:t>初始化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84248"/>
            <a:ext cx="1806854" cy="112471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60686C"/>
                </a:solidFill>
                <a:latin typeface="Microsoft YaHei"/>
              </a:rPr>
              <a:t>首帧四角标注
或自动检测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12110" y="2162556"/>
            <a:ext cx="118872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B27924"/>
                </a:solidFill>
                <a:latin typeface="Microsoft YaHei"/>
              </a:rPr>
              <a:t>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49270" y="1417320"/>
            <a:ext cx="2062886" cy="17830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58998" y="1563624"/>
            <a:ext cx="1843430" cy="25603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10504D"/>
                </a:solidFill>
                <a:latin typeface="Microsoft YaHei"/>
              </a:rPr>
              <a:t>边框搜索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7286" y="1984248"/>
            <a:ext cx="1806854" cy="112471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60686C"/>
                </a:solidFill>
                <a:latin typeface="Microsoft YaHei"/>
              </a:rPr>
              <a:t>沿预测边附近
采样梯度剖面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9588" y="2162556"/>
            <a:ext cx="118872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B27924"/>
                </a:solidFill>
                <a:latin typeface="Microsoft YaHei"/>
              </a:rPr>
              <a:t>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6748" y="1417320"/>
            <a:ext cx="2062886" cy="17830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86476" y="1563624"/>
            <a:ext cx="1843430" cy="25603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10504D"/>
                </a:solidFill>
                <a:latin typeface="Microsoft YaHei"/>
              </a:rPr>
              <a:t>直线拟合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04764" y="1984248"/>
            <a:ext cx="1806854" cy="112471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60686C"/>
                </a:solidFill>
                <a:latin typeface="Microsoft YaHei"/>
              </a:rPr>
              <a:t>四条边鲁棒拟合
交点形成四边形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7067" y="2162556"/>
            <a:ext cx="118872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B27924"/>
                </a:solidFill>
                <a:latin typeface="Microsoft YaHei"/>
              </a:rPr>
              <a:t>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4227" y="1417320"/>
            <a:ext cx="2062886" cy="17830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13955" y="1563624"/>
            <a:ext cx="1843430" cy="25603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10504D"/>
                </a:solidFill>
                <a:latin typeface="Microsoft YaHei"/>
              </a:rPr>
              <a:t>门控回退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32243" y="1984248"/>
            <a:ext cx="1806854" cy="112471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60686C"/>
                </a:solidFill>
                <a:latin typeface="Microsoft YaHei"/>
              </a:rPr>
              <a:t>凸性、变化幅度
和重检测检查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4545" y="2162556"/>
            <a:ext cx="118872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1300" b="1">
                <a:solidFill>
                  <a:srgbClr val="B27924"/>
                </a:solidFill>
                <a:latin typeface="Microsoft YaHei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31705" y="1417320"/>
            <a:ext cx="2062886" cy="17830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1433" y="1563624"/>
            <a:ext cx="1843430" cy="25603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10504D"/>
                </a:solidFill>
                <a:latin typeface="Microsoft YaHei"/>
              </a:rPr>
              <a:t>正面渲染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9721" y="1984248"/>
            <a:ext cx="1806854" cy="112471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60686C"/>
                </a:solidFill>
                <a:latin typeface="Microsoft YaHei"/>
              </a:rPr>
              <a:t>单应矩阵 warp 到
固定屏幕画布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858768"/>
            <a:ext cx="283464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LK/RANSAC 的角色变化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261104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251960"/>
            <a:ext cx="4142231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不再决定单应矩阵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700016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4690872"/>
            <a:ext cx="4142231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只诊断内部内容运动冲突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138928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" y="5129784"/>
            <a:ext cx="4142231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边界有效时继续采用边框四边形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59552" y="4224528"/>
            <a:ext cx="5394960" cy="658368"/>
          </a:xfrm>
          <a:prstGeom prst="rect">
            <a:avLst/>
          </a:prstGeom>
          <a:solidFill>
            <a:srgbClr val="EFF3F1"/>
          </a:solidFill>
          <a:ln w="508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0" y="4297680"/>
            <a:ext cx="5175504" cy="5486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0504D"/>
                </a:solidFill>
                <a:latin typeface="Microsoft YaHei"/>
              </a:rPr>
              <a:t>方法核心在于改变证据优先级：屏幕边界决定几何，内部纹理只参与一致性判断。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10896"/>
            <a:ext cx="978408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F262A"/>
                </a:solidFill>
                <a:latin typeface="Microsoft YaHei"/>
              </a:rPr>
              <a:t>流程图显示边框、诊断和回退的分工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32688"/>
            <a:ext cx="914400" cy="41148"/>
          </a:xfrm>
          <a:prstGeom prst="rect">
            <a:avLst/>
          </a:prstGeom>
          <a:solidFill>
            <a:srgbClr val="12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936" y="1886820"/>
            <a:ext cx="10936224" cy="2279687"/>
          </a:xfrm>
          <a:prstGeom prst="rect">
            <a:avLst/>
          </a:prstGeom>
          <a:solidFill>
            <a:srgbClr val="FFFFFF"/>
          </a:solidFill>
          <a:ln w="762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14252"/>
            <a:ext cx="10881360" cy="22248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49808" y="5102352"/>
            <a:ext cx="10607040" cy="384048"/>
          </a:xfrm>
          <a:prstGeom prst="rect">
            <a:avLst/>
          </a:prstGeom>
          <a:solidFill>
            <a:srgbClr val="EFF3F1"/>
          </a:solidFill>
          <a:ln w="508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175504"/>
            <a:ext cx="10387584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0504D"/>
                </a:solidFill>
                <a:latin typeface="Microsoft YaHei"/>
              </a:rPr>
              <a:t>图 1：边框证据主导单应矩阵估计；LK/RANSAC 只作为内部内容运动冲突的一致性诊断。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6327648"/>
            <a:ext cx="2926080" cy="16459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700" b="0">
                <a:solidFill>
                  <a:srgbClr val="60686C"/>
                </a:solidFill>
                <a:latin typeface="Microsoft YaHei"/>
              </a:rPr>
              <a:t>Source: Fig. 1, manuscript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10896"/>
            <a:ext cx="978408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F262A"/>
                </a:solidFill>
                <a:latin typeface="Microsoft YaHei"/>
              </a:rPr>
              <a:t>评测覆盖五类拍摄条件，并同时看几何和轨迹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32688"/>
            <a:ext cx="914400" cy="41148"/>
          </a:xfrm>
          <a:prstGeom prst="rect">
            <a:avLst/>
          </a:prstGeom>
          <a:solidFill>
            <a:srgbClr val="12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44752"/>
          <a:ext cx="489204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0680"/>
                <a:gridCol w="1630680"/>
                <a:gridCol w="1630680"/>
              </a:tblGrid>
              <a:tr h="424542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1">
                          <a:solidFill>
                            <a:srgbClr val="10504D"/>
                          </a:solidFill>
                          <a:latin typeface="Microsoft YaHei"/>
                        </a:rPr>
                        <a:t>拍摄条件</a:t>
                      </a:r>
                    </a:p>
                  </a:txBody>
                  <a:tcPr>
                    <a:solidFill>
                      <a:srgbClr val="E0EAE7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1">
                          <a:solidFill>
                            <a:srgbClr val="10504D"/>
                          </a:solidFill>
                          <a:latin typeface="Microsoft YaHei"/>
                        </a:rPr>
                        <a:t>数据集片段数</a:t>
                      </a:r>
                    </a:p>
                  </a:txBody>
                  <a:tcPr>
                    <a:solidFill>
                      <a:srgbClr val="E0EAE7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1">
                          <a:solidFill>
                            <a:srgbClr val="10504D"/>
                          </a:solidFill>
                          <a:latin typeface="Microsoft YaHei"/>
                        </a:rPr>
                        <a:t>评估片段数</a:t>
                      </a:r>
                    </a:p>
                  </a:txBody>
                  <a:tcPr>
                    <a:solidFill>
                      <a:srgbClr val="E0EAE7"/>
                    </a:solidFill>
                  </a:tcPr>
                </a:tc>
              </a:tr>
              <a:tr h="424542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静态页面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</a:tr>
              <a:tr h="424542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滚动页面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</a:tr>
              <a:tr h="424542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屏幕内播放视频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</a:tr>
              <a:tr h="424542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弱边框场景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</a:tr>
              <a:tr h="424542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挑战场景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</a:tr>
              <a:tr h="424548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合计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50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1000" b="0">
                          <a:solidFill>
                            <a:srgbClr val="1F262A"/>
                          </a:solidFill>
                          <a:latin typeface="Microsoft YaHei"/>
                        </a:rPr>
                        <a:t>10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1481328"/>
            <a:ext cx="109728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主指标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83663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7688" y="1874519"/>
            <a:ext cx="455371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角点 RMSE：四角几何误差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322575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7688" y="2313432"/>
            <a:ext cx="455371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四边形 IoU：屏幕区域重合度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761487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7688" y="2752344"/>
            <a:ext cx="455371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平移变化：相邻帧投影轨迹稳定性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200399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7688" y="3191256"/>
            <a:ext cx="455371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reference-based 诊断只检查信号保留，不参与主排名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230368"/>
            <a:ext cx="10241280" cy="384048"/>
          </a:xfrm>
          <a:prstGeom prst="rect">
            <a:avLst/>
          </a:prstGeom>
          <a:solidFill>
            <a:srgbClr val="EFF3F1"/>
          </a:solidFill>
          <a:ln w="508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5303520"/>
            <a:ext cx="10021824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0504D"/>
                </a:solidFill>
                <a:latin typeface="Microsoft YaHei"/>
              </a:rPr>
              <a:t>所有方法使用相同视频、初始化、输出画布、标注、编码器和指标代码。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10896"/>
            <a:ext cx="978408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F262A"/>
                </a:solidFill>
                <a:latin typeface="Microsoft YaHei"/>
              </a:rPr>
              <a:t>总体上，Proposed 同时提升几何精度和轨迹稳定性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32688"/>
            <a:ext cx="914400" cy="41148"/>
          </a:xfrm>
          <a:prstGeom prst="rect">
            <a:avLst/>
          </a:prstGeom>
          <a:solidFill>
            <a:srgbClr val="12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936" y="1763795"/>
            <a:ext cx="7370064" cy="2918928"/>
          </a:xfrm>
          <a:prstGeom prst="rect">
            <a:avLst/>
          </a:prstGeom>
          <a:solidFill>
            <a:srgbClr val="FFFFFF"/>
          </a:solidFill>
          <a:ln w="762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_overall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91227"/>
            <a:ext cx="7315200" cy="28640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94192" y="1417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200" b="1">
                <a:solidFill>
                  <a:srgbClr val="12766C"/>
                </a:solidFill>
                <a:latin typeface="Microsoft YaHei"/>
              </a:rPr>
              <a:t>3.87 px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94192" y="1801368"/>
            <a:ext cx="274320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0686C"/>
                </a:solidFill>
                <a:latin typeface="Microsoft YaHei"/>
              </a:rPr>
              <a:t>Proposed RMSE；对比方法约 30 px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94192" y="2606040"/>
            <a:ext cx="274320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200" b="1">
                <a:solidFill>
                  <a:srgbClr val="12766C"/>
                </a:solidFill>
                <a:latin typeface="Microsoft YaHei"/>
              </a:rPr>
              <a:t>0.996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94192" y="2990088"/>
            <a:ext cx="274320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0686C"/>
                </a:solidFill>
                <a:latin typeface="Microsoft YaHei"/>
              </a:rPr>
              <a:t>最高四边形 IoU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3794760"/>
            <a:ext cx="274320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200" b="1">
                <a:solidFill>
                  <a:srgbClr val="12766C"/>
                </a:solidFill>
                <a:latin typeface="Microsoft YaHei"/>
              </a:rPr>
              <a:t>2.45 px/frame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4178808"/>
            <a:ext cx="274320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0686C"/>
                </a:solidFill>
                <a:latin typeface="Microsoft YaHei"/>
              </a:rPr>
              <a:t>最低平移变化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5504688"/>
            <a:ext cx="10424160" cy="384048"/>
          </a:xfrm>
          <a:prstGeom prst="rect">
            <a:avLst/>
          </a:prstGeom>
          <a:solidFill>
            <a:srgbClr val="EFF3F1"/>
          </a:solidFill>
          <a:ln w="508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5577840"/>
            <a:ext cx="10204704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0504D"/>
                </a:solidFill>
                <a:latin typeface="Microsoft YaHei"/>
              </a:rPr>
              <a:t>边框主导估计更贴近标注物理屏幕，同时减少相邻帧轨迹变化。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6327648"/>
            <a:ext cx="3840480" cy="16459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700" b="0">
                <a:solidFill>
                  <a:srgbClr val="60686C"/>
                </a:solidFill>
                <a:latin typeface="Microsoft YaHei"/>
              </a:rPr>
              <a:t>Source: Fig. 2 and Table 2, manuscript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10896"/>
            <a:ext cx="978408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F262A"/>
                </a:solidFill>
                <a:latin typeface="Microsoft YaHei"/>
              </a:rPr>
              <a:t>滚动页面与弱边框场景贡献最大收益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32688"/>
            <a:ext cx="914400" cy="41148"/>
          </a:xfrm>
          <a:prstGeom prst="rect">
            <a:avLst/>
          </a:prstGeom>
          <a:solidFill>
            <a:srgbClr val="12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507673"/>
            <a:ext cx="7644384" cy="3650628"/>
          </a:xfrm>
          <a:prstGeom prst="rect">
            <a:avLst/>
          </a:prstGeom>
          <a:solidFill>
            <a:srgbClr val="FFFFFF"/>
          </a:solidFill>
          <a:ln w="762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_category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535105"/>
            <a:ext cx="7589520" cy="35957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1581912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96528" y="1572768"/>
            <a:ext cx="263347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滚动页面：RMSE 2.87 px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2020824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96528" y="2011680"/>
            <a:ext cx="263347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弱边框：RMSE 9.35 px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2459736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96528" y="2450592"/>
            <a:ext cx="263347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挑战场景中逐帧检测略低，但 Proposed 轨迹更稳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94192" y="3977639"/>
            <a:ext cx="2880360" cy="877824"/>
          </a:xfrm>
          <a:prstGeom prst="rect">
            <a:avLst/>
          </a:prstGeom>
          <a:solidFill>
            <a:srgbClr val="EFF3F1"/>
          </a:solidFill>
          <a:ln w="508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19" y="4050791"/>
            <a:ext cx="2660904" cy="7680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0504D"/>
                </a:solidFill>
                <a:latin typeface="Microsoft YaHei"/>
              </a:rPr>
              <a:t>强内容运动和弱边界是内容驱动跟踪最容易失败的条件，也是边框主导设计最能体现价值的地方。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6327648"/>
            <a:ext cx="3840480" cy="16459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700" b="0">
                <a:solidFill>
                  <a:srgbClr val="60686C"/>
                </a:solidFill>
                <a:latin typeface="Microsoft YaHei"/>
              </a:rPr>
              <a:t>Source: Fig. 3 and Table 3, manuscript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10896"/>
            <a:ext cx="978408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F262A"/>
                </a:solidFill>
                <a:latin typeface="Microsoft YaHei"/>
              </a:rPr>
              <a:t>片段级结果排除了靠冻结四边形获得稳定的解释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32688"/>
            <a:ext cx="914400" cy="41148"/>
          </a:xfrm>
          <a:prstGeom prst="rect">
            <a:avLst/>
          </a:prstGeom>
          <a:solidFill>
            <a:srgbClr val="12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3985" y="1088136"/>
            <a:ext cx="7621165" cy="4672583"/>
          </a:xfrm>
          <a:prstGeom prst="rect">
            <a:avLst/>
          </a:prstGeom>
          <a:solidFill>
            <a:srgbClr val="FFFFFF"/>
          </a:solidFill>
          <a:ln w="762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_clip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417" y="1115568"/>
            <a:ext cx="7566301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32520" y="1636776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627632"/>
            <a:ext cx="240487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7 个片段 RMSE 中位数低于 5 px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075688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2066544"/>
            <a:ext cx="240487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全部评估片段低于 15 px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514600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2505456"/>
            <a:ext cx="240487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运行中没有长期冻结帧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40496" y="4151376"/>
            <a:ext cx="2834640" cy="777240"/>
          </a:xfrm>
          <a:prstGeom prst="rect">
            <a:avLst/>
          </a:prstGeom>
          <a:solidFill>
            <a:srgbClr val="EFF3F1"/>
          </a:solidFill>
          <a:ln w="508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50224" y="4224528"/>
            <a:ext cx="2615184" cy="66751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0504D"/>
                </a:solidFill>
                <a:latin typeface="Microsoft YaHei"/>
              </a:rPr>
              <a:t>边框可见时轨迹随物理屏幕更新；冲突标记主要反映内部内容运动与边界估计不一致。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6327648"/>
            <a:ext cx="2926080" cy="16459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700" b="0">
                <a:solidFill>
                  <a:srgbClr val="60686C"/>
                </a:solidFill>
                <a:latin typeface="Microsoft YaHei"/>
              </a:rPr>
              <a:t>Source: Fig. 4, manuscript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10896"/>
            <a:ext cx="978408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F262A"/>
                </a:solidFill>
                <a:latin typeface="Microsoft YaHei"/>
              </a:rPr>
              <a:t>消融表明物理边框线索是决定性模块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32688"/>
            <a:ext cx="914400" cy="41148"/>
          </a:xfrm>
          <a:prstGeom prst="rect">
            <a:avLst/>
          </a:prstGeom>
          <a:solidFill>
            <a:srgbClr val="12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170432"/>
          <a:ext cx="7955279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1055"/>
                <a:gridCol w="1591055"/>
                <a:gridCol w="1591055"/>
                <a:gridCol w="1591055"/>
                <a:gridCol w="1591059"/>
              </a:tblGrid>
              <a:tr h="627017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700" b="1">
                          <a:solidFill>
                            <a:srgbClr val="10504D"/>
                          </a:solidFill>
                          <a:latin typeface="Microsoft YaHei"/>
                        </a:rPr>
                        <a:t>变体</a:t>
                      </a:r>
                    </a:p>
                  </a:txBody>
                  <a:tcPr>
                    <a:solidFill>
                      <a:srgbClr val="E0EAE7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700" b="1">
                          <a:solidFill>
                            <a:srgbClr val="10504D"/>
                          </a:solidFill>
                          <a:latin typeface="Microsoft YaHei"/>
                        </a:rPr>
                        <a:t>检查内容</a:t>
                      </a:r>
                    </a:p>
                  </a:txBody>
                  <a:tcPr>
                    <a:solidFill>
                      <a:srgbClr val="E0EAE7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700" b="1">
                          <a:solidFill>
                            <a:srgbClr val="10504D"/>
                          </a:solidFill>
                          <a:latin typeface="Microsoft YaHei"/>
                        </a:rPr>
                        <a:t>RMSE↓</a:t>
                      </a:r>
                    </a:p>
                  </a:txBody>
                  <a:tcPr>
                    <a:solidFill>
                      <a:srgbClr val="E0EAE7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700" b="1">
                          <a:solidFill>
                            <a:srgbClr val="10504D"/>
                          </a:solidFill>
                          <a:latin typeface="Microsoft YaHei"/>
                        </a:rPr>
                        <a:t>IoU↑</a:t>
                      </a:r>
                    </a:p>
                  </a:txBody>
                  <a:tcPr>
                    <a:solidFill>
                      <a:srgbClr val="E0EAE7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700" b="1">
                          <a:solidFill>
                            <a:srgbClr val="10504D"/>
                          </a:solidFill>
                          <a:latin typeface="Microsoft YaHei"/>
                        </a:rPr>
                        <a:t>平移变化↓</a:t>
                      </a:r>
                    </a:p>
                  </a:txBody>
                  <a:tcPr>
                    <a:solidFill>
                      <a:srgbClr val="E0EAE7"/>
                    </a:solidFill>
                  </a:tcPr>
                </a:tc>
              </a:tr>
              <a:tr h="627017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700" b="0">
                          <a:solidFill>
                            <a:srgbClr val="1F262A"/>
                          </a:solidFill>
                          <a:latin typeface="Microsoft YaHei"/>
                        </a:rPr>
                        <a:t>Proposed，profile 边框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700" b="0">
                          <a:solidFill>
                            <a:srgbClr val="1F262A"/>
                          </a:solidFill>
                          <a:latin typeface="Microsoft YaHei"/>
                        </a:rPr>
                        <a:t>完整链路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700" b="0">
                          <a:solidFill>
                            <a:srgbClr val="1F262A"/>
                          </a:solidFill>
                          <a:latin typeface="Microsoft YaHei"/>
                        </a:rPr>
                        <a:t>3.253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700" b="0">
                          <a:solidFill>
                            <a:srgbClr val="1F262A"/>
                          </a:solidFill>
                          <a:latin typeface="Microsoft YaHei"/>
                        </a:rPr>
                        <a:t>0.996038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700" b="0">
                          <a:solidFill>
                            <a:srgbClr val="1F262A"/>
                          </a:solidFill>
                          <a:latin typeface="Microsoft YaHei"/>
                        </a:rPr>
                        <a:t>0.752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</a:tr>
              <a:tr h="627017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700" b="0">
                          <a:solidFill>
                            <a:srgbClr val="1F262A"/>
                          </a:solidFill>
                          <a:latin typeface="Microsoft YaHei"/>
                        </a:rPr>
                        <a:t>去掉轨迹滤波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700" b="0">
                          <a:solidFill>
                            <a:srgbClr val="1F262A"/>
                          </a:solidFill>
                          <a:latin typeface="Microsoft YaHei"/>
                        </a:rPr>
                        <a:t>关闭平滑窗口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700" b="0">
                          <a:solidFill>
                            <a:srgbClr val="1F262A"/>
                          </a:solidFill>
                          <a:latin typeface="Microsoft YaHei"/>
                        </a:rPr>
                        <a:t>2.932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700" b="0">
                          <a:solidFill>
                            <a:srgbClr val="1F262A"/>
                          </a:solidFill>
                          <a:latin typeface="Microsoft YaHei"/>
                        </a:rPr>
                        <a:t>0.996585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700" b="0">
                          <a:solidFill>
                            <a:srgbClr val="1F262A"/>
                          </a:solidFill>
                          <a:latin typeface="Microsoft YaHei"/>
                        </a:rPr>
                        <a:t>1.430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</a:tr>
              <a:tr h="627017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700" b="0">
                          <a:solidFill>
                            <a:srgbClr val="1F262A"/>
                          </a:solidFill>
                          <a:latin typeface="Microsoft YaHei"/>
                        </a:rPr>
                        <a:t>去掉 LK 诊断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700" b="0">
                          <a:solidFill>
                            <a:srgbClr val="1F262A"/>
                          </a:solidFill>
                          <a:latin typeface="Microsoft YaHei"/>
                        </a:rPr>
                        <a:t>关闭内部运动检查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700" b="0">
                          <a:solidFill>
                            <a:srgbClr val="1F262A"/>
                          </a:solidFill>
                          <a:latin typeface="Microsoft YaHei"/>
                        </a:rPr>
                        <a:t>3.253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700" b="0">
                          <a:solidFill>
                            <a:srgbClr val="1F262A"/>
                          </a:solidFill>
                          <a:latin typeface="Microsoft YaHei"/>
                        </a:rPr>
                        <a:t>0.996038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700" b="0">
                          <a:solidFill>
                            <a:srgbClr val="1F262A"/>
                          </a:solidFill>
                          <a:latin typeface="Microsoft YaHei"/>
                        </a:rPr>
                        <a:t>0.752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</a:tr>
              <a:tr h="627017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700" b="0">
                          <a:solidFill>
                            <a:srgbClr val="1F262A"/>
                          </a:solidFill>
                          <a:latin typeface="Microsoft YaHei"/>
                        </a:rPr>
                        <a:t>去掉物理边框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700" b="0">
                          <a:solidFill>
                            <a:srgbClr val="1F262A"/>
                          </a:solidFill>
                          <a:latin typeface="Microsoft YaHei"/>
                        </a:rPr>
                        <a:t>仅相邻帧光流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700" b="0">
                          <a:solidFill>
                            <a:srgbClr val="1F262A"/>
                          </a:solidFill>
                          <a:latin typeface="Microsoft YaHei"/>
                        </a:rPr>
                        <a:t>76.114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700" b="0">
                          <a:solidFill>
                            <a:srgbClr val="1F262A"/>
                          </a:solidFill>
                          <a:latin typeface="Microsoft YaHei"/>
                        </a:rPr>
                        <a:t>0.916022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700" b="0">
                          <a:solidFill>
                            <a:srgbClr val="1F262A"/>
                          </a:solidFill>
                          <a:latin typeface="Microsoft YaHei"/>
                        </a:rPr>
                        <a:t>2.205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</a:tr>
              <a:tr h="627017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700" b="0">
                          <a:solidFill>
                            <a:srgbClr val="1F262A"/>
                          </a:solidFill>
                          <a:latin typeface="Microsoft YaHei"/>
                        </a:rPr>
                        <a:t>LSD 边框观测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700" b="0">
                          <a:solidFill>
                            <a:srgbClr val="1F262A"/>
                          </a:solidFill>
                          <a:latin typeface="Microsoft YaHei"/>
                        </a:rPr>
                        <a:t>替换 profile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700" b="0">
                          <a:solidFill>
                            <a:srgbClr val="1F262A"/>
                          </a:solidFill>
                          <a:latin typeface="Microsoft YaHei"/>
                        </a:rPr>
                        <a:t>3.604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700" b="0">
                          <a:solidFill>
                            <a:srgbClr val="1F262A"/>
                          </a:solidFill>
                          <a:latin typeface="Microsoft YaHei"/>
                        </a:rPr>
                        <a:t>0.995716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700" b="0">
                          <a:solidFill>
                            <a:srgbClr val="1F262A"/>
                          </a:solidFill>
                          <a:latin typeface="Microsoft YaHei"/>
                        </a:rPr>
                        <a:t>0.961</a:t>
                      </a:r>
                    </a:p>
                  </a:txBody>
                  <a:tcPr>
                    <a:solidFill>
                      <a:srgbClr val="FCFDFC"/>
                    </a:solidFill>
                  </a:tcPr>
                </a:tc>
              </a:tr>
              <a:tr h="627018"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700" b="0">
                          <a:solidFill>
                            <a:srgbClr val="1F262A"/>
                          </a:solidFill>
                          <a:latin typeface="Microsoft YaHei"/>
                        </a:rPr>
                        <a:t>Hough 边框观测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700" b="0">
                          <a:solidFill>
                            <a:srgbClr val="1F262A"/>
                          </a:solidFill>
                          <a:latin typeface="Microsoft YaHei"/>
                        </a:rPr>
                        <a:t>替换 profile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700" b="0">
                          <a:solidFill>
                            <a:srgbClr val="1F262A"/>
                          </a:solidFill>
                          <a:latin typeface="Microsoft YaHei"/>
                        </a:rPr>
                        <a:t>27.335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700" b="0">
                          <a:solidFill>
                            <a:srgbClr val="1F262A"/>
                          </a:solidFill>
                          <a:latin typeface="Microsoft YaHei"/>
                        </a:rPr>
                        <a:t>0.974200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  <a:tc>
                  <a:txBody>
                    <a:bodyPr lIns="27432" rIns="27432" tIns="18288" bIns="18288"/>
                    <a:lstStyle/>
                    <a:p>
                      <a:pPr algn="ctr"/>
                      <a:r>
                        <a:rPr sz="700" b="0">
                          <a:solidFill>
                            <a:srgbClr val="1F262A"/>
                          </a:solidFill>
                          <a:latin typeface="Microsoft YaHei"/>
                        </a:rPr>
                        <a:t>0.897</a:t>
                      </a:r>
                    </a:p>
                  </a:txBody>
                  <a:tcPr>
                    <a:solidFill>
                      <a:srgbClr val="F4F7F6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887968" y="1828800"/>
            <a:ext cx="2606040" cy="1325880"/>
          </a:xfrm>
          <a:prstGeom prst="rect">
            <a:avLst/>
          </a:prstGeom>
          <a:solidFill>
            <a:srgbClr val="EFF3F1"/>
          </a:solidFill>
          <a:ln w="508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97696" y="1901952"/>
            <a:ext cx="2386584" cy="121615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0504D"/>
                </a:solidFill>
                <a:latin typeface="Microsoft YaHei"/>
              </a:rPr>
              <a:t>主表保留有解释力的当前消融：轨迹滤波、LK 诊断、物理边框证据和边框观测器。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6327648"/>
            <a:ext cx="2834640" cy="16459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700" b="0">
                <a:solidFill>
                  <a:srgbClr val="60686C"/>
                </a:solidFill>
                <a:latin typeface="Microsoft YaHei"/>
              </a:rPr>
              <a:t>Source: Table 4, manuscript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10896"/>
            <a:ext cx="978408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F262A"/>
                </a:solidFill>
                <a:latin typeface="Microsoft YaHei"/>
              </a:rPr>
              <a:t>定性样例中，Proposed 更稳定保留屏幕范围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32688"/>
            <a:ext cx="914400" cy="41148"/>
          </a:xfrm>
          <a:prstGeom prst="rect">
            <a:avLst/>
          </a:prstGeom>
          <a:solidFill>
            <a:srgbClr val="12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7619" y="1088136"/>
            <a:ext cx="5007896" cy="5312664"/>
          </a:xfrm>
          <a:prstGeom prst="rect">
            <a:avLst/>
          </a:prstGeom>
          <a:solidFill>
            <a:srgbClr val="FFFFFF"/>
          </a:solidFill>
          <a:ln w="762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5_qualit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051" y="1115568"/>
            <a:ext cx="4953032" cy="5257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65392" y="1545336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79" y="1536192"/>
            <a:ext cx="418795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滚动和弱边框样例更能体现差异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392" y="1984248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79" y="1975104"/>
            <a:ext cx="418795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内容驱动方法可能产生裁切偏移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392" y="2423160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79" y="2414016"/>
            <a:ext cx="418795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A"/>
                </a:solidFill>
                <a:latin typeface="Microsoft YaHei"/>
              </a:rPr>
              <a:t>静态页面和屏幕内视频中三者都可读，但 Proposed 对齐更稳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65392" y="4251960"/>
            <a:ext cx="4315968" cy="694944"/>
          </a:xfrm>
          <a:prstGeom prst="rect">
            <a:avLst/>
          </a:prstGeom>
          <a:solidFill>
            <a:srgbClr val="EFF3F1"/>
          </a:solidFill>
          <a:ln w="508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4325112"/>
            <a:ext cx="4096511" cy="58521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0504D"/>
                </a:solidFill>
                <a:latin typeface="Microsoft YaHei"/>
              </a:rPr>
              <a:t>该图用于观察输出范围和边界对齐趋势，定量结论仍以前几页指标为准。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6327648"/>
            <a:ext cx="2834640" cy="16459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700" b="0">
                <a:solidFill>
                  <a:srgbClr val="60686C"/>
                </a:solidFill>
                <a:latin typeface="Microsoft YaHei"/>
              </a:rPr>
              <a:t>Source: Fig. 5, manuscript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10896"/>
            <a:ext cx="978408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F262A"/>
                </a:solidFill>
                <a:latin typeface="Microsoft YaHei"/>
              </a:rPr>
              <a:t>信号保留诊断支持几何结果，但不替代主指标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32688"/>
            <a:ext cx="914400" cy="41148"/>
          </a:xfrm>
          <a:prstGeom prst="rect">
            <a:avLst/>
          </a:prstGeom>
          <a:solidFill>
            <a:srgbClr val="12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29924" y="1051560"/>
            <a:ext cx="7046407" cy="4855464"/>
          </a:xfrm>
          <a:prstGeom prst="rect">
            <a:avLst/>
          </a:prstGeom>
          <a:solidFill>
            <a:srgbClr val="FFFFFF"/>
          </a:solidFill>
          <a:ln w="762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6_signal_preser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356" y="1078992"/>
            <a:ext cx="699154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13648" y="1600200"/>
            <a:ext cx="219456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200" b="1">
                <a:solidFill>
                  <a:srgbClr val="B27924"/>
                </a:solidFill>
                <a:latin typeface="Microsoft YaHei"/>
              </a:rPr>
              <a:t>0.890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13648" y="1984248"/>
            <a:ext cx="219456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0686C"/>
                </a:solidFill>
                <a:latin typeface="Microsoft YaHei"/>
              </a:rPr>
              <a:t>SSIM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3648" y="2633472"/>
            <a:ext cx="219456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200" b="1">
                <a:solidFill>
                  <a:srgbClr val="B27924"/>
                </a:solidFill>
                <a:latin typeface="Microsoft YaHei"/>
              </a:rPr>
              <a:t>0.930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3648" y="3017520"/>
            <a:ext cx="219456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0686C"/>
                </a:solidFill>
                <a:latin typeface="Microsoft YaHei"/>
              </a:rPr>
              <a:t>梯度图相似度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13648" y="3666744"/>
            <a:ext cx="219456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200" b="1">
                <a:solidFill>
                  <a:srgbClr val="B27924"/>
                </a:solidFill>
                <a:latin typeface="Microsoft YaHei"/>
              </a:rPr>
              <a:t>0.952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3648" y="4050791"/>
            <a:ext cx="2194560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0686C"/>
                </a:solidFill>
                <a:latin typeface="Microsoft YaHei"/>
              </a:rPr>
              <a:t>边缘 F1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5806440"/>
            <a:ext cx="10378440" cy="384048"/>
          </a:xfrm>
          <a:prstGeom prst="rect">
            <a:avLst/>
          </a:prstGeom>
          <a:solidFill>
            <a:srgbClr val="EFF3F1"/>
          </a:solidFill>
          <a:ln w="508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5879592"/>
            <a:ext cx="10158984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0504D"/>
                </a:solidFill>
                <a:latin typeface="Microsoft YaHei"/>
              </a:rPr>
              <a:t>这些诊断衡量几何归一化后的拍屏信号保留，不衡量去摩尔纹，也不作为主排名指标。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6327648"/>
            <a:ext cx="2834640" cy="164592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700" b="0">
                <a:solidFill>
                  <a:srgbClr val="60686C"/>
                </a:solidFill>
                <a:latin typeface="Microsoft YaHei"/>
              </a:rPr>
              <a:t>Source: Fig. 6, manuscript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10896"/>
            <a:ext cx="978408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2500" b="1">
                <a:solidFill>
                  <a:srgbClr val="1F262A"/>
                </a:solidFill>
                <a:latin typeface="Microsoft YaHei"/>
              </a:rPr>
              <a:t>结论：屏幕边框应优先于内部内容运动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32688"/>
            <a:ext cx="914400" cy="41148"/>
          </a:xfrm>
          <a:prstGeom prst="rect">
            <a:avLst/>
          </a:prstGeom>
          <a:solidFill>
            <a:srgbClr val="12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81328"/>
            <a:ext cx="128016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主要结论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83663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874519"/>
            <a:ext cx="496519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A"/>
                </a:solidFill>
                <a:latin typeface="Microsoft YaHei"/>
              </a:rPr>
              <a:t>物理边框主导可避免内容驱动单应矩阵漂移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22575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313432"/>
            <a:ext cx="496519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A"/>
                </a:solidFill>
                <a:latin typeface="Microsoft YaHei"/>
              </a:rPr>
              <a:t>在十个标注片段上达到 3.87 px RMSE 与 0.996 IoU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1487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752344"/>
            <a:ext cx="496519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A"/>
                </a:solidFill>
                <a:latin typeface="Microsoft YaHei"/>
              </a:rPr>
              <a:t>滚动页面和弱边框是收益最明显的条件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481328"/>
            <a:ext cx="192024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0504D"/>
                </a:solidFill>
                <a:latin typeface="Microsoft YaHei"/>
              </a:rPr>
              <a:t>边界与后续工作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883663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3408" y="1874519"/>
            <a:ext cx="427939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A"/>
                </a:solidFill>
                <a:latin typeface="Microsoft YaHei"/>
              </a:rPr>
              <a:t>依赖可见边界证据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322575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408" y="2313432"/>
            <a:ext cx="427939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A"/>
                </a:solidFill>
                <a:latin typeface="Microsoft YaHei"/>
              </a:rPr>
              <a:t>反光、遮挡或低对比度会削弱拟合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761487"/>
            <a:ext cx="164592" cy="21945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0504D"/>
                </a:solidFill>
                <a:latin typeface="Microsoft YaHe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93408" y="2752344"/>
            <a:ext cx="4279392" cy="310896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1F262A"/>
                </a:solidFill>
                <a:latin typeface="Microsoft YaHei"/>
              </a:rPr>
              <a:t>需要更强边界模型和更密集标注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0120" y="5257800"/>
            <a:ext cx="10149840" cy="384048"/>
          </a:xfrm>
          <a:prstGeom prst="rect">
            <a:avLst/>
          </a:prstGeom>
          <a:solidFill>
            <a:srgbClr val="EFF3F1"/>
          </a:solidFill>
          <a:ln w="5080">
            <a:solidFill>
              <a:srgbClr val="E6E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5330952"/>
            <a:ext cx="9930384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0504D"/>
                </a:solidFill>
                <a:latin typeface="Microsoft YaHei"/>
              </a:rPr>
              <a:t>这篇工作的定位是拍屏视频预处理的几何前端，为后续 OCR、阅读恢复或去摩尔纹处理提供更可靠的屏幕平面。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