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0080"/>
            <a:ext cx="73152" cy="4023360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7955279" cy="1234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F262A"/>
                </a:solidFill>
                <a:latin typeface="Microsoft YaHei"/>
              </a:rPr>
              <a:t>边框主导的
拍屏视频屏幕平面归一化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121408"/>
            <a:ext cx="78638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0686C"/>
                </a:solidFill>
                <a:latin typeface="Microsoft YaHei"/>
              </a:rPr>
              <a:t>ECE4512 课程项目 · 温荣硕 / 温必华 / 刘明睿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907792"/>
            <a:ext cx="100584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504D"/>
                </a:solidFill>
                <a:latin typeface="Microsoft YaHei"/>
              </a:rPr>
              <a:t>方法主张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73552"/>
            <a:ext cx="64008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0">
                <a:solidFill>
                  <a:srgbClr val="1F262A"/>
                </a:solidFill>
                <a:latin typeface="Microsoft YaHei"/>
              </a:rPr>
              <a:t>用物理屏幕边框主导单应矩阵估计，
把 LK/RANSAC 从“跟踪器”改为内容运动冲突诊断。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950976"/>
            <a:ext cx="201168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2766C"/>
                </a:solidFill>
                <a:latin typeface="Microsoft YaHei"/>
              </a:rPr>
              <a:t>3.87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35024"/>
            <a:ext cx="201168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角点 RMSE 中位数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57984"/>
            <a:ext cx="201168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2766C"/>
                </a:solidFill>
                <a:latin typeface="Microsoft YaHei"/>
              </a:rPr>
              <a:t>0.996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42032"/>
            <a:ext cx="201168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四边形 IoU 中位数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64992"/>
            <a:ext cx="201168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2766C"/>
                </a:solidFill>
                <a:latin typeface="Microsoft YaHei"/>
              </a:rPr>
              <a:t>2.45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49040"/>
            <a:ext cx="201168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px/frame 平移变化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6309360"/>
            <a:ext cx="5486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doc/current/paper/manuscript/paper_zh.pdf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拍屏视频的几何前端会被内容运动误导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4630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问题背景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92224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41655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无法直接录屏时，拍屏视频保留了屏幕内容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3113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21992"/>
            <a:ext cx="441655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相机视角引入透视畸变、抖动、背景和眩光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70048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660904"/>
            <a:ext cx="441655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屏幕内部页面滚动或视频播放会产生独立运动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14630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核心矛盾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92224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783080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显示内容和物理屏幕不服从同一运动模型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3113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221992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内容特征越强，越可能把跟踪器拉离屏幕边界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70048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660904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逐帧检测能减少漂移，但容易抖动或弱边框失效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5285232"/>
            <a:ext cx="10241280" cy="3840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358384"/>
            <a:ext cx="1002182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因此，屏幕平面估计应优先回答“物理显示器在哪里”，避免被屏幕内容运动主导。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三类估计策略的证据来源不同，失败模式也不同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481328"/>
          <a:ext cx="10744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/>
                <a:gridCol w="2686050"/>
                <a:gridCol w="2686050"/>
                <a:gridCol w="2686050"/>
              </a:tblGrid>
              <a:tr h="51435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0504D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0504D"/>
                          </a:solidFill>
                          <a:latin typeface="Microsoft YaHei"/>
                        </a:rPr>
                        <a:t>主要证据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0504D"/>
                          </a:solidFill>
                          <a:latin typeface="Microsoft YaHei"/>
                        </a:rPr>
                        <a:t>典型风险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0504D"/>
                          </a:solidFill>
                          <a:latin typeface="Microsoft YaHei"/>
                        </a:rPr>
                        <a:t>本文定位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</a:tr>
              <a:tr h="51435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逐帧检测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当前帧边界/纹理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弱边框或背景干扰下抖动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作为基线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51435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相邻帧光流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内部可跟踪特征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页面滚动时跟随内容漂移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作为基线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51435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边框主导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物理屏幕四边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依赖可见边界证据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100" b="0">
                          <a:solidFill>
                            <a:srgbClr val="1F262A"/>
                          </a:solidFill>
                          <a:latin typeface="Microsoft YaHei"/>
                        </a:rPr>
                        <a:t>Proposed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325112"/>
            <a:ext cx="10021824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对比的关键在于单应矩阵是否仍然贴合物理显示屏，而不能只看轨迹是否平滑。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01183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892040"/>
            <a:ext cx="95371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F262A"/>
                </a:solidFill>
                <a:latin typeface="Microsoft YaHei"/>
              </a:rPr>
              <a:t>逐帧检测偏向局部图像证据，可能稳定性不足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009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5330952"/>
            <a:ext cx="95371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F262A"/>
                </a:solidFill>
                <a:latin typeface="Microsoft YaHei"/>
              </a:rPr>
              <a:t>光流偏向强纹理，容易被屏幕内部内容吸引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79008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5769864"/>
            <a:ext cx="95371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F262A"/>
                </a:solidFill>
                <a:latin typeface="Microsoft YaHei"/>
              </a:rPr>
              <a:t>Proposed 把 LK/RANSAC 降级为冲突诊断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本文把边框证据作为屏幕平面的主线索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63624"/>
            <a:ext cx="184343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0504D"/>
                </a:solidFill>
                <a:latin typeface="Microsoft YaHei"/>
              </a:rPr>
              <a:t>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1806854" cy="11247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0686C"/>
                </a:solidFill>
                <a:latin typeface="Microsoft YaHei"/>
              </a:rPr>
              <a:t>首帧四角标注
或自动检测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2110" y="2162556"/>
            <a:ext cx="11887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27924"/>
                </a:solidFill>
                <a:latin typeface="Microsoft YaHe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9270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8998" y="1563624"/>
            <a:ext cx="184343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0504D"/>
                </a:solidFill>
                <a:latin typeface="Microsoft YaHei"/>
              </a:rPr>
              <a:t>边框搜索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7286" y="1984248"/>
            <a:ext cx="1806854" cy="11247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0686C"/>
                </a:solidFill>
                <a:latin typeface="Microsoft YaHei"/>
              </a:rPr>
              <a:t>沿预测边附近
采样梯度剖面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9588" y="2162556"/>
            <a:ext cx="11887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27924"/>
                </a:solidFill>
                <a:latin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748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6476" y="1563624"/>
            <a:ext cx="184343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0504D"/>
                </a:solidFill>
                <a:latin typeface="Microsoft YaHei"/>
              </a:rPr>
              <a:t>直线拟合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4764" y="1984248"/>
            <a:ext cx="1806854" cy="11247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0686C"/>
                </a:solidFill>
                <a:latin typeface="Microsoft YaHei"/>
              </a:rPr>
              <a:t>四条边鲁棒拟合
交点形成四边形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7067" y="2162556"/>
            <a:ext cx="11887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27924"/>
                </a:solidFill>
                <a:latin typeface="Microsoft YaHe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4227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3955" y="1563624"/>
            <a:ext cx="184343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0504D"/>
                </a:solidFill>
                <a:latin typeface="Microsoft YaHei"/>
              </a:rPr>
              <a:t>门控回退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2243" y="1984248"/>
            <a:ext cx="1806854" cy="11247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0686C"/>
                </a:solidFill>
                <a:latin typeface="Microsoft YaHei"/>
              </a:rPr>
              <a:t>凸性、变化幅度
和重检测检查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4545" y="2162556"/>
            <a:ext cx="11887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27924"/>
                </a:solidFill>
                <a:latin typeface="Microsoft YaHe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1705" y="1417320"/>
            <a:ext cx="2062886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1433" y="1563624"/>
            <a:ext cx="184343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0504D"/>
                </a:solidFill>
                <a:latin typeface="Microsoft YaHei"/>
              </a:rPr>
              <a:t>正面渲染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9721" y="1984248"/>
            <a:ext cx="1806854" cy="11247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0686C"/>
                </a:solidFill>
                <a:latin typeface="Microsoft YaHei"/>
              </a:rPr>
              <a:t>单应矩阵 warp 到
固定屏幕画布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58768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LK/RANSAC 的角色变化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4142231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不再决定单应矩阵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0001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690872"/>
            <a:ext cx="4142231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只诊断内部内容运动冲突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38928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129784"/>
            <a:ext cx="4142231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边界有效时继续采用边框四边形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9552" y="4224528"/>
            <a:ext cx="5394960" cy="65836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4297680"/>
            <a:ext cx="5175504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方法核心在于改变证据优先级：屏幕边界决定几何，内部纹理只参与一致性判断。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流程图显示边框、诊断和回退的分工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" y="1271318"/>
            <a:ext cx="10936224" cy="3510691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750"/>
            <a:ext cx="10881360" cy="34558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8" y="5102352"/>
            <a:ext cx="10607040" cy="3840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175504"/>
            <a:ext cx="1038758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图 1：边框证据主导单应矩阵估计；LK/RANSAC 只作为内部内容运动冲突的一致性诊断。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327648"/>
            <a:ext cx="2926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Fig. 1, manuscript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评测覆盖五类拍摄条件，并同时看几何和轨迹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44752"/>
          <a:ext cx="48920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42454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1">
                          <a:solidFill>
                            <a:srgbClr val="10504D"/>
                          </a:solidFill>
                          <a:latin typeface="Microsoft YaHei"/>
                        </a:rPr>
                        <a:t>拍摄条件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1">
                          <a:solidFill>
                            <a:srgbClr val="10504D"/>
                          </a:solidFill>
                          <a:latin typeface="Microsoft YaHei"/>
                        </a:rPr>
                        <a:t>数据集片段数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1">
                          <a:solidFill>
                            <a:srgbClr val="10504D"/>
                          </a:solidFill>
                          <a:latin typeface="Microsoft YaHei"/>
                        </a:rPr>
                        <a:t>评估片段数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</a:tr>
              <a:tr h="42454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静态页面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42454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滚动页面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42454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屏幕内播放视频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42454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弱边框场景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42454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挑战场景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424548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000" b="0">
                          <a:solidFill>
                            <a:srgbClr val="1F26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81328"/>
            <a:ext cx="10972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主指标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83663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8" y="1874519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角点 RMSE：四角几何误差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22575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2313432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四边形 IoU：屏幕区域重合度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61487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752344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平移变化：相邻帧投影轨迹稳定性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399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191256"/>
            <a:ext cx="455371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reference-based 诊断只检查信号保留，不参与主排名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230368"/>
            <a:ext cx="10241280" cy="3840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03520"/>
            <a:ext cx="1002182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所有方法使用相同视频、初始化、输出画布、标注、编码器和指标代码。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总体上，Proposed 同时提升几何精度和轨迹稳定性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" y="1763795"/>
            <a:ext cx="7370064" cy="291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overal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91227"/>
            <a:ext cx="7315200" cy="2864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94192" y="1417320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2766C"/>
                </a:solidFill>
                <a:latin typeface="Microsoft YaHei"/>
              </a:rPr>
              <a:t>3.87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801368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Proposed RMSE；对比方法约 30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606040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2766C"/>
                </a:solidFill>
                <a:latin typeface="Microsoft YaHei"/>
              </a:rPr>
              <a:t>0.996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990088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最高四边形 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794760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2766C"/>
                </a:solidFill>
                <a:latin typeface="Microsoft YaHei"/>
              </a:rPr>
              <a:t>2.45 px/frame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4178808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最低平移变化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5504688"/>
            <a:ext cx="10424160" cy="3840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577840"/>
            <a:ext cx="102047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边框主导估计更贴近标注物理屏幕，同时减少相邻帧轨迹变化。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327648"/>
            <a:ext cx="38404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Fig. 2 and Table 2, manuscript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滚动页面与弱边框场景贡献最大收益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7673"/>
            <a:ext cx="7644384" cy="36506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categor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5105"/>
            <a:ext cx="7589520" cy="35957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581912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1572768"/>
            <a:ext cx="263347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滚动页面：RMSE 2.87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20824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011680"/>
            <a:ext cx="263347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弱边框：RMSE 9.35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45973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450592"/>
            <a:ext cx="263347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挑战场景中逐帧检测略低，但 Proposed 轨迹更稳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3977639"/>
            <a:ext cx="2880360" cy="877824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4050791"/>
            <a:ext cx="2660904" cy="7680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强内容运动和弱边界是内容驱动跟踪最容易失败的条件，也是边框主导设计最能体现价值的地方。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327648"/>
            <a:ext cx="38404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Fig. 3 and Table 3, manuscript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片段级结果排除了靠冻结四边形获得稳定的解释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3985" y="1088136"/>
            <a:ext cx="7621165" cy="4672583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cli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17" y="1115568"/>
            <a:ext cx="7566301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63677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1627632"/>
            <a:ext cx="240487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7 个片段 RMSE 中位数低于 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75688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2066544"/>
            <a:ext cx="240487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全部评估片段低于 15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505456"/>
            <a:ext cx="240487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运行中没有长期冻结帧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0496" y="4151376"/>
            <a:ext cx="2834640" cy="777240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4224528"/>
            <a:ext cx="2615184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边框可见时轨迹随物理屏幕更新；冲突标记主要反映内部内容运动与边界估计不一致。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327648"/>
            <a:ext cx="2926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Fig. 4, manuscript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消融表明物理边框线索是决定性模块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243584"/>
          <a:ext cx="79552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5"/>
                <a:gridCol w="1591055"/>
                <a:gridCol w="1591055"/>
                <a:gridCol w="1591055"/>
                <a:gridCol w="1591059"/>
              </a:tblGrid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1">
                          <a:solidFill>
                            <a:srgbClr val="10504D"/>
                          </a:solidFill>
                          <a:latin typeface="Microsoft YaHei"/>
                        </a:rPr>
                        <a:t>变体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1">
                          <a:solidFill>
                            <a:srgbClr val="10504D"/>
                          </a:solidFill>
                          <a:latin typeface="Microsoft YaHei"/>
                        </a:rPr>
                        <a:t>检查内容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1">
                          <a:solidFill>
                            <a:srgbClr val="10504D"/>
                          </a:solidFill>
                          <a:latin typeface="Microsoft YaHei"/>
                        </a:rPr>
                        <a:t>RMSE↓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1">
                          <a:solidFill>
                            <a:srgbClr val="10504D"/>
                          </a:solidFill>
                          <a:latin typeface="Microsoft YaHei"/>
                        </a:rPr>
                        <a:t>IoU↑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1">
                          <a:solidFill>
                            <a:srgbClr val="10504D"/>
                          </a:solidFill>
                          <a:latin typeface="Microsoft YaHei"/>
                        </a:rPr>
                        <a:t>平移变化↓</a:t>
                      </a:r>
                    </a:p>
                  </a:txBody>
                  <a:tcPr>
                    <a:solidFill>
                      <a:srgbClr val="E0EAE7"/>
                    </a:solidFill>
                  </a:tcPr>
                </a:tc>
              </a:tr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相邻帧光流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无物理边框线索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76.114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0.916022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2.205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Reference-plane LK/RANSAC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无物理边框线索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643.949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0.520994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4.579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Proposed，profile 边框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完整方法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3.253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0.996038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0.752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去掉轨迹滤波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移除轨迹平滑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2.932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0.996585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1.430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LSD 边框观测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替换 profile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3.604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0.995716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0.961</a:t>
                      </a:r>
                    </a:p>
                  </a:txBody>
                  <a:tcPr>
                    <a:solidFill>
                      <a:srgbClr val="FCFDFC"/>
                    </a:solidFill>
                  </a:tcPr>
                </a:tc>
              </a:tr>
              <a:tr h="594360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Hough 边框观测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替换 profile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27.335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0.974200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800" b="0">
                          <a:solidFill>
                            <a:srgbClr val="1F262A"/>
                          </a:solidFill>
                          <a:latin typeface="Microsoft YaHei"/>
                        </a:rPr>
                        <a:t>0.897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887968" y="1828800"/>
            <a:ext cx="2606040" cy="1143000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1901952"/>
            <a:ext cx="2386584" cy="1033271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没有物理边框线索时，连贯滚动内容会主导单应矩阵；profile 边框观测在精度和稳定性之间更均衡。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327648"/>
            <a:ext cx="283464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Table 4, manuscript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定性样例中，Proposed 更稳定保留屏幕范围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7619" y="1088136"/>
            <a:ext cx="5007896" cy="5312664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51" y="1115568"/>
            <a:ext cx="4953032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5392" y="1545336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79" y="1536192"/>
            <a:ext cx="418795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滚动和弱边框样例更能体现差异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84248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1975104"/>
            <a:ext cx="418795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内容驱动方法可能产生裁切偏移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2414016"/>
            <a:ext cx="418795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A"/>
                </a:solidFill>
                <a:latin typeface="Microsoft YaHei"/>
              </a:rPr>
              <a:t>静态页面和屏幕内视频中三者都可读，但 Proposed 对齐更稳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5392" y="4251960"/>
            <a:ext cx="4315968" cy="694944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325112"/>
            <a:ext cx="4096511" cy="5852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该图用于观察输出范围和边界对齐趋势，定量结论仍以前几页指标为准。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327648"/>
            <a:ext cx="283464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Fig. 5, manuscript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信号保留诊断支持几何结果，但不替代主指标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9924" y="1051560"/>
            <a:ext cx="7046407" cy="4855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signal_pre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56" y="1078992"/>
            <a:ext cx="699154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13648" y="1600200"/>
            <a:ext cx="21945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B27924"/>
                </a:solidFill>
                <a:latin typeface="Microsoft YaHei"/>
              </a:rPr>
              <a:t>0.890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1984248"/>
            <a:ext cx="21945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SSIM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633472"/>
            <a:ext cx="21945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B27924"/>
                </a:solidFill>
                <a:latin typeface="Microsoft YaHei"/>
              </a:rPr>
              <a:t>0.930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3017520"/>
            <a:ext cx="21945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梯度图相似度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3666744"/>
            <a:ext cx="21945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B27924"/>
                </a:solidFill>
                <a:latin typeface="Microsoft YaHei"/>
              </a:rPr>
              <a:t>0.952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050791"/>
            <a:ext cx="21945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686C"/>
                </a:solidFill>
                <a:latin typeface="Microsoft YaHei"/>
              </a:rPr>
              <a:t>边缘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5806440"/>
            <a:ext cx="10378440" cy="3840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879592"/>
            <a:ext cx="1015898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这些诊断衡量几何归一化后的拍屏信号保留，不衡量去摩尔纹，也不作为主排名指标。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327648"/>
            <a:ext cx="283464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700" b="0">
                <a:solidFill>
                  <a:srgbClr val="60686C"/>
                </a:solidFill>
                <a:latin typeface="Microsoft YaHei"/>
              </a:rPr>
              <a:t>Source: Fig. 6, manuscript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F262A"/>
                </a:solidFill>
                <a:latin typeface="Microsoft YaHei"/>
              </a:rPr>
              <a:t>结论：屏幕边框应优先于内部内容运动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41148"/>
          </a:xfrm>
          <a:prstGeom prst="rect">
            <a:avLst/>
          </a:prstGeom>
          <a:solidFill>
            <a:srgbClr val="12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2801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主要结论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83663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74519"/>
            <a:ext cx="49651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物理边框主导可避免内容驱动单应矩阵漂移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22575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49651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在十个标注片段上达到 3.87 px RMSE 与 0.996 IoU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1487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52344"/>
            <a:ext cx="49651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滚动页面和弱边框是收益最明显的条件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19202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504D"/>
                </a:solidFill>
                <a:latin typeface="Microsoft YaHei"/>
              </a:rPr>
              <a:t>边界与后续工作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83663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874519"/>
            <a:ext cx="42793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依赖可见边界证据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22575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313432"/>
            <a:ext cx="42793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反光、遮挡或低对比度会削弱拟合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61487"/>
            <a:ext cx="164592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0504D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752344"/>
            <a:ext cx="4279392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F262A"/>
                </a:solidFill>
                <a:latin typeface="Microsoft YaHei"/>
              </a:rPr>
              <a:t>需要更强边界模型和更密集标注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5257800"/>
            <a:ext cx="10149840" cy="384048"/>
          </a:xfrm>
          <a:prstGeom prst="rect">
            <a:avLst/>
          </a:prstGeom>
          <a:solidFill>
            <a:srgbClr val="EFF3F1"/>
          </a:solidFill>
          <a:ln w="5080">
            <a:solidFill>
              <a:srgbClr val="E6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330952"/>
            <a:ext cx="993038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504D"/>
                </a:solidFill>
                <a:latin typeface="Microsoft YaHei"/>
              </a:rPr>
              <a:t>这篇工作的定位是拍屏视频预处理的几何前端，为后续 OCR、阅读恢复或去摩尔纹处理提供更可靠的屏幕平面。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