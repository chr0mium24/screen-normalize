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0080"/>
            <a:ext cx="73152" cy="4023360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85800"/>
            <a:ext cx="7955279" cy="12344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F262A"/>
                </a:solidFill>
                <a:latin typeface="Microsoft YaHei"/>
              </a:rPr>
              <a:t>边框主导的
拍屏视频屏幕平面归一化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2121408"/>
            <a:ext cx="78638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0686C"/>
                </a:solidFill>
                <a:latin typeface="Microsoft YaHei"/>
              </a:rPr>
              <a:t>ECE4512 课程项目 · 温荣硕 / 温必华 / 刘明睿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907792"/>
            <a:ext cx="100584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504D"/>
                </a:solidFill>
                <a:latin typeface="Microsoft YaHei"/>
              </a:rPr>
              <a:t>方法主张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273552"/>
            <a:ext cx="6400800" cy="6400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800" b="0">
                <a:solidFill>
                  <a:srgbClr val="1F262A"/>
                </a:solidFill>
                <a:latin typeface="Microsoft YaHei"/>
              </a:rPr>
              <a:t>用物理屏幕边框主导单应矩阵估计，
把 LK/RANSAC 从“跟踪器”改为内容运动冲突诊断。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950976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3.87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35024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角点 RMSE 中位数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157984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0.996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42032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四边形 IoU 中位数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364992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2.45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749040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px/frame 平移变化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6309360"/>
            <a:ext cx="548640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doc/current/paper/manuscript/paper_zh.pdf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拍屏视频的几何前端会被内容运动误导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4630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问题背景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92224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1783080"/>
            <a:ext cx="44165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无法直接录屏时，拍屏视频保留了屏幕内容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3113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221992"/>
            <a:ext cx="44165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相机视角引入透视畸变、抖动、背景和眩光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7004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660904"/>
            <a:ext cx="44165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屏幕内部页面滚动或视频播放会产生独立运动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417320"/>
            <a:ext cx="14630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核心矛盾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792224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1783080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显示内容和物理屏幕不服从同一运动模型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23113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2221992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内容特征越强，越可能把跟踪器拉离屏幕边界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7004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2660904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逐帧检测能减少漂移，但容易抖动或弱边框失效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5285232"/>
            <a:ext cx="1024128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358384"/>
            <a:ext cx="1002182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因此，屏幕平面估计应优先回答“物理显示器在哪里”，避免被屏幕内容运动主导。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三类估计策略的证据来源不同，失败模式也不同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481328"/>
          <a:ext cx="10744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6050"/>
                <a:gridCol w="2686050"/>
                <a:gridCol w="2686050"/>
                <a:gridCol w="2686050"/>
              </a:tblGrid>
              <a:tr h="51435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10504D"/>
                          </a:solidFill>
                          <a:latin typeface="Microsoft YaHei"/>
                        </a:rPr>
                        <a:t>策略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10504D"/>
                          </a:solidFill>
                          <a:latin typeface="Microsoft YaHei"/>
                        </a:rPr>
                        <a:t>主要证据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10504D"/>
                          </a:solidFill>
                          <a:latin typeface="Microsoft YaHei"/>
                        </a:rPr>
                        <a:t>典型风险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10504D"/>
                          </a:solidFill>
                          <a:latin typeface="Microsoft YaHei"/>
                        </a:rPr>
                        <a:t>本文定位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</a:tr>
              <a:tr h="51435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逐帧检测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当前帧边界/纹理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弱边框或背景干扰下抖动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作为基线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51435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相邻帧光流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内部可跟踪特征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页面滚动时跟随内容漂移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作为基线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  <a:tr h="51435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边框主导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物理屏幕四边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依赖可见边界证据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Proposed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914400" y="4251960"/>
            <a:ext cx="10241280" cy="502920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325112"/>
            <a:ext cx="10021824" cy="3931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对比的关键在于单应矩阵是否仍然贴合物理显示屏，而不能只看轨迹是否平滑。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01183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892040"/>
            <a:ext cx="9537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A"/>
                </a:solidFill>
                <a:latin typeface="Microsoft YaHei"/>
              </a:rPr>
              <a:t>逐帧检测偏向局部图像证据，可能稳定性不足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4009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5330952"/>
            <a:ext cx="9537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A"/>
                </a:solidFill>
                <a:latin typeface="Microsoft YaHei"/>
              </a:rPr>
              <a:t>光流偏向强纹理，容易被屏幕内部内容吸引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7900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5769864"/>
            <a:ext cx="9537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A"/>
                </a:solidFill>
                <a:latin typeface="Microsoft YaHei"/>
              </a:rPr>
              <a:t>Proposed 把 LK/RANSAC 降级为冲突诊断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本文把边框证据作为屏幕平面的主线索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" y="1417320"/>
            <a:ext cx="2062886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63624"/>
            <a:ext cx="184343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0504D"/>
                </a:solidFill>
                <a:latin typeface="Microsoft YaHei"/>
              </a:rPr>
              <a:t>初始化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84248"/>
            <a:ext cx="1806854" cy="11247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0686C"/>
                </a:solidFill>
                <a:latin typeface="Microsoft YaHei"/>
              </a:rPr>
              <a:t>首帧四角标注
或自动检测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12110" y="2162556"/>
            <a:ext cx="118872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B27924"/>
                </a:solidFill>
                <a:latin typeface="Microsoft YaHei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9270" y="1417320"/>
            <a:ext cx="2062886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8998" y="1563624"/>
            <a:ext cx="184343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0504D"/>
                </a:solidFill>
                <a:latin typeface="Microsoft YaHei"/>
              </a:rPr>
              <a:t>边框搜索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7286" y="1984248"/>
            <a:ext cx="1806854" cy="11247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0686C"/>
                </a:solidFill>
                <a:latin typeface="Microsoft YaHei"/>
              </a:rPr>
              <a:t>沿预测边附近
采样梯度剖面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9588" y="2162556"/>
            <a:ext cx="118872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B27924"/>
                </a:solidFill>
                <a:latin typeface="Microsoft YaHei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6748" y="1417320"/>
            <a:ext cx="2062886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6476" y="1563624"/>
            <a:ext cx="184343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0504D"/>
                </a:solidFill>
                <a:latin typeface="Microsoft YaHei"/>
              </a:rPr>
              <a:t>直线拟合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764" y="1984248"/>
            <a:ext cx="1806854" cy="11247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0686C"/>
                </a:solidFill>
                <a:latin typeface="Microsoft YaHei"/>
              </a:rPr>
              <a:t>四条边鲁棒拟合
交点形成四边形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7067" y="2162556"/>
            <a:ext cx="118872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B27924"/>
                </a:solidFill>
                <a:latin typeface="Microsoft YaHei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4227" y="1417320"/>
            <a:ext cx="2062886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3955" y="1563624"/>
            <a:ext cx="184343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0504D"/>
                </a:solidFill>
                <a:latin typeface="Microsoft YaHei"/>
              </a:rPr>
              <a:t>门控回退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2243" y="1984248"/>
            <a:ext cx="1806854" cy="11247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0686C"/>
                </a:solidFill>
                <a:latin typeface="Microsoft YaHei"/>
              </a:rPr>
              <a:t>凸性、变化幅度
和重检测检查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4545" y="2162556"/>
            <a:ext cx="118872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B27924"/>
                </a:solidFill>
                <a:latin typeface="Microsoft YaHei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31705" y="1417320"/>
            <a:ext cx="2062886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1433" y="1563624"/>
            <a:ext cx="184343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0504D"/>
                </a:solidFill>
                <a:latin typeface="Microsoft YaHei"/>
              </a:rPr>
              <a:t>正面渲染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9721" y="1984248"/>
            <a:ext cx="1806854" cy="11247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0686C"/>
                </a:solidFill>
                <a:latin typeface="Microsoft YaHei"/>
              </a:rPr>
              <a:t>单应矩阵 warp 到
固定屏幕画布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58768"/>
            <a:ext cx="28346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LK/RANSAC 的角色变化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61104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251960"/>
            <a:ext cx="4142231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不再决定单应矩阵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0001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4690872"/>
            <a:ext cx="4142231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只诊断内部内容运动冲突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13892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" y="5129784"/>
            <a:ext cx="4142231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边界有效时继续采用边框四边形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59552" y="4224528"/>
            <a:ext cx="5394960" cy="65836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0" y="4297680"/>
            <a:ext cx="5175504" cy="5486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方法核心在于改变证据优先级：屏幕边界决定几何，内部纹理只参与一致性判断。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流程图显示边框、诊断和回退的分工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936" y="1886820"/>
            <a:ext cx="10936224" cy="2279687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14252"/>
            <a:ext cx="10881360" cy="22248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9808" y="5102352"/>
            <a:ext cx="1060704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175504"/>
            <a:ext cx="1038758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图 1：边框证据主导单应矩阵估计；LK/RANSAC 只作为内部内容运动冲突的一致性诊断。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6327648"/>
            <a:ext cx="292608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1, manuscript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评测覆盖五类拍摄条件，并同时看几何和轨迹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44752"/>
          <a:ext cx="48920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680"/>
                <a:gridCol w="1630680"/>
                <a:gridCol w="1630680"/>
              </a:tblGrid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1">
                          <a:solidFill>
                            <a:srgbClr val="10504D"/>
                          </a:solidFill>
                          <a:latin typeface="Microsoft YaHei"/>
                        </a:rPr>
                        <a:t>拍摄条件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1">
                          <a:solidFill>
                            <a:srgbClr val="10504D"/>
                          </a:solidFill>
                          <a:latin typeface="Microsoft YaHei"/>
                        </a:rPr>
                        <a:t>数据集片段数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1">
                          <a:solidFill>
                            <a:srgbClr val="10504D"/>
                          </a:solidFill>
                          <a:latin typeface="Microsoft YaHei"/>
                        </a:rPr>
                        <a:t>评估片段数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</a:tr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静态页面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滚动页面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屏幕内播放视频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弱边框场景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挑战场景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424548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50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1481328"/>
            <a:ext cx="109728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主指标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83663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7688" y="1874519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角点 RMSE：四角几何误差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22575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7688" y="2313432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四边形 IoU：屏幕区域重合度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761487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7688" y="2752344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平移变化：相邻帧投影轨迹稳定性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00399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3191256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reference-based 诊断只检查信号保留，不参与主排名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230368"/>
            <a:ext cx="1024128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5303520"/>
            <a:ext cx="1002182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所有方法使用相同视频、初始化、输出画布、标注、编码器和指标代码。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总体上，Proposed 同时提升几何精度和轨迹稳定性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936" y="1763795"/>
            <a:ext cx="7370064" cy="2918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_overal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91227"/>
            <a:ext cx="7315200" cy="28640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94192" y="1417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3.87 px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801368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Proposed RMSE；对比方法约 30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2606040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0.996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990088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最高四边形 IoU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3794760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2.45 px/frame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4178808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最低平移变化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5504688"/>
            <a:ext cx="1042416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577840"/>
            <a:ext cx="1020470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边框主导估计更贴近标注物理屏幕，同时减少相邻帧轨迹变化。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327648"/>
            <a:ext cx="384048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2 and Table 2, manuscript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滚动页面与弱边框场景贡献最大收益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507673"/>
            <a:ext cx="7644384" cy="36506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_category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35105"/>
            <a:ext cx="7589520" cy="35957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1581912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6528" y="1572768"/>
            <a:ext cx="26334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滚动页面：RMSE 2.87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2020824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011680"/>
            <a:ext cx="26334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弱边框：RMSE 9.35 px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45973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2450592"/>
            <a:ext cx="26334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挑战场景中逐帧检测略低，但 Proposed 轨迹更稳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94192" y="3977639"/>
            <a:ext cx="2880360" cy="877824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19" y="4050791"/>
            <a:ext cx="2660904" cy="7680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强内容运动和弱边界是内容驱动跟踪最容易失败的条件，也是边框主导设计最能体现价值的地方。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327648"/>
            <a:ext cx="384048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3 and Table 3, manuscript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片段级结果排除了靠冻结四边形获得稳定的解释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3985" y="1088136"/>
            <a:ext cx="7621165" cy="4672583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_clip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417" y="1115568"/>
            <a:ext cx="7566301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2520" y="163677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627632"/>
            <a:ext cx="24048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7 个片段 RMSE 中位数低于 5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07568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2066544"/>
            <a:ext cx="24048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全部评估片段低于 15 px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2505456"/>
            <a:ext cx="24048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运行中没有长期冻结帧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40496" y="4151376"/>
            <a:ext cx="2834640" cy="777240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0224" y="4224528"/>
            <a:ext cx="2615184" cy="6675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边框可见时轨迹随物理屏幕更新；冲突标记主要反映内部内容运动与边界估计不一致。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327648"/>
            <a:ext cx="292608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4, manuscript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消融表明物理边框线索是决定性模块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243584"/>
          <a:ext cx="795527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1055"/>
                <a:gridCol w="1591055"/>
                <a:gridCol w="1591055"/>
                <a:gridCol w="1591055"/>
                <a:gridCol w="1591059"/>
              </a:tblGrid>
              <a:tr h="69342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1">
                          <a:solidFill>
                            <a:srgbClr val="10504D"/>
                          </a:solidFill>
                          <a:latin typeface="Microsoft YaHei"/>
                        </a:rPr>
                        <a:t>变体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1">
                          <a:solidFill>
                            <a:srgbClr val="10504D"/>
                          </a:solidFill>
                          <a:latin typeface="Microsoft YaHei"/>
                        </a:rPr>
                        <a:t>检查内容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1">
                          <a:solidFill>
                            <a:srgbClr val="10504D"/>
                          </a:solidFill>
                          <a:latin typeface="Microsoft YaHei"/>
                        </a:rPr>
                        <a:t>RMSE↓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1">
                          <a:solidFill>
                            <a:srgbClr val="10504D"/>
                          </a:solidFill>
                          <a:latin typeface="Microsoft YaHei"/>
                        </a:rPr>
                        <a:t>IoU↑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1">
                          <a:solidFill>
                            <a:srgbClr val="10504D"/>
                          </a:solidFill>
                          <a:latin typeface="Microsoft YaHei"/>
                        </a:rPr>
                        <a:t>平移变化↓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</a:tr>
              <a:tr h="69342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Proposed，profile 边框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完整链路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3.253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0.996038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0.752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69342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去掉 LK 诊断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关闭内部运动检查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3.253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0.996038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0.752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  <a:tr h="69342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去掉物理边框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仅相邻帧光流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76.114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0.916022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2.205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69342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LSD 边框观测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替换 profile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3.604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0.995716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0.961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  <a:tr h="69342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Hough 边框观测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替换 profile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27.335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0.974200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800" b="0">
                          <a:solidFill>
                            <a:srgbClr val="1F262A"/>
                          </a:solidFill>
                          <a:latin typeface="Microsoft YaHei"/>
                        </a:rPr>
                        <a:t>0.897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887968" y="1828800"/>
            <a:ext cx="2606040" cy="1143000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7696" y="1901952"/>
            <a:ext cx="2386584" cy="1033271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消融只保留当前实现中的可切换模块：LK 诊断、物理边框证据和边框观测器。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6327648"/>
            <a:ext cx="283464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Table 4, manuscript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定性样例中，Proposed 更稳定保留屏幕范围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7619" y="1088136"/>
            <a:ext cx="5007896" cy="5312664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5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51" y="1115568"/>
            <a:ext cx="4953032" cy="5257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65392" y="154533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79" y="1536192"/>
            <a:ext cx="41879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滚动和弱边框样例更能体现差异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98424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79" y="1975104"/>
            <a:ext cx="41879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内容驱动方法可能产生裁切偏移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79" y="2414016"/>
            <a:ext cx="41879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静态页面和屏幕内视频中三者都可读，但 Proposed 对齐更稳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65392" y="4251960"/>
            <a:ext cx="4315968" cy="694944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325112"/>
            <a:ext cx="4096511" cy="58521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该图用于观察输出范围和边界对齐趋势，定量结论仍以前几页指标为准。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327648"/>
            <a:ext cx="283464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5, manuscript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信号保留诊断支持几何结果，但不替代主指标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29924" y="1051560"/>
            <a:ext cx="7046407" cy="4855464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_signal_pre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356" y="1078992"/>
            <a:ext cx="699154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13648" y="1600200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B27924"/>
                </a:solidFill>
                <a:latin typeface="Microsoft YaHei"/>
              </a:rPr>
              <a:t>0.890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13648" y="1984248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SSIM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3648" y="2633472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B27924"/>
                </a:solidFill>
                <a:latin typeface="Microsoft YaHei"/>
              </a:rPr>
              <a:t>0.930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3648" y="3017520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梯度图相似度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3648" y="3666744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B27924"/>
                </a:solidFill>
                <a:latin typeface="Microsoft YaHei"/>
              </a:rPr>
              <a:t>0.952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48" y="4050791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边缘 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5806440"/>
            <a:ext cx="1037844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879592"/>
            <a:ext cx="1015898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这些诊断衡量几何归一化后的拍屏信号保留，不衡量去摩尔纹，也不作为主排名指标。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327648"/>
            <a:ext cx="283464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6, manuscript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结论：屏幕边框应优先于内部内容运动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28016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主要结论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83663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74519"/>
            <a:ext cx="4965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物理边框主导可避免内容驱动单应矩阵漂移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22575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313432"/>
            <a:ext cx="4965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在十个标注片段上达到 3.87 px RMSE 与 0.996 IoU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1487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752344"/>
            <a:ext cx="4965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滚动页面和弱边框是收益最明显的条件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481328"/>
            <a:ext cx="19202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边界与后续工作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83663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1874519"/>
            <a:ext cx="42793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依赖可见边界证据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22575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313432"/>
            <a:ext cx="42793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反光、遮挡或低对比度会削弱拟合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61487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8" y="2752344"/>
            <a:ext cx="42793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需要更强边界模型和更密集标注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5257800"/>
            <a:ext cx="1014984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330952"/>
            <a:ext cx="993038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这篇工作的定位是拍屏视频预处理的几何前端，为后续 OCR、阅读恢复或去摩尔纹处理提供更可靠的屏幕平面。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