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7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9"/>
  </p:normalViewPr>
  <p:slideViewPr>
    <p:cSldViewPr snapToGrid="0" snapToObjects="1">
      <p:cViewPr varScale="1">
        <p:scale>
          <a:sx n="82" d="100"/>
          <a:sy n="82" d="100"/>
        </p:scale>
        <p:origin x="184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0080"/>
            <a:ext cx="73152" cy="4023360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7955279" cy="12344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4000" b="1">
                <a:solidFill>
                  <a:srgbClr val="1F262A"/>
                </a:solidFill>
                <a:latin typeface="Aptos"/>
              </a:rPr>
              <a:t>Border-Guided
Screen-Plane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121408"/>
            <a:ext cx="7863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0">
                <a:solidFill>
                  <a:srgbClr val="60686C"/>
                </a:solidFill>
                <a:latin typeface="Aptos"/>
              </a:rPr>
              <a:t>ECE4512 Final Project · Rongshuo Wen / Bihua Wen / Mingrui Liu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907792"/>
            <a:ext cx="12801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0504D"/>
                </a:solidFill>
                <a:latin typeface="Aptos"/>
              </a:rPr>
              <a:t>Core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364992"/>
            <a:ext cx="6962427" cy="4247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400" b="0" dirty="0">
                <a:solidFill>
                  <a:srgbClr val="1F262A"/>
                </a:solidFill>
                <a:latin typeface="Aptos"/>
              </a:rPr>
              <a:t>Physical screen borders anchor the </a:t>
            </a:r>
            <a:r>
              <a:rPr sz="2400" b="0" dirty="0" err="1">
                <a:solidFill>
                  <a:srgbClr val="1F262A"/>
                </a:solidFill>
                <a:latin typeface="Aptos"/>
              </a:rPr>
              <a:t>homography</a:t>
            </a:r>
            <a:endParaRPr lang="en-US" sz="2400" b="0" dirty="0">
              <a:solidFill>
                <a:srgbClr val="1F262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0" y="950976"/>
            <a:ext cx="210312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12766C"/>
                </a:solidFill>
                <a:latin typeface="Aptos"/>
              </a:rPr>
              <a:t>3.87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35024"/>
            <a:ext cx="210312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median corner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57984"/>
            <a:ext cx="210312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12766C"/>
                </a:solidFill>
                <a:latin typeface="Aptos"/>
              </a:rPr>
              <a:t>0.996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42032"/>
            <a:ext cx="210312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median quadrilateral IoU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364992"/>
            <a:ext cx="233172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12766C"/>
                </a:solidFill>
                <a:latin typeface="Aptos"/>
              </a:rPr>
              <a:t>2.45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49040"/>
            <a:ext cx="233172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px/frame translation variation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1014544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 dirty="0">
                <a:solidFill>
                  <a:srgbClr val="1F262A"/>
                </a:solidFill>
                <a:latin typeface="Aptos"/>
              </a:rPr>
              <a:t>Captured-screen geometry is misled by content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463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9222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441655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Captured-screen video is useful when direct recording is unavailable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1" y="2464507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 dirty="0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209" y="2455363"/>
            <a:ext cx="4416552" cy="60939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The camera view adds perspective, shake, background clutter, and glare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1" y="3124396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209" y="3115252"/>
            <a:ext cx="441655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Pages or videos inside the display can move independently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15544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Core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9222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783080"/>
            <a:ext cx="455371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>
                <a:solidFill>
                  <a:srgbClr val="1F262A"/>
                </a:solidFill>
                <a:latin typeface="Aptos"/>
              </a:rPr>
              <a:t>Displayed content and the physical screen do not share one motion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3886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429720"/>
            <a:ext cx="455371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Strong interior features can pull a tracker away from the screen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08550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076360"/>
            <a:ext cx="455371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Frame-wise detection reduces drift but can jitter or fail on weak borders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537" y="4995722"/>
            <a:ext cx="11300093" cy="537472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265" y="5041442"/>
            <a:ext cx="11190366" cy="3477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Screen-plane estimation should first answer where the physical display is, not where the content is moving.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898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1160318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 dirty="0">
                <a:solidFill>
                  <a:srgbClr val="1F262A"/>
                </a:solidFill>
                <a:latin typeface="Aptos"/>
              </a:rPr>
              <a:t>Three estimation strategies use different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54197"/>
              </p:ext>
            </p:extLst>
          </p:nvPr>
        </p:nvGraphicFramePr>
        <p:xfrm>
          <a:off x="713232" y="1481328"/>
          <a:ext cx="10744200" cy="2434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10504D"/>
                          </a:solidFill>
                          <a:latin typeface="Aptos"/>
                        </a:rPr>
                        <a:t>Strategy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10504D"/>
                          </a:solidFill>
                          <a:latin typeface="Aptos"/>
                        </a:rPr>
                        <a:t>Main evidence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504D"/>
                          </a:solidFill>
                          <a:latin typeface="Aptos"/>
                        </a:rPr>
                        <a:t>Typical risk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504D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62A"/>
                          </a:solidFill>
                          <a:latin typeface="Aptos"/>
                        </a:rPr>
                        <a:t>Frame-wise detection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F262A"/>
                          </a:solidFill>
                          <a:latin typeface="Aptos"/>
                        </a:rPr>
                        <a:t>Current-frame border / texture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F262A"/>
                          </a:solidFill>
                          <a:latin typeface="Aptos"/>
                        </a:rPr>
                        <a:t>Jitter under weak borders or clutter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62A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62A"/>
                          </a:solidFill>
                          <a:latin typeface="Aptos"/>
                        </a:rPr>
                        <a:t>Adjacent-frame optical flow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62A"/>
                          </a:solidFill>
                          <a:latin typeface="Aptos"/>
                        </a:rPr>
                        <a:t>Trackable interior features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F262A"/>
                          </a:solidFill>
                          <a:latin typeface="Aptos"/>
                        </a:rPr>
                        <a:t>Drifts with scrolling content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F262A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62A"/>
                          </a:solidFill>
                          <a:latin typeface="Aptos"/>
                        </a:rPr>
                        <a:t>Border-guided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62A"/>
                          </a:solidFill>
                          <a:latin typeface="Aptos"/>
                        </a:rPr>
                        <a:t>Four physical screen sides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62A"/>
                          </a:solidFill>
                          <a:latin typeface="Aptos"/>
                        </a:rPr>
                        <a:t>Requires visible boundary evidence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F262A"/>
                          </a:solidFill>
                          <a:latin typeface="Aptos"/>
                        </a:rPr>
                        <a:t>Proposed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251960"/>
            <a:ext cx="10241280" cy="75384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297680"/>
            <a:ext cx="100218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The comparison asks whether the </a:t>
            </a:r>
            <a:r>
              <a:rPr sz="1900" b="0" dirty="0" err="1">
                <a:solidFill>
                  <a:srgbClr val="10504D"/>
                </a:solidFill>
                <a:latin typeface="Aptos"/>
              </a:rPr>
              <a:t>homography</a:t>
            </a:r>
            <a:r>
              <a:rPr sz="1900" b="0" dirty="0">
                <a:solidFill>
                  <a:srgbClr val="10504D"/>
                </a:solidFill>
                <a:latin typeface="Aptos"/>
              </a:rPr>
              <a:t> still fits the physical display, not only whether the trajectory is smooth.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25265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5216122"/>
            <a:ext cx="95371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0" dirty="0">
                <a:solidFill>
                  <a:srgbClr val="1F262A"/>
                </a:solidFill>
                <a:latin typeface="Aptos"/>
              </a:rPr>
              <a:t>Frame-wise detection depends on local image evidence and can be unstable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4178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5655034"/>
            <a:ext cx="95371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0">
                <a:solidFill>
                  <a:srgbClr val="1F262A"/>
                </a:solidFill>
                <a:latin typeface="Aptos"/>
              </a:rPr>
              <a:t>Optical flow follows strong texture and can be attracted to internal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03090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6093946"/>
            <a:ext cx="95371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0" dirty="0">
                <a:solidFill>
                  <a:srgbClr val="1F262A"/>
                </a:solidFill>
                <a:latin typeface="Aptos"/>
              </a:rPr>
              <a:t>The proposed method demotes LK/RANSAC to a conflict diagnostic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3496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59" y="310896"/>
            <a:ext cx="11000231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 dirty="0">
                <a:solidFill>
                  <a:srgbClr val="1F262A"/>
                </a:solidFill>
                <a:latin typeface="Aptos"/>
              </a:rPr>
              <a:t>The method makes border evidence the primary cue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45336"/>
            <a:ext cx="184343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1">
                <a:solidFill>
                  <a:srgbClr val="10504D"/>
                </a:solidFill>
                <a:latin typeface="Aptos"/>
              </a:rPr>
              <a:t>Initialize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47672"/>
            <a:ext cx="1806854" cy="117957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0">
                <a:solidFill>
                  <a:srgbClr val="60686C"/>
                </a:solidFill>
                <a:latin typeface="Aptos"/>
              </a:rPr>
              <a:t>First-frame corners
or detector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2110" y="2162556"/>
            <a:ext cx="11887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B27924"/>
                </a:solidFill>
                <a:latin typeface="Aptos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9270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8998" y="1545336"/>
            <a:ext cx="184343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1">
                <a:solidFill>
                  <a:srgbClr val="10504D"/>
                </a:solidFill>
                <a:latin typeface="Aptos"/>
              </a:rPr>
              <a:t>Search borders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7286" y="1947672"/>
            <a:ext cx="1806854" cy="117957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0">
                <a:solidFill>
                  <a:srgbClr val="60686C"/>
                </a:solidFill>
                <a:latin typeface="Aptos"/>
              </a:rPr>
              <a:t>Sample gradient profiles
near predicted sides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9588" y="2162556"/>
            <a:ext cx="11887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B27924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748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6476" y="1545336"/>
            <a:ext cx="184343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1">
                <a:solidFill>
                  <a:srgbClr val="10504D"/>
                </a:solidFill>
                <a:latin typeface="Aptos"/>
              </a:rPr>
              <a:t>Fit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4764" y="1947672"/>
            <a:ext cx="1806854" cy="117957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0">
                <a:solidFill>
                  <a:srgbClr val="60686C"/>
                </a:solidFill>
                <a:latin typeface="Aptos"/>
              </a:rPr>
              <a:t>Robustly fit four sides
and intersect corners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7067" y="2162556"/>
            <a:ext cx="11887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B27924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4227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13955" y="1545336"/>
            <a:ext cx="184343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1">
                <a:solidFill>
                  <a:srgbClr val="10504D"/>
                </a:solidFill>
                <a:latin typeface="Aptos"/>
              </a:rPr>
              <a:t>Gate /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2243" y="1947672"/>
            <a:ext cx="1806854" cy="117957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0">
                <a:solidFill>
                  <a:srgbClr val="60686C"/>
                </a:solidFill>
                <a:latin typeface="Aptos"/>
              </a:rPr>
              <a:t>Check convexity, step size,
and redetection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4545" y="2162556"/>
            <a:ext cx="11887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B27924"/>
                </a:solidFill>
                <a:latin typeface="Aptos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1705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1433" y="1545336"/>
            <a:ext cx="184343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1">
                <a:solidFill>
                  <a:srgbClr val="10504D"/>
                </a:solidFill>
                <a:latin typeface="Aptos"/>
              </a:rPr>
              <a:t>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9721" y="1947672"/>
            <a:ext cx="1806854" cy="117957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900" b="0">
                <a:solidFill>
                  <a:srgbClr val="60686C"/>
                </a:solidFill>
                <a:latin typeface="Aptos"/>
              </a:rPr>
              <a:t>Warp homography to
a fixed screen canvas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58768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Role of LK/RANSAC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4142231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>
                <a:solidFill>
                  <a:srgbClr val="1F262A"/>
                </a:solidFill>
                <a:latin typeface="Aptos"/>
              </a:rPr>
              <a:t>No longer determines the homography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00016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690872"/>
            <a:ext cx="4142231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Only diagnoses internal content-motion conflicts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1266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303520"/>
            <a:ext cx="4142231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A valid border quadrilateral remains the geometry estimate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9552" y="4224528"/>
            <a:ext cx="5394960" cy="1133856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0" y="4270248"/>
            <a:ext cx="5175504" cy="5943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The core change is evidence priority: boundary lines define geometry; interior texture only checks 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>
                <a:solidFill>
                  <a:srgbClr val="1F262A"/>
                </a:solidFill>
                <a:latin typeface="Aptos"/>
              </a:rPr>
              <a:t>The workflow separates borders, diagnostics, and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0936" y="1886820"/>
            <a:ext cx="10936224" cy="2279687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14252"/>
            <a:ext cx="10881360" cy="22248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8" y="5102352"/>
            <a:ext cx="10607040" cy="502920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152" y="5146019"/>
            <a:ext cx="10387584" cy="3477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LK/RANSAC is only a consistency diagnostic for internal content motion.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00244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>
                <a:solidFill>
                  <a:srgbClr val="1F262A"/>
                </a:solidFill>
                <a:latin typeface="Aptos"/>
              </a:rPr>
              <a:t>Evaluation covers five capture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610827"/>
              </p:ext>
            </p:extLst>
          </p:nvPr>
        </p:nvGraphicFramePr>
        <p:xfrm>
          <a:off x="6302070" y="972776"/>
          <a:ext cx="4419602" cy="2547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542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0504D"/>
                          </a:solidFill>
                          <a:latin typeface="Aptos"/>
                        </a:rPr>
                        <a:t>Capture condition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0504D"/>
                          </a:solidFill>
                          <a:latin typeface="Aptos"/>
                        </a:rPr>
                        <a:t>Collection clips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Static pages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Scrolling pages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Videos on screen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Weak-border scenes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Challenging scenes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6935" y="3487382"/>
            <a:ext cx="2623930" cy="33239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 dirty="0">
                <a:solidFill>
                  <a:srgbClr val="10504D"/>
                </a:solidFill>
                <a:latin typeface="Aptos"/>
              </a:rPr>
              <a:t>Main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6935" y="3770293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3823" y="3761149"/>
            <a:ext cx="455371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Corner RMSE: four-corner geometric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6935" y="4104048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3823" y="4094905"/>
            <a:ext cx="455371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Quadrilateral </a:t>
            </a:r>
            <a:r>
              <a:rPr sz="1800" b="0" dirty="0" err="1">
                <a:solidFill>
                  <a:srgbClr val="1F262A"/>
                </a:solidFill>
                <a:latin typeface="Aptos"/>
              </a:rPr>
              <a:t>IoU</a:t>
            </a:r>
            <a:r>
              <a:rPr sz="1800" b="0" dirty="0">
                <a:solidFill>
                  <a:srgbClr val="1F262A"/>
                </a:solidFill>
                <a:latin typeface="Aptos"/>
              </a:rPr>
              <a:t>: screen-region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6935" y="4542960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3823" y="4533817"/>
            <a:ext cx="455371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Translation variation: frame-to-frame trajectory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6935" y="5274480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3823" y="5265337"/>
            <a:ext cx="455371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Reference-based diagnostics check signal preservation, not the main ranking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07" y="6044184"/>
            <a:ext cx="10984727" cy="502920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9436" y="6089904"/>
            <a:ext cx="10874998" cy="3477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All methods use the same videos, initialization, output canvas, annotations, encoder, and metric code.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DB90F4-F492-3997-7106-0B466C208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31" y="1199586"/>
            <a:ext cx="3960143" cy="44588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37537312172b9c7eae0b15e259406e7.mp4">
            <a:hlinkClick r:id="" action="ppaction://media"/>
            <a:extLst>
              <a:ext uri="{FF2B5EF4-FFF2-40B4-BE49-F238E27FC236}">
                <a16:creationId xmlns:a16="http://schemas.microsoft.com/office/drawing/2014/main" id="{955C3DF3-AFA5-188D-E03C-5A4DACBB89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8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749a663bb12b13fe1871e12e6e12145.mp4">
            <a:hlinkClick r:id="" action="ppaction://media"/>
            <a:extLst>
              <a:ext uri="{FF2B5EF4-FFF2-40B4-BE49-F238E27FC236}">
                <a16:creationId xmlns:a16="http://schemas.microsoft.com/office/drawing/2014/main" id="{429C8A32-C698-01C0-0262-F2B2A973747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2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f936377c53631c432d64ea417d05db2.mp4">
            <a:hlinkClick r:id="" action="ppaction://media"/>
            <a:extLst>
              <a:ext uri="{FF2B5EF4-FFF2-40B4-BE49-F238E27FC236}">
                <a16:creationId xmlns:a16="http://schemas.microsoft.com/office/drawing/2014/main" id="{B677C17C-867A-6E3E-58A0-0D16E283D7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2039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2485536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lang="en-US" sz="3400" b="1" dirty="0">
                <a:solidFill>
                  <a:srgbClr val="1F262A"/>
                </a:solidFill>
                <a:latin typeface="Aptos"/>
              </a:rPr>
              <a:t>P</a:t>
            </a:r>
            <a:r>
              <a:rPr sz="3400" b="1" dirty="0">
                <a:solidFill>
                  <a:srgbClr val="1F262A"/>
                </a:solidFill>
                <a:latin typeface="Aptos"/>
              </a:rPr>
              <a:t>roposed method improves geometry and stability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0936" y="1763795"/>
            <a:ext cx="7370064" cy="291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2_overal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91227"/>
            <a:ext cx="7315200" cy="2864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94192" y="1417320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12766C"/>
                </a:solidFill>
                <a:latin typeface="Aptos"/>
              </a:rPr>
              <a:t>3.87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801368"/>
            <a:ext cx="274320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Proposed RMSE; baselines are around 30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816352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 dirty="0">
                <a:solidFill>
                  <a:srgbClr val="12766C"/>
                </a:solidFill>
                <a:latin typeface="Aptos"/>
              </a:rPr>
              <a:t>0.996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3200400"/>
            <a:ext cx="274320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highest quadrilateral IoU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3794760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12766C"/>
                </a:solidFill>
                <a:latin typeface="Aptos"/>
              </a:rPr>
              <a:t>2.45 px/frame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4178808"/>
            <a:ext cx="274320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lowest translation variation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5504688"/>
            <a:ext cx="10819340" cy="710582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5550407"/>
            <a:ext cx="10819340" cy="64017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Border-guided estimation stays close to the annotated physical display while reducing frame-to-frame trajectory variation.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339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1478370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 dirty="0">
                <a:solidFill>
                  <a:srgbClr val="1F262A"/>
                </a:solidFill>
                <a:latin typeface="Aptos"/>
              </a:rPr>
              <a:t>The largest gains occur on scrolling and weak-border clips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507673"/>
            <a:ext cx="7644384" cy="36506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3_categor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5105"/>
            <a:ext cx="7589520" cy="35957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349370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1340226"/>
            <a:ext cx="2633472" cy="60939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b="0" dirty="0">
                <a:solidFill>
                  <a:srgbClr val="1F262A"/>
                </a:solidFill>
                <a:latin typeface="Aptos"/>
              </a:rPr>
              <a:t>Scrolling pages: 2.87 </a:t>
            </a:r>
            <a:r>
              <a:rPr b="0" dirty="0" err="1">
                <a:solidFill>
                  <a:srgbClr val="1F262A"/>
                </a:solidFill>
                <a:latin typeface="Aptos"/>
              </a:rPr>
              <a:t>px</a:t>
            </a:r>
            <a:r>
              <a:rPr b="0" dirty="0">
                <a:solidFill>
                  <a:srgbClr val="1F262A"/>
                </a:solidFill>
                <a:latin typeface="Aptos"/>
              </a:rPr>
              <a:t>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2082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011680"/>
            <a:ext cx="2633472" cy="60939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b="0" dirty="0">
                <a:solidFill>
                  <a:srgbClr val="1F262A"/>
                </a:solidFill>
                <a:latin typeface="Aptos"/>
              </a:rPr>
              <a:t>Weak-border scenes: 9.35 </a:t>
            </a:r>
            <a:r>
              <a:rPr b="0" dirty="0" err="1">
                <a:solidFill>
                  <a:srgbClr val="1F262A"/>
                </a:solidFill>
                <a:latin typeface="Aptos"/>
              </a:rPr>
              <a:t>px</a:t>
            </a:r>
            <a:r>
              <a:rPr b="0" dirty="0">
                <a:solidFill>
                  <a:srgbClr val="1F262A"/>
                </a:solidFill>
                <a:latin typeface="Aptos"/>
              </a:rPr>
              <a:t>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637048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627904"/>
            <a:ext cx="2633472" cy="144039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b="0" dirty="0">
                <a:solidFill>
                  <a:srgbClr val="1F262A"/>
                </a:solidFill>
                <a:latin typeface="Aptos"/>
              </a:rPr>
              <a:t>In challenging clips, frame-wise detection is slightly lower, but the proposed trajectory is more stable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9912" y="4191202"/>
            <a:ext cx="2936417" cy="2264135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4236923"/>
            <a:ext cx="26609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10504D"/>
                </a:solidFill>
                <a:latin typeface="Aptos"/>
              </a:rPr>
              <a:t>Strong content motion and weak boundaries are where content-driven tracking fails most clearly, and where the border-guided design is most useful.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59" y="310896"/>
            <a:ext cx="11597639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 dirty="0">
                <a:solidFill>
                  <a:srgbClr val="1F262A"/>
                </a:solidFill>
                <a:latin typeface="Aptos"/>
              </a:rPr>
              <a:t>Per-clip results rule out a frozen-trajectory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3985" y="1088136"/>
            <a:ext cx="7621165" cy="4672583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4_cli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17" y="1115568"/>
            <a:ext cx="7566301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636776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1627632"/>
            <a:ext cx="240487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>
                <a:solidFill>
                  <a:srgbClr val="1F262A"/>
                </a:solidFill>
                <a:latin typeface="Aptos"/>
              </a:rPr>
              <a:t>Seven clips have median RMSE below 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514600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0264" y="2505456"/>
            <a:ext cx="240487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All evaluated clips remain below 15 </a:t>
            </a:r>
            <a:r>
              <a:rPr sz="1800" b="0" dirty="0" err="1">
                <a:solidFill>
                  <a:srgbClr val="1F262A"/>
                </a:solidFill>
                <a:latin typeface="Aptos"/>
              </a:rPr>
              <a:t>px</a:t>
            </a:r>
            <a:endParaRPr sz="1800" b="0" dirty="0">
              <a:solidFill>
                <a:srgbClr val="1F26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23376" y="3127248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0264" y="3118104"/>
            <a:ext cx="240487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The run held zero frames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0496" y="4151375"/>
            <a:ext cx="2834640" cy="1904867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0224" y="4197096"/>
            <a:ext cx="2615184" cy="7589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When the border is visible, the trajectory updates with the physical screen; conflict markers mainly indicate internal content motion.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1730162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 dirty="0">
                <a:solidFill>
                  <a:srgbClr val="1F262A"/>
                </a:solidFill>
                <a:latin typeface="Aptos"/>
              </a:rPr>
              <a:t>Ablation identifies physical border evidence as decisive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981669"/>
              </p:ext>
            </p:extLst>
          </p:nvPr>
        </p:nvGraphicFramePr>
        <p:xfrm>
          <a:off x="576071" y="1618488"/>
          <a:ext cx="85039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0504D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504D"/>
                          </a:solidFill>
                          <a:latin typeface="Aptos"/>
                        </a:rPr>
                        <a:t>Setting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504D"/>
                          </a:solidFill>
                          <a:latin typeface="Aptos"/>
                        </a:rPr>
                        <a:t>RMSE↓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504D"/>
                          </a:solidFill>
                          <a:latin typeface="Aptos"/>
                        </a:rPr>
                        <a:t>IoU↑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504D"/>
                          </a:solidFill>
                          <a:latin typeface="Aptos"/>
                        </a:rPr>
                        <a:t>Trans.↓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Proposed, profile</a:t>
                      </a:r>
                    </a:p>
                  </a:txBody>
                  <a:tcPr>
                    <a:solidFill>
                      <a:srgbClr val="DE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Full chain</a:t>
                      </a:r>
                    </a:p>
                  </a:txBody>
                  <a:tcPr>
                    <a:solidFill>
                      <a:srgbClr val="DE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3.253</a:t>
                      </a:r>
                    </a:p>
                  </a:txBody>
                  <a:tcPr>
                    <a:solidFill>
                      <a:srgbClr val="127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0.996038</a:t>
                      </a:r>
                    </a:p>
                  </a:txBody>
                  <a:tcPr>
                    <a:solidFill>
                      <a:srgbClr val="127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0.752</a:t>
                      </a:r>
                    </a:p>
                  </a:txBody>
                  <a:tcPr>
                    <a:solidFill>
                      <a:srgbClr val="1276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No trajectory filter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Window size = 1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0504D"/>
                          </a:solidFill>
                          <a:latin typeface="Aptos"/>
                        </a:rPr>
                        <a:t>2.932</a:t>
                      </a:r>
                    </a:p>
                  </a:txBody>
                  <a:tcPr>
                    <a:solidFill>
                      <a:srgbClr val="F8EA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0.996585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504D"/>
                          </a:solidFill>
                          <a:latin typeface="Aptos"/>
                        </a:rPr>
                        <a:t>1.430</a:t>
                      </a:r>
                    </a:p>
                  </a:txBody>
                  <a:tcPr>
                    <a:solidFill>
                      <a:srgbClr val="F8EA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No LK diagnostic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Disable content-motion check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3.253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0.996038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0.752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No physical border</a:t>
                      </a:r>
                    </a:p>
                  </a:txBody>
                  <a:tcPr>
                    <a:solidFill>
                      <a:srgbClr val="F8E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Adjacent-frame optical flow</a:t>
                      </a:r>
                    </a:p>
                  </a:txBody>
                  <a:tcPr>
                    <a:solidFill>
                      <a:srgbClr val="F8E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76.114</a:t>
                      </a:r>
                    </a:p>
                  </a:txBody>
                  <a:tcPr>
                    <a:solidFill>
                      <a:srgbClr val="9A38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0.916022</a:t>
                      </a:r>
                    </a:p>
                  </a:txBody>
                  <a:tcPr>
                    <a:solidFill>
                      <a:srgbClr val="9A38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2.205</a:t>
                      </a:r>
                    </a:p>
                  </a:txBody>
                  <a:tcPr>
                    <a:solidFill>
                      <a:srgbClr val="9A38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LSD border observation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Replace profile sampler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3.604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0.995716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0.961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Hough border observation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Replace profile sampler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A382F"/>
                          </a:solidFill>
                          <a:latin typeface="Aptos"/>
                        </a:rPr>
                        <a:t>27.335</a:t>
                      </a:r>
                    </a:p>
                  </a:txBody>
                  <a:tcPr>
                    <a:solidFill>
                      <a:srgbClr val="F8E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62A"/>
                          </a:solidFill>
                          <a:latin typeface="Aptos"/>
                        </a:rPr>
                        <a:t>0.974200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262A"/>
                          </a:solidFill>
                          <a:latin typeface="Aptos"/>
                        </a:rPr>
                        <a:t>0.897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89720" y="1572768"/>
            <a:ext cx="2331720" cy="2681180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99448" y="1618488"/>
            <a:ext cx="2112263" cy="1719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Key readout: removing border evidence breaks geometry; smoothing trades a slightly lower RMSE for worse frame-to-frame stability.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59" y="310896"/>
            <a:ext cx="11253083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 dirty="0">
                <a:solidFill>
                  <a:srgbClr val="1F262A"/>
                </a:solidFill>
                <a:latin typeface="Aptos"/>
              </a:rPr>
              <a:t>Qualitative examples show more stable screen extent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8384" y="1088136"/>
            <a:ext cx="5412516" cy="4396044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5392" y="1545336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79" y="1536192"/>
            <a:ext cx="418795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Scrolling and weak-border examples show the clearest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327148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 dirty="0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2318004"/>
            <a:ext cx="418795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Content-driven methods can shift or crop the screen extent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3017520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 dirty="0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79" y="3008376"/>
            <a:ext cx="418795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Static pages and screen-video examples remain readable, but proposed alignment is steadier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5392" y="4251960"/>
            <a:ext cx="4315968" cy="140671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4096511" cy="122495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Use this figure to inspect output extent and boundary alignment</a:t>
            </a:r>
            <a:r>
              <a:rPr lang="en-US" altLang="zh-CN" sz="1900" b="0" dirty="0">
                <a:solidFill>
                  <a:srgbClr val="10504D"/>
                </a:solidFill>
                <a:latin typeface="Aptos"/>
              </a:rPr>
              <a:t>.</a:t>
            </a:r>
            <a:endParaRPr lang="en-US" sz="1900" dirty="0">
              <a:solidFill>
                <a:srgbClr val="10504D"/>
              </a:solidFill>
              <a:latin typeface="Aptos"/>
            </a:endParaRPr>
          </a:p>
          <a:p>
            <a:pPr algn="l"/>
            <a:r>
              <a:rPr lang="en-US" sz="1900" dirty="0">
                <a:solidFill>
                  <a:srgbClr val="10504D"/>
                </a:solidFill>
                <a:latin typeface="Aptos"/>
              </a:rPr>
              <a:t>T</a:t>
            </a:r>
            <a:r>
              <a:rPr sz="1900" b="0" dirty="0">
                <a:solidFill>
                  <a:srgbClr val="10504D"/>
                </a:solidFill>
                <a:latin typeface="Aptos"/>
              </a:rPr>
              <a:t>he quantitative conclusions come from the preceding metrics.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697349-BDDF-8F26-273F-94D323723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19" r="6826" b="1448"/>
          <a:stretch>
            <a:fillRect/>
          </a:stretch>
        </p:blipFill>
        <p:spPr>
          <a:xfrm>
            <a:off x="540963" y="1154363"/>
            <a:ext cx="5679937" cy="43298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>
                <a:solidFill>
                  <a:srgbClr val="1F262A"/>
                </a:solidFill>
                <a:latin typeface="Aptos"/>
              </a:rPr>
              <a:t>Signal diagnostics support the geometry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9924" y="1051560"/>
            <a:ext cx="7046407" cy="4855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3648" y="1600200"/>
            <a:ext cx="219456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B27924"/>
                </a:solidFill>
                <a:latin typeface="Aptos"/>
              </a:rPr>
              <a:t>0.890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1984248"/>
            <a:ext cx="21945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SSIM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633472"/>
            <a:ext cx="219456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B27924"/>
                </a:solidFill>
                <a:latin typeface="Aptos"/>
              </a:rPr>
              <a:t>0.930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17520"/>
            <a:ext cx="21945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>
                <a:solidFill>
                  <a:srgbClr val="60686C"/>
                </a:solidFill>
                <a:latin typeface="Aptos"/>
              </a:rPr>
              <a:t>gradient-map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666744"/>
            <a:ext cx="219456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000" b="1">
                <a:solidFill>
                  <a:srgbClr val="B27924"/>
                </a:solidFill>
                <a:latin typeface="Aptos"/>
              </a:rPr>
              <a:t>0.952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050791"/>
            <a:ext cx="21945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60686C"/>
                </a:solidFill>
                <a:latin typeface="Aptos"/>
              </a:rPr>
              <a:t>edge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196" y="5956587"/>
            <a:ext cx="10378440" cy="740664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924" y="6002306"/>
            <a:ext cx="1015898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These diagnostics measure captured-signal preservation after geometric normalization; they do not measure </a:t>
            </a:r>
            <a:r>
              <a:rPr sz="1900" b="0" dirty="0" err="1">
                <a:solidFill>
                  <a:srgbClr val="10504D"/>
                </a:solidFill>
                <a:latin typeface="Aptos"/>
              </a:rPr>
              <a:t>demoireing</a:t>
            </a:r>
            <a:r>
              <a:rPr sz="1900" b="0" dirty="0">
                <a:solidFill>
                  <a:srgbClr val="10504D"/>
                </a:solidFill>
                <a:latin typeface="Aptos"/>
              </a:rPr>
              <a:t> and do not define the main ranking.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26E34AB-B312-3CC7-69FC-B4AC7D49F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924" y="1232916"/>
            <a:ext cx="655320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59" y="310896"/>
            <a:ext cx="12763831" cy="5786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lang="en-US" altLang="zh-CN" sz="3400" b="1" dirty="0">
                <a:solidFill>
                  <a:srgbClr val="1F262A"/>
                </a:solidFill>
                <a:latin typeface="Aptos"/>
              </a:rPr>
              <a:t>P</a:t>
            </a:r>
            <a:r>
              <a:rPr sz="3400" b="1" dirty="0">
                <a:solidFill>
                  <a:srgbClr val="1F262A"/>
                </a:solidFill>
                <a:latin typeface="Aptos"/>
              </a:rPr>
              <a:t>rioritize the screen border over content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39" y="1481328"/>
            <a:ext cx="2668325" cy="33239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 dirty="0">
                <a:solidFill>
                  <a:srgbClr val="10504D"/>
                </a:solidFill>
                <a:latin typeface="Aptos"/>
              </a:rPr>
              <a:t>Main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83663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74519"/>
            <a:ext cx="49651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F262A"/>
                </a:solidFill>
                <a:latin typeface="Aptos"/>
              </a:rPr>
              <a:t>Physical borders avoid content-driven </a:t>
            </a:r>
            <a:r>
              <a:rPr sz="1900" b="0" dirty="0" err="1">
                <a:solidFill>
                  <a:srgbClr val="1F262A"/>
                </a:solidFill>
                <a:latin typeface="Aptos"/>
              </a:rPr>
              <a:t>homography</a:t>
            </a:r>
            <a:r>
              <a:rPr sz="1900" b="0" dirty="0">
                <a:solidFill>
                  <a:srgbClr val="1F262A"/>
                </a:solidFill>
                <a:latin typeface="Aptos"/>
              </a:rPr>
              <a:t>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4306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45163"/>
            <a:ext cx="49651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F262A"/>
                </a:solidFill>
                <a:latin typeface="Aptos"/>
              </a:rPr>
              <a:t>The method reaches 3.87 </a:t>
            </a:r>
            <a:r>
              <a:rPr sz="1900" b="0" dirty="0" err="1">
                <a:solidFill>
                  <a:srgbClr val="1F262A"/>
                </a:solidFill>
                <a:latin typeface="Aptos"/>
              </a:rPr>
              <a:t>px</a:t>
            </a:r>
            <a:r>
              <a:rPr sz="1900" b="0" dirty="0">
                <a:solidFill>
                  <a:srgbClr val="1F262A"/>
                </a:solidFill>
                <a:latin typeface="Aptos"/>
              </a:rPr>
              <a:t> RMSE and 0.996 </a:t>
            </a:r>
            <a:r>
              <a:rPr sz="1900" b="0" dirty="0" err="1">
                <a:solidFill>
                  <a:srgbClr val="1F262A"/>
                </a:solidFill>
                <a:latin typeface="Aptos"/>
              </a:rPr>
              <a:t>IoU</a:t>
            </a:r>
            <a:r>
              <a:rPr sz="1900" b="0" dirty="0">
                <a:solidFill>
                  <a:srgbClr val="1F262A"/>
                </a:solidFill>
                <a:latin typeface="Aptos"/>
              </a:rPr>
              <a:t> on ten annotated clips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19854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410711"/>
            <a:ext cx="49651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F262A"/>
                </a:solidFill>
                <a:latin typeface="Aptos"/>
              </a:rPr>
              <a:t>Scrolling pages and weak-border scenes show the largest gains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3015532" cy="33239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 dirty="0">
                <a:solidFill>
                  <a:srgbClr val="10504D"/>
                </a:solidFill>
                <a:latin typeface="Aptos"/>
              </a:rPr>
              <a:t>Boundary and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83663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874519"/>
            <a:ext cx="42793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>
                <a:solidFill>
                  <a:srgbClr val="1F262A"/>
                </a:solidFill>
                <a:latin typeface="Aptos"/>
              </a:rPr>
              <a:t>Depends on visible boundary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22575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313432"/>
            <a:ext cx="42793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>
                <a:solidFill>
                  <a:srgbClr val="1F262A"/>
                </a:solidFill>
                <a:latin typeface="Aptos"/>
              </a:rPr>
              <a:t>Reflections, occlusion, or low contrast can weaken the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03802"/>
            <a:ext cx="1645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0504D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994659"/>
            <a:ext cx="4279392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dirty="0">
                <a:solidFill>
                  <a:srgbClr val="1F262A"/>
                </a:solidFill>
                <a:latin typeface="Aptos"/>
              </a:rPr>
              <a:t>Stronger boundary models and denser annotations are the most direct improvements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5257799"/>
            <a:ext cx="10149840" cy="891209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5303520"/>
            <a:ext cx="993038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0" dirty="0">
                <a:solidFill>
                  <a:srgbClr val="10504D"/>
                </a:solidFill>
                <a:latin typeface="Aptos"/>
              </a:rPr>
              <a:t>This work is the geometric front end for captured-screen preprocessing, providing a more reliable screen plane for downstream OCR, reading restoration, or </a:t>
            </a:r>
            <a:r>
              <a:rPr sz="1900" b="0" dirty="0" err="1">
                <a:solidFill>
                  <a:srgbClr val="10504D"/>
                </a:solidFill>
                <a:latin typeface="Aptos"/>
              </a:rPr>
              <a:t>demoireing</a:t>
            </a:r>
            <a:r>
              <a:rPr sz="1900" b="0" dirty="0">
                <a:solidFill>
                  <a:srgbClr val="10504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"/>
            <a:ext cx="12192000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73152" cy="502920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658368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400" b="1">
                <a:solidFill>
                  <a:srgbClr val="1D2B2A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603504"/>
            <a:ext cx="4114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dirty="0">
                <a:solidFill>
                  <a:srgbClr val="7A8484"/>
                </a:solidFill>
                <a:latin typeface="Aptos"/>
              </a:rPr>
              <a:t>Full manuscript bibliography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1018520" cy="32004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285232" cy="498348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dirty="0">
                <a:solidFill>
                  <a:srgbClr val="4C5858"/>
                </a:solidFill>
                <a:latin typeface="Aptos"/>
              </a:rPr>
              <a:t>1. L. Jagannathan and C. V. Jawahar, "Perspective Correction Methods for Camera-Based Document Analysis," 2005.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dirty="0">
                <a:solidFill>
                  <a:srgbClr val="4C5858"/>
                </a:solidFill>
                <a:latin typeface="Aptos"/>
              </a:rPr>
              <a:t>2. X.-C. Yin, J. Sun, S. Naoi, Y. Fujii, and K. Fujimoto, "Perspective Rectification for Mobile Phone Camera-Based Documents Using a Hybrid Approach to Vanishing Point Detection," 2007.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dirty="0">
                <a:solidFill>
                  <a:srgbClr val="4C5858"/>
                </a:solidFill>
                <a:latin typeface="Aptos"/>
              </a:rPr>
              <a:t>3. Williem, C. Simon, S. Cho, and I. K. Park, "Fast and Robust Perspective Rectification of Document Images on a Smartphone," CVPR Workshops, 2014.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dirty="0">
                <a:solidFill>
                  <a:srgbClr val="4C5858"/>
                </a:solidFill>
                <a:latin typeface="Aptos"/>
              </a:rPr>
              <a:t>4. T. </a:t>
            </a:r>
            <a:r>
              <a:rPr dirty="0" err="1">
                <a:solidFill>
                  <a:srgbClr val="4C5858"/>
                </a:solidFill>
                <a:latin typeface="Aptos"/>
              </a:rPr>
              <a:t>Okatani</a:t>
            </a:r>
            <a:r>
              <a:rPr dirty="0">
                <a:solidFill>
                  <a:srgbClr val="4C5858"/>
                </a:solidFill>
                <a:latin typeface="Aptos"/>
              </a:rPr>
              <a:t> and K. Deguchi, "Autocalibration of a Projector-Screen-Camera System: Theory and Algorithm for Screen-to-Camera </a:t>
            </a:r>
            <a:r>
              <a:rPr dirty="0" err="1">
                <a:solidFill>
                  <a:srgbClr val="4C5858"/>
                </a:solidFill>
                <a:latin typeface="Aptos"/>
              </a:rPr>
              <a:t>Homography</a:t>
            </a:r>
            <a:r>
              <a:rPr dirty="0">
                <a:solidFill>
                  <a:srgbClr val="4C5858"/>
                </a:solidFill>
                <a:latin typeface="Aptos"/>
              </a:rPr>
              <a:t> Estimation," ICCV, 2003.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dirty="0">
                <a:solidFill>
                  <a:srgbClr val="4C5858"/>
                </a:solidFill>
                <a:latin typeface="Aptos"/>
              </a:rPr>
              <a:t>5. B. D. Lucas and T. Kanade, "An Iterative Image Registration Technique with an Application to Stereo Vision," 1981.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dirty="0">
                <a:solidFill>
                  <a:srgbClr val="4C5858"/>
                </a:solidFill>
                <a:latin typeface="Aptos"/>
              </a:rPr>
              <a:t>6. J.-Y. </a:t>
            </a:r>
            <a:r>
              <a:rPr dirty="0" err="1">
                <a:solidFill>
                  <a:srgbClr val="4C5858"/>
                </a:solidFill>
                <a:latin typeface="Aptos"/>
              </a:rPr>
              <a:t>Bouguet</a:t>
            </a:r>
            <a:r>
              <a:rPr dirty="0">
                <a:solidFill>
                  <a:srgbClr val="4C5858"/>
                </a:solidFill>
                <a:latin typeface="Aptos"/>
              </a:rPr>
              <a:t>, "Pyramidal Implementation of the Lucas Kanade Feature Tracker," Intel Corporation, 2000.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dirty="0">
                <a:solidFill>
                  <a:srgbClr val="4C5858"/>
                </a:solidFill>
                <a:latin typeface="Aptos"/>
              </a:rPr>
              <a:t>7. J. Shi and C. Tomasi, "Good Features to Track," CVPR, 1994.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417320"/>
            <a:ext cx="5285232" cy="4983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sz="1700" dirty="0">
                <a:solidFill>
                  <a:srgbClr val="4C5858"/>
                </a:solidFill>
                <a:latin typeface="Aptos"/>
              </a:rPr>
              <a:t>8. P. H. S. Torr and A. Zisserman, "MLESAC: A New Robust Estimator with Application to Estimating Image Geometry," Computer Vision and Image Understanding, 2000.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sz="1700" dirty="0">
                <a:solidFill>
                  <a:srgbClr val="4C5858"/>
                </a:solidFill>
                <a:latin typeface="Aptos"/>
              </a:rPr>
              <a:t>9. M. Grundmann, V. Kwatra, and I. Essa, "Auto-Directed Video Stabilization with Robust L1 Optimal Camera Paths," CVPR, 2011.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sz="1700" dirty="0">
                <a:solidFill>
                  <a:srgbClr val="4C5858"/>
                </a:solidFill>
                <a:latin typeface="Aptos"/>
              </a:rPr>
              <a:t>10. W. </a:t>
            </a:r>
            <a:r>
              <a:rPr sz="1700" dirty="0" err="1">
                <a:solidFill>
                  <a:srgbClr val="4C5858"/>
                </a:solidFill>
                <a:latin typeface="Aptos"/>
              </a:rPr>
              <a:t>Guilluy</a:t>
            </a:r>
            <a:r>
              <a:rPr sz="1700" dirty="0">
                <a:solidFill>
                  <a:srgbClr val="4C5858"/>
                </a:solidFill>
                <a:latin typeface="Aptos"/>
              </a:rPr>
              <a:t>, A. </a:t>
            </a:r>
            <a:r>
              <a:rPr sz="1700" dirty="0" err="1">
                <a:solidFill>
                  <a:srgbClr val="4C5858"/>
                </a:solidFill>
                <a:latin typeface="Aptos"/>
              </a:rPr>
              <a:t>Beghdadi</a:t>
            </a:r>
            <a:r>
              <a:rPr sz="1700" dirty="0">
                <a:solidFill>
                  <a:srgbClr val="4C5858"/>
                </a:solidFill>
                <a:latin typeface="Aptos"/>
              </a:rPr>
              <a:t>, and L. </a:t>
            </a:r>
            <a:r>
              <a:rPr sz="1700" dirty="0" err="1">
                <a:solidFill>
                  <a:srgbClr val="4C5858"/>
                </a:solidFill>
                <a:latin typeface="Aptos"/>
              </a:rPr>
              <a:t>Oudre</a:t>
            </a:r>
            <a:r>
              <a:rPr sz="1700" dirty="0">
                <a:solidFill>
                  <a:srgbClr val="4C5858"/>
                </a:solidFill>
                <a:latin typeface="Aptos"/>
              </a:rPr>
              <a:t>, "A Performance Evaluation Framework for Video Stabilization Methods," EUVIP, 2018.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sz="1700" dirty="0">
                <a:solidFill>
                  <a:srgbClr val="4C5858"/>
                </a:solidFill>
                <a:latin typeface="Aptos"/>
              </a:rPr>
              <a:t>11. P. Dai, X. Yu, L. Ma, B. Zhang, J. Li, W. Li, J. Shen, and X. Qi, "Video </a:t>
            </a:r>
            <a:r>
              <a:rPr sz="1700" dirty="0" err="1">
                <a:solidFill>
                  <a:srgbClr val="4C5858"/>
                </a:solidFill>
                <a:latin typeface="Aptos"/>
              </a:rPr>
              <a:t>Demoireing</a:t>
            </a:r>
            <a:r>
              <a:rPr sz="1700" dirty="0">
                <a:solidFill>
                  <a:srgbClr val="4C5858"/>
                </a:solidFill>
                <a:latin typeface="Aptos"/>
              </a:rPr>
              <a:t> with Relation-Based Temporal Consistency," CVPR, 2022.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sz="1700" dirty="0">
                <a:solidFill>
                  <a:srgbClr val="4C5858"/>
                </a:solidFill>
                <a:latin typeface="Aptos"/>
              </a:rPr>
              <a:t>12. S. Xu, B. Song, X. Chen, and J. Zhou, "Direction-Aware Video </a:t>
            </a:r>
            <a:r>
              <a:rPr sz="1700" dirty="0" err="1">
                <a:solidFill>
                  <a:srgbClr val="4C5858"/>
                </a:solidFill>
                <a:latin typeface="Aptos"/>
              </a:rPr>
              <a:t>Demoireing</a:t>
            </a:r>
            <a:r>
              <a:rPr sz="1700" dirty="0">
                <a:solidFill>
                  <a:srgbClr val="4C5858"/>
                </a:solidFill>
                <a:latin typeface="Aptos"/>
              </a:rPr>
              <a:t> with Temporal-Guided Bilateral Learning," AAAI, 2024.</a:t>
            </a:r>
          </a:p>
          <a:p>
            <a:pPr algn="l">
              <a:lnSpc>
                <a:spcPct val="92000"/>
              </a:lnSpc>
              <a:spcAft>
                <a:spcPts val="350"/>
              </a:spcAft>
            </a:pPr>
            <a:r>
              <a:rPr sz="1700" dirty="0">
                <a:solidFill>
                  <a:srgbClr val="4C5858"/>
                </a:solidFill>
                <a:latin typeface="Aptos"/>
              </a:rPr>
              <a:t>13. H. Yue, Y. Cheng, X. Liu, and J. Yang, "Recaptured Raw Screen Image and Video </a:t>
            </a:r>
            <a:r>
              <a:rPr sz="1700" dirty="0" err="1">
                <a:solidFill>
                  <a:srgbClr val="4C5858"/>
                </a:solidFill>
                <a:latin typeface="Aptos"/>
              </a:rPr>
              <a:t>Demoireing</a:t>
            </a:r>
            <a:r>
              <a:rPr sz="1700" dirty="0">
                <a:solidFill>
                  <a:srgbClr val="4C5858"/>
                </a:solidFill>
                <a:latin typeface="Aptos"/>
              </a:rPr>
              <a:t> via Channel and Spatial Modulations," </a:t>
            </a:r>
            <a:r>
              <a:rPr sz="1700" dirty="0" err="1">
                <a:solidFill>
                  <a:srgbClr val="4C5858"/>
                </a:solidFill>
                <a:latin typeface="Aptos"/>
              </a:rPr>
              <a:t>NeurIPS</a:t>
            </a:r>
            <a:r>
              <a:rPr sz="1700" dirty="0">
                <a:solidFill>
                  <a:srgbClr val="4C5858"/>
                </a:solidFill>
                <a:latin typeface="Aptos"/>
              </a:rPr>
              <a:t>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1314</Words>
  <Application>Microsoft Macintosh PowerPoint</Application>
  <PresentationFormat>Widescreen</PresentationFormat>
  <Paragraphs>207</Paragraphs>
  <Slides>17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Rongshuo Wen (SME,124020369)</cp:lastModifiedBy>
  <cp:revision>9</cp:revision>
  <dcterms:created xsi:type="dcterms:W3CDTF">2013-01-27T09:14:16Z</dcterms:created>
  <dcterms:modified xsi:type="dcterms:W3CDTF">2026-07-14T14:52:12Z</dcterms:modified>
  <cp:category/>
</cp:coreProperties>
</file>