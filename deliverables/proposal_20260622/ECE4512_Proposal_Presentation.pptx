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6" y="3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rui Liu (SSE,124090375)" userId="0be6394b-af05-49ef-a04f-0c6672416b69" providerId="ADAL" clId="{4812C8C9-5342-4D5B-A32E-9E4AB09786BE}"/>
    <pc:docChg chg="undo custSel modSld">
      <pc:chgData name="Mingrui Liu (SSE,124090375)" userId="0be6394b-af05-49ef-a04f-0c6672416b69" providerId="ADAL" clId="{4812C8C9-5342-4D5B-A32E-9E4AB09786BE}" dt="2026-06-22T13:27:51.724" v="11" actId="11529"/>
      <pc:docMkLst>
        <pc:docMk/>
      </pc:docMkLst>
      <pc:sldChg chg="addSp delSp modSp mod">
        <pc:chgData name="Mingrui Liu (SSE,124090375)" userId="0be6394b-af05-49ef-a04f-0c6672416b69" providerId="ADAL" clId="{4812C8C9-5342-4D5B-A32E-9E4AB09786BE}" dt="2026-06-22T13:27:51.724" v="11" actId="11529"/>
        <pc:sldMkLst>
          <pc:docMk/>
          <pc:sldMk cId="0" sldId="258"/>
        </pc:sldMkLst>
        <pc:spChg chg="mod">
          <ac:chgData name="Mingrui Liu (SSE,124090375)" userId="0be6394b-af05-49ef-a04f-0c6672416b69" providerId="ADAL" clId="{4812C8C9-5342-4D5B-A32E-9E4AB09786BE}" dt="2026-06-22T13:22:36.893" v="2" actId="1076"/>
          <ac:spMkLst>
            <pc:docMk/>
            <pc:sldMk cId="0" sldId="258"/>
            <ac:spMk id="51" creationId="{00000000-0000-0000-0000-000000000000}"/>
          </ac:spMkLst>
        </pc:spChg>
        <pc:spChg chg="mod">
          <ac:chgData name="Mingrui Liu (SSE,124090375)" userId="0be6394b-af05-49ef-a04f-0c6672416b69" providerId="ADAL" clId="{4812C8C9-5342-4D5B-A32E-9E4AB09786BE}" dt="2026-06-22T13:22:36.893" v="2" actId="1076"/>
          <ac:spMkLst>
            <pc:docMk/>
            <pc:sldMk cId="0" sldId="258"/>
            <ac:spMk id="52" creationId="{00000000-0000-0000-0000-000000000000}"/>
          </ac:spMkLst>
        </pc:spChg>
        <pc:spChg chg="mod">
          <ac:chgData name="Mingrui Liu (SSE,124090375)" userId="0be6394b-af05-49ef-a04f-0c6672416b69" providerId="ADAL" clId="{4812C8C9-5342-4D5B-A32E-9E4AB09786BE}" dt="2026-06-22T13:22:42.874" v="3" actId="1076"/>
          <ac:spMkLst>
            <pc:docMk/>
            <pc:sldMk cId="0" sldId="258"/>
            <ac:spMk id="53" creationId="{00000000-0000-0000-0000-000000000000}"/>
          </ac:spMkLst>
        </pc:spChg>
        <pc:spChg chg="add del mod">
          <ac:chgData name="Mingrui Liu (SSE,124090375)" userId="0be6394b-af05-49ef-a04f-0c6672416b69" providerId="ADAL" clId="{4812C8C9-5342-4D5B-A32E-9E4AB09786BE}" dt="2026-06-22T13:27:51.724" v="11" actId="11529"/>
          <ac:spMkLst>
            <pc:docMk/>
            <pc:sldMk cId="0" sldId="258"/>
            <ac:spMk id="95" creationId="{2192C499-A623-E3EA-52D5-73F9B30078DA}"/>
          </ac:spMkLst>
        </pc:spChg>
        <pc:cxnChg chg="mod">
          <ac:chgData name="Mingrui Liu (SSE,124090375)" userId="0be6394b-af05-49ef-a04f-0c6672416b69" providerId="ADAL" clId="{4812C8C9-5342-4D5B-A32E-9E4AB09786BE}" dt="2026-06-22T13:22:36.893" v="2" actId="1076"/>
          <ac:cxnSpMkLst>
            <pc:docMk/>
            <pc:sldMk cId="0" sldId="258"/>
            <ac:cxnSpMk id="50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1F57C4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0408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696" b="1" i="0">
                <a:solidFill>
                  <a:srgbClr val="1A1A1A"/>
                </a:solidFill>
                <a:latin typeface="Calibri"/>
              </a:rPr>
              <a:t>Screen Capture Rectification 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696" b="1" i="0">
                <a:solidFill>
                  <a:srgbClr val="1A1A1A"/>
                </a:solidFill>
                <a:latin typeface="Calibri"/>
              </a:rPr>
              <a:t>Temporal Stabilization for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3696" b="1" i="0">
                <a:solidFill>
                  <a:srgbClr val="1A1A1A"/>
                </a:solidFill>
                <a:latin typeface="Calibri"/>
              </a:rPr>
              <a:t>Real-world Captured-screen Videos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6949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24" b="1" i="0">
                <a:solidFill>
                  <a:srgbClr val="1A1A1A"/>
                </a:solidFill>
                <a:latin typeface="Calibri"/>
              </a:rPr>
              <a:t>Rongshuo Wen</a:t>
            </a:r>
            <a:r>
              <a:rPr sz="1456" b="0" i="0">
                <a:solidFill>
                  <a:srgbClr val="555B66"/>
                </a:solidFill>
                <a:latin typeface="Calibri"/>
              </a:rPr>
              <a:t>  124020369      </a:t>
            </a:r>
            <a:r>
              <a:rPr sz="1624" b="1" i="0">
                <a:solidFill>
                  <a:srgbClr val="1A1A1A"/>
                </a:solidFill>
                <a:latin typeface="Calibri"/>
              </a:rPr>
              <a:t>Bihua Wen</a:t>
            </a:r>
            <a:r>
              <a:rPr sz="1456" b="0" i="0">
                <a:solidFill>
                  <a:srgbClr val="555B66"/>
                </a:solidFill>
                <a:latin typeface="Calibri"/>
              </a:rPr>
              <a:t>  124090670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24" b="1" i="0">
                <a:solidFill>
                  <a:srgbClr val="1A1A1A"/>
                </a:solidFill>
                <a:latin typeface="Calibri"/>
              </a:rPr>
              <a:t>Mingrui Liu</a:t>
            </a:r>
            <a:r>
              <a:rPr sz="1456" b="0" i="0">
                <a:solidFill>
                  <a:srgbClr val="555B66"/>
                </a:solidFill>
                <a:latin typeface="Calibri"/>
              </a:rPr>
              <a:t>  124090375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7040880" cy="233172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65836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24" b="1" i="0">
                <a:solidFill>
                  <a:srgbClr val="1F57C4"/>
                </a:solidFill>
                <a:latin typeface="Calibri"/>
              </a:rPr>
              <a:t>Motivation.  </a:t>
            </a:r>
            <a:r>
              <a:rPr sz="1624" b="0" i="0">
                <a:solidFill>
                  <a:srgbClr val="1A1A1A"/>
                </a:solidFill>
                <a:latin typeface="Calibri"/>
              </a:rPr>
              <a:t>Screen demoiréing and screen-image restoration show captured-screen content is a real image-processing problem — yet most datasets start after the screen is already cropped, aligned, or paired with a clean reference.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24" b="0" i="0">
                <a:solidFill>
                  <a:srgbClr val="1A1A1A"/>
                </a:solidFill>
                <a:latin typeface="Calibri"/>
              </a:rPr>
              <a:t>Real phone-captured video is far less controlled: background clutter, perspective tilt, hand-held shake, weak borders, glare, moiré, and dynamic on-screen content. We tackle this </a:t>
            </a:r>
            <a:r>
              <a:rPr sz="1624" b="1" i="0">
                <a:solidFill>
                  <a:srgbClr val="1A1A1A"/>
                </a:solidFill>
                <a:latin typeface="Calibri"/>
              </a:rPr>
              <a:t>missing geometric preprocessing step</a:t>
            </a:r>
            <a:r>
              <a:rPr sz="1624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pic>
        <p:nvPicPr>
          <p:cNvPr id="7" name="Picture 6" descr="comparison_4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693783"/>
            <a:ext cx="3886200" cy="1092993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909560" y="285292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Our stage:  handheld capture  →  rectified screen</a:t>
            </a:r>
          </a:p>
        </p:txBody>
      </p:sp>
      <p:pic>
        <p:nvPicPr>
          <p:cNvPr id="9" name="Picture 8" descr="downstream_demo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466321"/>
            <a:ext cx="3886200" cy="1251238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909560" y="4828032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Downstream enabled:  video demoiréing on the stable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5175504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555B66"/>
                </a:solidFill>
                <a:latin typeface="Calibri"/>
              </a:rPr>
              <a:t>This project is the geometry stage BEFORE restoration: locate, rectify, and stabilize the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THE GAP WE FILL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A1A1A"/>
                </a:solidFill>
                <a:latin typeface="Calibri"/>
              </a:rPr>
              <a:t>Problem &amp;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822960" cy="38100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92" b="1" i="0">
                <a:solidFill>
                  <a:srgbClr val="1F57C4"/>
                </a:solidFill>
                <a:latin typeface="Calibri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10512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68" b="0" i="0">
                <a:solidFill>
                  <a:srgbClr val="1A1A1A"/>
                </a:solidFill>
                <a:latin typeface="Calibri"/>
              </a:rPr>
              <a:t>▸  Downstream restoration assumes the screen is already cropped &amp; aligned.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68" b="0" i="0">
                <a:solidFill>
                  <a:srgbClr val="1A1A1A"/>
                </a:solidFill>
                <a:latin typeface="Calibri"/>
              </a:rPr>
              <a:t>▸  Real handheld video has off-screen background, perspective tilt, and frame-to-frame jitter.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68" b="0" i="0">
                <a:solidFill>
                  <a:srgbClr val="1A1A1A"/>
                </a:solidFill>
                <a:latin typeface="Calibri"/>
              </a:rPr>
              <a:t>▸  Weak borders, glare and moiré make a single frame-by-frame detector unstable.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77639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50749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1" i="0">
                <a:solidFill>
                  <a:srgbClr val="1F57C4"/>
                </a:solidFill>
                <a:latin typeface="Calibri"/>
              </a:rPr>
              <a:t>Goal.  </a:t>
            </a:r>
            <a:r>
              <a:rPr sz="1568" b="0" i="0">
                <a:solidFill>
                  <a:srgbClr val="1A1A1A"/>
                </a:solidFill>
                <a:latin typeface="Calibri"/>
              </a:rPr>
              <a:t>Continuously estimate the screen plane and render its content as a front-facing video that: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12" b="0" i="0">
                <a:solidFill>
                  <a:srgbClr val="1A1A1A"/>
                </a:solidFill>
                <a:latin typeface="Calibri"/>
              </a:rPr>
              <a:t>•  suppresses non-screen background &amp; perspective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12" b="0" i="0">
                <a:solidFill>
                  <a:srgbClr val="1A1A1A"/>
                </a:solidFill>
                <a:latin typeface="Calibri"/>
              </a:rPr>
              <a:t>•  reduces hand-held jitter while keeping true content motion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12" b="0" i="0">
                <a:solidFill>
                  <a:srgbClr val="1A1A1A"/>
                </a:solidFill>
                <a:latin typeface="Calibri"/>
              </a:rPr>
              <a:t>•  preserves physical aspect ratio  (default 1920×1080)</a:t>
            </a:r>
          </a:p>
        </p:txBody>
      </p:sp>
      <p:pic>
        <p:nvPicPr>
          <p:cNvPr id="9" name="Picture 8" descr="comparison_term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08183"/>
            <a:ext cx="5349240" cy="1504473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0" y="521208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Same frame: raw handheld input  →  rectified, stable screen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APPROACH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A1A1A"/>
                </a:solidFill>
                <a:latin typeface="Calibri"/>
              </a:rPr>
              <a:t>Method — Geometric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822960" cy="38100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81328"/>
            <a:ext cx="1726692" cy="228600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2032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600200"/>
            <a:ext cx="15803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57C4"/>
                </a:solidFill>
                <a:latin typeface="Calibri"/>
              </a:rPr>
              <a:t>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1360932" cy="559612"/>
          </a:xfrm>
          <a:prstGeom prst="rect">
            <a:avLst/>
          </a:prstGeom>
          <a:solidFill>
            <a:srgbClr val="EEF0F4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479852"/>
            <a:ext cx="1360932" cy="373075"/>
          </a:xfrm>
          <a:prstGeom prst="rect">
            <a:avLst/>
          </a:prstGeom>
          <a:solidFill>
            <a:srgbClr val="DCDFE6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48359" y="2069470"/>
            <a:ext cx="544372" cy="373075"/>
          </a:xfrm>
          <a:prstGeom prst="rect">
            <a:avLst/>
          </a:prstGeom>
          <a:solidFill>
            <a:srgbClr val="39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13684" y="2121700"/>
            <a:ext cx="413723" cy="231306"/>
          </a:xfrm>
          <a:prstGeom prst="rect">
            <a:avLst/>
          </a:prstGeom>
          <a:solidFill>
            <a:srgbClr val="E8EFFB"/>
          </a:solidFill>
          <a:ln w="1651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76996" y="2442545"/>
            <a:ext cx="87099" cy="93268"/>
          </a:xfrm>
          <a:prstGeom prst="rect">
            <a:avLst/>
          </a:prstGeom>
          <a:solidFill>
            <a:srgbClr val="393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1130015" y="2535814"/>
            <a:ext cx="381061" cy="0"/>
          </a:xfrm>
          <a:prstGeom prst="line">
            <a:avLst/>
          </a:prstGeom>
          <a:ln w="25400">
            <a:solidFill>
              <a:srgbClr val="393F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2962656"/>
            <a:ext cx="16352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Handheld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10128"/>
            <a:ext cx="1635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screen is one region
in a full scene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94864" y="2267712"/>
            <a:ext cx="16459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366772" y="1481328"/>
            <a:ext cx="17266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39924" y="1600200"/>
            <a:ext cx="15803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555B66"/>
                </a:solidFill>
                <a:latin typeface="Calibri"/>
              </a:rPr>
              <a:t>STAGE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49652" y="1920240"/>
            <a:ext cx="1360932" cy="932688"/>
          </a:xfrm>
          <a:prstGeom prst="rect">
            <a:avLst/>
          </a:prstGeom>
          <a:solidFill>
            <a:srgbClr val="F8F9FB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2821838" y="2106777"/>
            <a:ext cx="816559" cy="93269"/>
          </a:xfrm>
          <a:prstGeom prst="line">
            <a:avLst/>
          </a:prstGeom>
          <a:ln w="2540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38397" y="2106777"/>
            <a:ext cx="81656" cy="503652"/>
          </a:xfrm>
          <a:prstGeom prst="line">
            <a:avLst/>
          </a:prstGeom>
          <a:ln w="2540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767401" y="2535814"/>
            <a:ext cx="952652" cy="74615"/>
          </a:xfrm>
          <a:prstGeom prst="line">
            <a:avLst/>
          </a:prstGeom>
          <a:ln w="2540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767401" y="2200046"/>
            <a:ext cx="54437" cy="335768"/>
          </a:xfrm>
          <a:prstGeom prst="line">
            <a:avLst/>
          </a:prstGeom>
          <a:ln w="2540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765877" y="2144085"/>
            <a:ext cx="111922" cy="111922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582436" y="2050816"/>
            <a:ext cx="111922" cy="111922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64092" y="2554468"/>
            <a:ext cx="111922" cy="111922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11440" y="2479853"/>
            <a:ext cx="111922" cy="111922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12492" y="2962656"/>
            <a:ext cx="16352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Init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12492" y="3310128"/>
            <a:ext cx="1635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detect / set four
corners at t₀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04436" y="2267712"/>
            <a:ext cx="16459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76344" y="1481328"/>
            <a:ext cx="17266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9496" y="1600200"/>
            <a:ext cx="15803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555B66"/>
                </a:solidFill>
                <a:latin typeface="Calibri"/>
              </a:rPr>
              <a:t>STAGE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3661" y="2041489"/>
            <a:ext cx="353842" cy="54095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0276" y="2128042"/>
            <a:ext cx="240612" cy="238021"/>
          </a:xfrm>
          <a:prstGeom prst="rect">
            <a:avLst/>
          </a:prstGeom>
          <a:solidFill>
            <a:srgbClr val="E8EFFB"/>
          </a:solidFill>
          <a:ln w="1397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962768" y="2041489"/>
            <a:ext cx="353842" cy="54095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19383" y="2128042"/>
            <a:ext cx="240612" cy="238021"/>
          </a:xfrm>
          <a:prstGeom prst="rect">
            <a:avLst/>
          </a:prstGeom>
          <a:solidFill>
            <a:srgbClr val="E8EFFB"/>
          </a:solidFill>
          <a:ln w="1397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11876" y="2041489"/>
            <a:ext cx="353842" cy="540959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468491" y="2128042"/>
            <a:ext cx="240612" cy="238021"/>
          </a:xfrm>
          <a:prstGeom prst="rect">
            <a:avLst/>
          </a:prstGeom>
          <a:solidFill>
            <a:srgbClr val="E8EFFB"/>
          </a:solidFill>
          <a:ln w="1397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4690582" y="2257873"/>
            <a:ext cx="449108" cy="0"/>
          </a:xfrm>
          <a:prstGeom prst="line">
            <a:avLst/>
          </a:prstGeom>
          <a:ln w="20320">
            <a:solidFill>
              <a:srgbClr val="C43D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39690" y="2257873"/>
            <a:ext cx="449107" cy="0"/>
          </a:xfrm>
          <a:prstGeom prst="line">
            <a:avLst/>
          </a:prstGeom>
          <a:ln w="20320">
            <a:solidFill>
              <a:srgbClr val="C43D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648612" y="2215903"/>
            <a:ext cx="83940" cy="83940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097720" y="2215903"/>
            <a:ext cx="83940" cy="83940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546827" y="2215903"/>
            <a:ext cx="83940" cy="83940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22064" y="2962656"/>
            <a:ext cx="16352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Track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22064" y="3310128"/>
            <a:ext cx="1635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LK tracks p₀ → pₜ
on the t₀ plane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014008" y="2267712"/>
            <a:ext cx="16459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185916" y="1481328"/>
            <a:ext cx="17266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59068" y="1600200"/>
            <a:ext cx="15803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555B66"/>
                </a:solidFill>
                <a:latin typeface="Calibri"/>
              </a:rPr>
              <a:t>STAGE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68796" y="1920240"/>
            <a:ext cx="136093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613763" y="2144085"/>
            <a:ext cx="870996" cy="373075"/>
          </a:xfrm>
          <a:prstGeom prst="rect">
            <a:avLst/>
          </a:prstGeom>
          <a:solidFill>
            <a:srgbClr val="E8EFFB"/>
          </a:solidFill>
          <a:ln w="2286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 flipV="1">
            <a:off x="6695419" y="2248546"/>
            <a:ext cx="707685" cy="18654"/>
          </a:xfrm>
          <a:prstGeom prst="line">
            <a:avLst/>
          </a:prstGeom>
          <a:ln w="1778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648785" y="2220566"/>
            <a:ext cx="93268" cy="93268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356470" y="2201912"/>
            <a:ext cx="93268" cy="93268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002628" y="2386583"/>
            <a:ext cx="93268" cy="93268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6940387" y="2349276"/>
            <a:ext cx="176921" cy="242499"/>
          </a:xfrm>
          <a:prstGeom prst="line">
            <a:avLst/>
          </a:prstGeom>
          <a:ln w="16510">
            <a:solidFill>
              <a:srgbClr val="C43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893753" y="2302642"/>
            <a:ext cx="93268" cy="93268"/>
          </a:xfrm>
          <a:prstGeom prst="ellipse">
            <a:avLst/>
          </a:prstGeom>
          <a:solidFill>
            <a:srgbClr val="C4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" name="Connector 55"/>
          <p:cNvCxnSpPr/>
          <p:nvPr/>
        </p:nvCxnSpPr>
        <p:spPr>
          <a:xfrm>
            <a:off x="7185355" y="2386584"/>
            <a:ext cx="176921" cy="242498"/>
          </a:xfrm>
          <a:prstGeom prst="line">
            <a:avLst/>
          </a:prstGeom>
          <a:ln w="16510">
            <a:solidFill>
              <a:srgbClr val="C43D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7138721" y="2339950"/>
            <a:ext cx="93268" cy="93268"/>
          </a:xfrm>
          <a:prstGeom prst="ellipse">
            <a:avLst/>
          </a:prstGeom>
          <a:solidFill>
            <a:srgbClr val="C4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1636" y="2962656"/>
            <a:ext cx="16352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Estimate Hₜ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31636" y="3310128"/>
            <a:ext cx="1635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RANSAC screen-plane
homography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7923580" y="2267712"/>
            <a:ext cx="16459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095488" y="1481328"/>
            <a:ext cx="1726692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168640" y="1600200"/>
            <a:ext cx="15803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555B66"/>
                </a:solidFill>
                <a:latin typeface="Calibri"/>
              </a:rPr>
              <a:t>STAGE 4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8441679" y="2013508"/>
            <a:ext cx="0" cy="690189"/>
          </a:xfrm>
          <a:prstGeom prst="line">
            <a:avLst/>
          </a:prstGeom>
          <a:ln w="15240">
            <a:solidFill>
              <a:srgbClr val="D3D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441679" y="2703697"/>
            <a:ext cx="1088746" cy="0"/>
          </a:xfrm>
          <a:prstGeom prst="line">
            <a:avLst/>
          </a:prstGeom>
          <a:ln w="15240">
            <a:solidFill>
              <a:srgbClr val="D3DA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8468898" y="2125431"/>
            <a:ext cx="163312" cy="261153"/>
          </a:xfrm>
          <a:prstGeom prst="line">
            <a:avLst/>
          </a:prstGeom>
          <a:ln w="20320">
            <a:solidFill>
              <a:srgbClr val="E8A9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632210" y="2125431"/>
            <a:ext cx="163312" cy="484998"/>
          </a:xfrm>
          <a:prstGeom prst="line">
            <a:avLst/>
          </a:prstGeom>
          <a:ln w="20320">
            <a:solidFill>
              <a:srgbClr val="E8A9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795522" y="2256007"/>
            <a:ext cx="163312" cy="354422"/>
          </a:xfrm>
          <a:prstGeom prst="line">
            <a:avLst/>
          </a:prstGeom>
          <a:ln w="20320">
            <a:solidFill>
              <a:srgbClr val="E8A9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8958834" y="2256007"/>
            <a:ext cx="163311" cy="298460"/>
          </a:xfrm>
          <a:prstGeom prst="line">
            <a:avLst/>
          </a:prstGeom>
          <a:ln w="20320">
            <a:solidFill>
              <a:srgbClr val="E8A9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122145" y="2311968"/>
            <a:ext cx="190531" cy="242499"/>
          </a:xfrm>
          <a:prstGeom prst="line">
            <a:avLst/>
          </a:prstGeom>
          <a:ln w="20320">
            <a:solidFill>
              <a:srgbClr val="E8A9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312676" y="2311968"/>
            <a:ext cx="190530" cy="111923"/>
          </a:xfrm>
          <a:prstGeom prst="line">
            <a:avLst/>
          </a:prstGeom>
          <a:ln w="20320">
            <a:solidFill>
              <a:srgbClr val="E8A9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468898" y="2386584"/>
            <a:ext cx="244968" cy="55961"/>
          </a:xfrm>
          <a:prstGeom prst="line">
            <a:avLst/>
          </a:prstGeom>
          <a:ln w="330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8713866" y="2358603"/>
            <a:ext cx="244968" cy="27981"/>
          </a:xfrm>
          <a:prstGeom prst="line">
            <a:avLst/>
          </a:prstGeom>
          <a:ln w="330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8958834" y="2339949"/>
            <a:ext cx="272186" cy="18654"/>
          </a:xfrm>
          <a:prstGeom prst="line">
            <a:avLst/>
          </a:prstGeom>
          <a:ln w="330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231020" y="2330622"/>
            <a:ext cx="272186" cy="9327"/>
          </a:xfrm>
          <a:prstGeom prst="line">
            <a:avLst/>
          </a:prstGeom>
          <a:ln w="330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141208" y="2962656"/>
            <a:ext cx="16352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Filter trajectory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41208" y="3310128"/>
            <a:ext cx="1635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gate, interpolate
&amp; smooth Hₜ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9833152" y="2267712"/>
            <a:ext cx="16459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10005060" y="1481328"/>
            <a:ext cx="1726692" cy="228600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2032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078212" y="1600200"/>
            <a:ext cx="15803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F57C4"/>
                </a:solidFill>
                <a:latin typeface="Calibri"/>
              </a:rPr>
              <a:t>OUTPUT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405689" y="2013508"/>
            <a:ext cx="925433" cy="466344"/>
          </a:xfrm>
          <a:prstGeom prst="rect">
            <a:avLst/>
          </a:prstGeom>
          <a:solidFill>
            <a:srgbClr val="FFFFFF"/>
          </a:solidFill>
          <a:ln w="2794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498232" y="2116104"/>
            <a:ext cx="573768" cy="55961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498232" y="2237353"/>
            <a:ext cx="388682" cy="55961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/>
          <p:cNvCxnSpPr/>
          <p:nvPr/>
        </p:nvCxnSpPr>
        <p:spPr>
          <a:xfrm>
            <a:off x="10378470" y="2685044"/>
            <a:ext cx="979871" cy="0"/>
          </a:xfrm>
          <a:prstGeom prst="line">
            <a:avLst/>
          </a:prstGeom>
          <a:ln w="2540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432907" y="2638409"/>
            <a:ext cx="0" cy="93269"/>
          </a:xfrm>
          <a:prstGeom prst="line">
            <a:avLst/>
          </a:prstGeom>
          <a:ln w="203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868406" y="2638409"/>
            <a:ext cx="0" cy="93269"/>
          </a:xfrm>
          <a:prstGeom prst="line">
            <a:avLst/>
          </a:prstGeom>
          <a:ln w="203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1303904" y="2638409"/>
            <a:ext cx="0" cy="93269"/>
          </a:xfrm>
          <a:prstGeom prst="line">
            <a:avLst/>
          </a:prstGeom>
          <a:ln w="20320">
            <a:solidFill>
              <a:srgbClr val="1F57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0050780" y="2962656"/>
            <a:ext cx="16352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Rectified screen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0780" y="3310128"/>
            <a:ext cx="16352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stable 16:9 video
for later modules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3968496"/>
            <a:ext cx="11091672" cy="54864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48640" y="4096512"/>
            <a:ext cx="110916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Downstream after this stage:    </a:t>
            </a:r>
            <a:r>
              <a:rPr sz="1400" b="0" i="1">
                <a:solidFill>
                  <a:srgbClr val="1A1A1A"/>
                </a:solidFill>
                <a:latin typeface="Calibri"/>
              </a:rPr>
              <a:t>video demoiréing    ·    OCR    ·    archival    ·    manual review</a:t>
            </a:r>
          </a:p>
        </p:txBody>
      </p:sp>
      <p:pic>
        <p:nvPicPr>
          <p:cNvPr id="91" name="Picture 90" descr="method_track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585" y="4626864"/>
            <a:ext cx="3014350" cy="1536192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92" name="TextBox 91"/>
          <p:cNvSpPr txBox="1"/>
          <p:nvPr/>
        </p:nvSpPr>
        <p:spPr>
          <a:xfrm>
            <a:off x="3383280" y="619963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Real example: tilted frames → corners + homography → upright, plane-locked frames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WHY IT STAYS 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A1A1A"/>
                </a:solidFill>
                <a:latin typeface="Calibri"/>
              </a:rPr>
              <a:t>Method — Screen Motion vs. Content Motion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822960" cy="38100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F57C4"/>
                </a:solidFill>
                <a:latin typeface="Calibri"/>
              </a:rPr>
              <a:t>Core distinction:  </a:t>
            </a:r>
            <a:r>
              <a:rPr sz="1680" b="0" i="0">
                <a:solidFill>
                  <a:srgbClr val="1A1A1A"/>
                </a:solidFill>
                <a:latin typeface="Calibri"/>
              </a:rPr>
              <a:t>estimate the homography from the physical screen border, and treat motion inside the screen as content — not camera — motion.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148840"/>
            <a:ext cx="3611880" cy="64008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1A1A1A"/>
                </a:solidFill>
                <a:latin typeface="Calibri"/>
              </a:rPr>
              <a:t>1 · Border drives geometry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Edge filtering + LSD / Hough locate the four screen borders.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The main homography is anchored to this physical boundary, not to texture inside the screen.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14884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53128" y="2148840"/>
            <a:ext cx="3611880" cy="64008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40487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1A1A1A"/>
                </a:solidFill>
                <a:latin typeface="Calibri"/>
              </a:rPr>
              <a:t>2 · Inner points = check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10896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Inner Lucas–Kanade points serve as a consistency signal.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If inner motion conflicts with border motion under RANSAC, it is labelled screen-content motion and excluded from H estimation.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1896" y="2148840"/>
            <a:ext cx="3611880" cy="2560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11896" y="2148840"/>
            <a:ext cx="3611880" cy="64008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0496" y="2404872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1A1A1A"/>
                </a:solidFill>
                <a:latin typeface="Calibri"/>
              </a:rPr>
              <a:t>3 · Robust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108960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Low border confidence, low inlier ratio, or an invalid quadrilateral triggers re-detection.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If recovery fails, freeze the last valid Hₜ and flag invalid regions; corner trajectory is finally smoothed in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73659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Normalized output over time  (content moves, frame stays aligned)</a:t>
            </a:r>
          </a:p>
        </p:txBody>
      </p:sp>
      <p:pic>
        <p:nvPicPr>
          <p:cNvPr id="19" name="Picture 18" descr="normalized_time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68" y="4983480"/>
            <a:ext cx="5157464" cy="1371600"/>
          </a:xfrm>
          <a:prstGeom prst="rect">
            <a:avLst/>
          </a:prstGeom>
          <a:ln w="9525">
            <a:solidFill>
              <a:srgbClr val="D3DAE6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6537960" y="5074920"/>
            <a:ext cx="51206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F57C4"/>
                </a:solidFill>
                <a:latin typeface="Calibri"/>
              </a:rPr>
              <a:t>Result:  </a:t>
            </a:r>
            <a:r>
              <a:rPr sz="1512" b="0" i="1">
                <a:solidFill>
                  <a:srgbClr val="1A1A1A"/>
                </a:solidFill>
                <a:latin typeface="Calibri"/>
              </a:rPr>
              <a:t>in-screen content changes over time, yet each frame stays rectified and plane-aligned — screen motion removed, content motion preserved.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SELF-COLLECTED EVALUATION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A1A1A"/>
                </a:solidFill>
                <a:latin typeface="Calibri"/>
              </a:rPr>
              <a:t>Dataset &amp;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822960" cy="38100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A1A1A"/>
                </a:solidFill>
                <a:latin typeface="Calibri"/>
              </a:rPr>
              <a:t>5 scenario classes × 10 clips × ~5 s  =  </a:t>
            </a:r>
            <a:r>
              <a:rPr sz="1680" b="1" i="0">
                <a:solidFill>
                  <a:srgbClr val="1F57C4"/>
                </a:solidFill>
                <a:latin typeface="Calibri"/>
              </a:rPr>
              <a:t>50 real captured-screen clips</a:t>
            </a:r>
            <a:r>
              <a:rPr sz="1680" b="0" i="0">
                <a:solidFill>
                  <a:srgbClr val="1A1A1A"/>
                </a:solidFill>
                <a:latin typeface="Calibri"/>
              </a:rPr>
              <a:t>.  Classes are designed around failure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2042769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21992"/>
            <a:ext cx="19513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1F57C4"/>
                </a:solidFill>
                <a:latin typeface="Calibri"/>
              </a:rPr>
              <a:t>CLASS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95132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A1A1A"/>
                </a:solidFill>
                <a:latin typeface="Calibri"/>
              </a:rPr>
              <a:t>Static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95132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B66"/>
                </a:solidFill>
                <a:latin typeface="Calibri"/>
              </a:rPr>
              <a:t>documents, browser UI,
mostly fixed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04488"/>
            <a:ext cx="195132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Calibri"/>
              </a:rPr>
              <a:t>10 clips × 5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8297" y="2057400"/>
            <a:ext cx="2042769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4017" y="2221992"/>
            <a:ext cx="19513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1F57C4"/>
                </a:solidFill>
                <a:latin typeface="Calibri"/>
              </a:rPr>
              <a:t>CLASS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4017" y="2606040"/>
            <a:ext cx="195132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A1A1A"/>
                </a:solidFill>
                <a:latin typeface="Calibri"/>
              </a:rPr>
              <a:t>Scrolling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4017" y="3291840"/>
            <a:ext cx="195132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B66"/>
                </a:solidFill>
                <a:latin typeface="Calibri"/>
              </a:rPr>
              <a:t>page motion, cursor,
local UI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4017" y="3904488"/>
            <a:ext cx="195132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Calibri"/>
              </a:rPr>
              <a:t>10 clips × 5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2234" y="2057400"/>
            <a:ext cx="2042769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7954" y="2221992"/>
            <a:ext cx="19513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1F57C4"/>
                </a:solidFill>
                <a:latin typeface="Calibri"/>
              </a:rPr>
              <a:t>CLASS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7954" y="2606040"/>
            <a:ext cx="195132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A1A1A"/>
                </a:solidFill>
                <a:latin typeface="Calibri"/>
              </a:rPr>
              <a:t>In-screen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7954" y="3291840"/>
            <a:ext cx="195132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B66"/>
                </a:solidFill>
                <a:latin typeface="Calibri"/>
              </a:rPr>
              <a:t>large dynamic regions
inside the display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7954" y="3904488"/>
            <a:ext cx="195132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Calibri"/>
              </a:rPr>
              <a:t>10 clips × 5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6171" y="2057400"/>
            <a:ext cx="2042769" cy="21488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71891" y="2221992"/>
            <a:ext cx="19513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1F57C4"/>
                </a:solidFill>
                <a:latin typeface="Calibri"/>
              </a:rPr>
              <a:t>CLASS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1" y="2606040"/>
            <a:ext cx="195132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A1A1A"/>
                </a:solidFill>
                <a:latin typeface="Calibri"/>
              </a:rPr>
              <a:t>PPT / weak border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1891" y="3291840"/>
            <a:ext cx="195132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B66"/>
                </a:solidFill>
                <a:latin typeface="Calibri"/>
              </a:rPr>
              <a:t>low texture, pale UI,
unclear screen edges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1891" y="3904488"/>
            <a:ext cx="195132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Calibri"/>
              </a:rPr>
              <a:t>10 clips × 5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0108" y="2057400"/>
            <a:ext cx="2042769" cy="214884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 w="17780">
            <a:solidFill>
              <a:srgbClr val="C43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15828" y="2221992"/>
            <a:ext cx="19513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76" b="1" i="0">
                <a:solidFill>
                  <a:srgbClr val="C43D2E"/>
                </a:solidFill>
                <a:latin typeface="Calibri"/>
              </a:rPr>
              <a:t>CLASS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5828" y="2606040"/>
            <a:ext cx="195132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A1A1A"/>
                </a:solidFill>
                <a:latin typeface="Calibri"/>
              </a:rPr>
              <a:t>4K / moiré / glare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5828" y="3291840"/>
            <a:ext cx="195132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55B66"/>
                </a:solidFill>
                <a:latin typeface="Calibri"/>
              </a:rPr>
              <a:t>hard cases linking to
the restoration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5828" y="3904488"/>
            <a:ext cx="195132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A1A1A"/>
                </a:solidFill>
                <a:latin typeface="Calibri"/>
              </a:rPr>
              <a:t>10 clips × 5 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617720"/>
            <a:ext cx="11018520" cy="1417320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8006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1F57C4"/>
                </a:solidFill>
                <a:latin typeface="Calibri"/>
              </a:rPr>
              <a:t>Annotation.  </a:t>
            </a:r>
            <a:r>
              <a:rPr sz="1624" b="0" i="0">
                <a:solidFill>
                  <a:srgbClr val="1A1A1A"/>
                </a:solidFill>
                <a:latin typeface="Calibri"/>
              </a:rPr>
              <a:t>Selected key frames from each class are manually labelled with the four screen corners — connecting quantitative metrics to visual comparison, without requiring any downstream demoiréing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WHAT WE MEASURE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A1A1A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822960" cy="38100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764792"/>
            <a:ext cx="457200" cy="457200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16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0136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A1A1A"/>
                </a:solidFill>
                <a:latin typeface="Calibri"/>
              </a:rPr>
              <a:t>Geometric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Corner error on annotated key frames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Quadrilateral IoU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Aspect-ratio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Is the screen located &amp; rectified correctly?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508760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81728" y="1764792"/>
            <a:ext cx="457200" cy="457200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16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80136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A1A1A"/>
                </a:solidFill>
                <a:latin typeface="Calibri"/>
              </a:rPr>
              <a:t>Temporal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69748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Residual adjacent-frame translation (px)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Residual rotation (deg) &amp; scale change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Reported as p95 of the normalized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45720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How much jitter remains after normalization?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1508760"/>
            <a:ext cx="3611880" cy="3703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40496" y="1764792"/>
            <a:ext cx="457200" cy="457200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16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180136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A1A1A"/>
                </a:solidFill>
                <a:latin typeface="Calibri"/>
              </a:rPr>
              <a:t>Signal preservation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269748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Mean gradient magnitude on texture patches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Edge-preservation index (same screen scale)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56" b="0" i="0">
                <a:solidFill>
                  <a:srgbClr val="1F57C4"/>
                </a:solidFill>
                <a:latin typeface="Calibri"/>
              </a:rPr>
              <a:t>•  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2D FFT grid orthogonality for moiré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57200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Does rectification keep high-frequency detail?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40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1">
                <a:solidFill>
                  <a:srgbClr val="555B66"/>
                </a:solidFill>
                <a:latin typeface="Calibri"/>
              </a:rPr>
              <a:t>These measures tie geometric correctness, video stability and signal preservation together — with no dependence on a downstream restoration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57C4"/>
                </a:solidFill>
                <a:latin typeface="Calibri"/>
              </a:rPr>
              <a:t>BORDER-GUIDED TRACKING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60" b="1" i="0">
                <a:solidFill>
                  <a:srgbClr val="1A1A1A"/>
                </a:solidFill>
                <a:latin typeface="Calibri"/>
              </a:rPr>
              <a:t>Initial Results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822960" cy="38100"/>
          </a:xfrm>
          <a:prstGeom prst="rect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ethod_ablation_translation_p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66" y="1417320"/>
            <a:ext cx="6028508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68172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1">
                <a:solidFill>
                  <a:srgbClr val="555B66"/>
                </a:solidFill>
                <a:latin typeface="Calibri"/>
              </a:rPr>
              <a:t>Same input video · residual translation p95 over the last 2 s (lower = steadier)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417320"/>
            <a:ext cx="4526280" cy="1874519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1572768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360" b="1" i="0">
                <a:solidFill>
                  <a:srgbClr val="1F57C4"/>
                </a:solidFill>
                <a:latin typeface="Calibri"/>
              </a:rPr>
              <a:t>0.118 px</a:t>
            </a:r>
            <a:r>
              <a:rPr sz="1568" b="0" i="0">
                <a:solidFill>
                  <a:srgbClr val="1A1A1A"/>
                </a:solidFill>
                <a:latin typeface="Calibri"/>
              </a:rPr>
              <a:t>  residual jitter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6" b="0" i="0">
                <a:solidFill>
                  <a:srgbClr val="1A1A1A"/>
                </a:solidFill>
                <a:latin typeface="Calibri"/>
              </a:rPr>
              <a:t>Reference-plane (border-guided) tracking cuts residual motion </a:t>
            </a:r>
            <a:r>
              <a:rPr sz="1456" b="1" i="0">
                <a:solidFill>
                  <a:srgbClr val="1F57C4"/>
                </a:solidFill>
                <a:latin typeface="Calibri"/>
              </a:rPr>
              <a:t>~16×</a:t>
            </a:r>
            <a:r>
              <a:rPr sz="1456" b="0" i="0">
                <a:solidFill>
                  <a:srgbClr val="1A1A1A"/>
                </a:solidFill>
                <a:latin typeface="Calibri"/>
              </a:rPr>
              <a:t> vs. per-frame detection (1.927) and optical-flow tracking (1.929).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34290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56" b="1" i="0">
                <a:solidFill>
                  <a:srgbClr val="1A1A1A"/>
                </a:solidFill>
                <a:latin typeface="Calibri"/>
              </a:rPr>
              <a:t>Final report will compare three strategies: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3849624"/>
            <a:ext cx="146304" cy="146304"/>
          </a:xfrm>
          <a:prstGeom prst="ellipse">
            <a:avLst/>
          </a:prstGeom>
          <a:solidFill>
            <a:srgbClr val="C4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79" y="37947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Per-frame detection — </a:t>
            </a:r>
            <a:r>
              <a:rPr sz="1400" b="0" i="1">
                <a:solidFill>
                  <a:srgbClr val="555B66"/>
                </a:solidFill>
                <a:latin typeface="Calibri"/>
              </a:rPr>
              <a:t>re-detects each frame — jittery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4306824"/>
            <a:ext cx="146304" cy="146304"/>
          </a:xfrm>
          <a:prstGeom prst="ellipse">
            <a:avLst/>
          </a:prstGeom>
          <a:solidFill>
            <a:srgbClr val="C4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79" y="42519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Optical-flow tracking — </a:t>
            </a:r>
            <a:r>
              <a:rPr sz="1400" b="0" i="1">
                <a:solidFill>
                  <a:srgbClr val="555B66"/>
                </a:solidFill>
                <a:latin typeface="Calibri"/>
              </a:rPr>
              <a:t>drifts with on-screen content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4764024"/>
            <a:ext cx="146304" cy="146304"/>
          </a:xfrm>
          <a:prstGeom prst="ellipse">
            <a:avLst/>
          </a:prstGeom>
          <a:solidFill>
            <a:srgbClr val="1F5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470916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Border-guided (ours) — </a:t>
            </a:r>
            <a:r>
              <a:rPr sz="1400" b="0" i="1">
                <a:solidFill>
                  <a:srgbClr val="555B66"/>
                </a:solidFill>
                <a:latin typeface="Calibri"/>
              </a:rPr>
              <a:t>stable, content-aware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68" b="1" i="0">
                <a:solidFill>
                  <a:srgbClr val="1F57C4"/>
                </a:solidFill>
                <a:latin typeface="Calibri"/>
              </a:rPr>
              <a:t>Timeline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2104948" cy="749808"/>
          </a:xfrm>
          <a:prstGeom prst="roundRect">
            <a:avLst>
              <a:gd name="adj" fmla="val 8000"/>
            </a:avLst>
          </a:prstGeom>
          <a:solidFill>
            <a:srgbClr val="E8EFFB"/>
          </a:solidFill>
          <a:ln w="16510">
            <a:solidFill>
              <a:srgbClr val="1F57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696712"/>
            <a:ext cx="19220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F57C4"/>
                </a:solidFill>
                <a:latin typeface="Calibri"/>
              </a:rPr>
              <a:t>Jun 22–24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52744"/>
            <a:ext cx="19586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Proposal &amp; presentation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99892" y="5623560"/>
            <a:ext cx="2104948" cy="74980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1332" y="5696712"/>
            <a:ext cx="19220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A1A1A"/>
                </a:solidFill>
                <a:latin typeface="Calibri"/>
              </a:rPr>
              <a:t>Jun 25–30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3044" y="5952744"/>
            <a:ext cx="19586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50-clip set + key-frame labels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51144" y="5623560"/>
            <a:ext cx="2104948" cy="74980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42584" y="5696712"/>
            <a:ext cx="19220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A1A1A"/>
                </a:solidFill>
                <a:latin typeface="Calibri"/>
              </a:rPr>
              <a:t>Jul 1–7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4296" y="5952744"/>
            <a:ext cx="19586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Method ablation &amp;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2396" y="5623560"/>
            <a:ext cx="2104948" cy="74980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93836" y="5696712"/>
            <a:ext cx="19220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A1A1A"/>
                </a:solidFill>
                <a:latin typeface="Calibri"/>
              </a:rPr>
              <a:t>Jul 8–12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5548" y="5952744"/>
            <a:ext cx="19586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Visual comparison &amp;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3648" y="5623560"/>
            <a:ext cx="2104948" cy="74980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45088" y="5696712"/>
            <a:ext cx="19220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1A1A1A"/>
                </a:solidFill>
                <a:latin typeface="Calibri"/>
              </a:rPr>
              <a:t>Jul 13–15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6800" y="5952744"/>
            <a:ext cx="19586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Code, samples, final talk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ECE4512 Final Project Proposal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55664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64" b="0" i="0">
                <a:solidFill>
                  <a:srgbClr val="555B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972</Words>
  <Application>Microsoft Office PowerPoint</Application>
  <PresentationFormat>宽屏</PresentationFormat>
  <Paragraphs>137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Mingrui Liu (SSE,124090375)</cp:lastModifiedBy>
  <cp:revision>1</cp:revision>
  <dcterms:created xsi:type="dcterms:W3CDTF">2013-01-27T09:14:16Z</dcterms:created>
  <dcterms:modified xsi:type="dcterms:W3CDTF">2026-06-22T13:28:03Z</dcterms:modified>
  <cp:category/>
</cp:coreProperties>
</file>